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On May 1st, 2026, AWS quietly shipped a feature that matters a lot more than its single-line announcement suggests — cross-region data access for OpenSearch UI. In the next fifteen minutes, I'll walk you through what it is, why it's a big deal for anyone running OpenSearch in more than one region, and I'll demonstrate it on a real project I built — a multi-region FX trade analytics platform whose architecture happens to be perfectly positioned for this. By the end you'll know if this feature is useful for you and exactly how to try it. Let's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announcement, verbatim. May 1st 2026. OpenSearch UI now supports cross-region data access — meaning you can query OpenSearch domains in multiple regions from a single UI application, without switching endpoints, without replicating data. Four quick facts: available immediately, works on both public and VPC domains, supports IAM and IAM Identity Center for end-user auth, and combines with the cross-account feature that launched earlier this year. The URL on screen is the official AWS what's-new page — go read it after the video.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cross-region matter? Because every team running OpenSearch globally has been stuck between two pressures. On the left — data residency. GDPR, the Monetary Authority of Singapore, India's RBI, customer contractual rules — all push you to keep data in its origin region. Plus the practical pressures: latency for local users, and inter-region egress fees that add up fast. On the right — central visibility. Analysts need one pane of glass to see global trading books, run anomaly detection across regions, observe the platform as a whole. For years you had to pick one — replicate data and blow your egress bill, or accept fragmented dashboards. This feature collapses the trade-off.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May 1st, you had four options, and all four are bad. Option one — cross-cluster replication. Pull every region's data into a central region for analysis. You double storage costs, blow up egress, and the moment you replicate data across borders, your compliance team starts asking hard questions. Option two — endpoint juggling. Five regional dashboards, five bookmarks, copy-paste queries, no way to join. Option three — build your own federated query proxy. Now you own a new piece of infrastructure and a new auth surface area. Option four, the most common in the wild — just give up. Per-region dashboards, no global view. Pick your poison.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the world looks like after May 1st. Three regional OpenSearch domains on the left — each holding its local trades, subject to its local rules. On the right, a single OpenSearch UI application that talks to all three. The user sees one dashboard, logs in once, runs one query language. But — and this is the part that matters — no data moves. The fx-trades-us-east-1 index stays in us-east-1. The fx-trades-eu-west-1 index stays in eu-west-1. The UI federates the queries at runtime. You get global visibility without giving up any of the four properties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intro to the worked example. FX Trade Analytics is a real-time trading platform I built end-to-end — Spring Boot microservices, Kafka pipeline, OpenSearch indexing, Angular portals, deployed via GitHub Actions to AWS. Four logical layers, left to right: producer (customers place trades, validated against master data), stream (Kafka with a risk classifier in the middle), index (OpenSearch indices, region-partitioned), analyze (admin and customer portals, and now — OpenSearch UI). The full source code link will be on the outro slide and in the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slide for the architecture. Customer places a trade, validated against master data, dropped into Kafka, risk-classified, republished, indexed in OpenSearch — partitioned by region. The new piece is in the bottom-right — OpenSearch UI now talks to all three regional domains as a single application. The bottom row says it out loud — every full deployment replicates this stack per region, and OpenSearch UI is the layer that ties them together at the analytics layer. Same architecture, three regions, one dashboard.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architectural decision that makes this whole thing click: every trade is indexed with a region-suffixed index name — fx-trades-us-east-1, fx-trades-eu-west-1, fx-trades-ap-south-1. One index per region. Each one lives in the OpenSearch domain in its own region. Why this matters now: OpenSearch UI's cross-region federated query routes by index pattern. So a query against fx-trades-* automatically hits all three regional domains. No code changes. No data movement. Just a wildcard.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a lesson here. We didn't partition by region because we knew this AWS feature was coming — we partitioned because residency is a forcing function for almost every regulated industry. But what's interesting is that designing for residency tends to leave you better positioned for everything else: per-region scaling, blast-radius isolation, regional rollouts. And when AWS finally ships a federation feature, your data is already in the shape it needs to be in. Generalize the rule: design for residency, treat centralization as something you buy later.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did we have to change in the project to take advantage of this? Look at the table. Indexer service — unchanged. Index naming convention — unchanged. Mappings — unchanged. Trade service and Kafka pipeline — completely untouched. The only changes are at the OpenSearch UI configuration layer: a new IAM trust policy on each regional domain, then add the domains to the UI application. Configure your auth method once per cluster — IAM or IAM Identity Center — and you're done. Net code change in this project: zero.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demo. Imagine a trader in NYC. The question: show me all HIGH-risk USD trades from the last 24 hours, anywhere in the world. Three steps in OpenSearch UI. Open one URL. Log in once. Run one query against the index pattern fx-trades-star — wildcard. Behind the scenes the UI fans the query out to all three regional domains in parallel, returns the merged results, and even shows you the per-region latency. Same UX as querying a single domain. No bookmarks, no copy-paste, no replicated indices.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configuration steps. One — pick the home Region for the OpenSearch UI application. All cross-region calls originate from there, so that's also where your latency is measured from. Two — in the UI's data source configuration, add each remote OpenSearch domain by ARN. Both public-internet domains and VPC-attached domains are supported. Three — on each target domain, grant trust to the UI's home-Region service principal. That's it. No new infrastructure, no proxies, no Lambdas in the middle.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 option one — plain IAM. Each user assumes an IAM role that's mapped to OpenSearch's fine-grained access control. Same model you've used for years — federation through SAML or OIDC into IAM roles, then the role gets read access on the indices. Authorization is consistent across regions because IAM trust policies are the thing being evaluated. Per-index and per-action restrictions still apply on every regional domain — cross-region access doesn't bypass your existing security model. Best fit if your organization already manages identities through IAM and audits via CloudTrail.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 option two — IAM Identity Center, formerly AWS SSO. The user logs in once with their corporate identity. The UI federates that single sign-on across all the regional domains. Group memberships map directly to OpenSearch permissions — no need to choreograph IAM role assumptions for each user. Plays particularly nicely with AWS Organizations and multi-account setups, which we'll get to on the next slide. Best fit if you've already standardized on IDC.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where it gets really interesting. Earlier this year, AWS shipped cross-account data access for OpenSearch UI. Now they've added cross-region. The combination is the full enterprise story. A single OpenSearch UI application can talk to OpenSearch domains in any combination of accounts and regions. Production account, staging, per-team accounts, per-region replicas — one pane of glass for all of them. Three personas benefit immediately: platform engineers see all environments at once; security analysts can do cross-account threat hunting; compliance leads keep data exactly where it needs to be while enabling visibility for the people who need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matters from a compliance angle. GDPR for EU customer data. The Monetary Authority of Singapore. India's RBI on payment data localization. China's PIPL on cross-border transfers. Plus the industry-specific NDAs and customer contracts that pin data to regions. Every one of these regimes says: data must stay in its origin region. The critical thing about cross-region OpenSearch UI is that it federates queries — it doesn't move data. The bytes stay where they were written. Only query results travel back to the user, which is exactly the compliant behavior these regimes are looking for.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economics. Inter-region data transfer is one of those AWS line items that creeps up on you. Roughly two cents per gigabyte going between most regions. That sounds small until you have a high-throughput workload constantly replicating to a central region — then it adds up to thousands per month, plus the doubled storage cost, plus you have to manage replication lag. With cross-region OpenSearch UI, storage stays in the origin region — zero replication egress. The only bytes that cross regions are query result payloads, which are tiny. Cost scales with how often people query, not with how much data you have. For most workloads that's a one-to-two order-of-magnitude reduction.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to try this yourself, here's the path. Five steps. Spin up the FX project locally — one npm command, fully containerized. Deploy the included GitHub Actions workflows to your own AWS account; the VPC and IAM scaffolding is already there. Swap local OpenSearch for managed OpenSearch domains in two regions of your choice. Wire OpenSearch UI to both domains following the AWS docs link. Then run the demo query — fx-trades-star — and watch the federation happen. Should take a developer about thirty minutes end-to-end if you already have an AWS account.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Coming up on the channel. Next video — I do the OpenSearch UI cross-region setup live, on real domains. Then we deploy the FX project end-to-end to AWS, walking through the GitHub Actions workflows. Then a cross-account demo using AWS Organizations. And finally a video on the actual queries that solve real compliance and observability problems. Subscribe so you don't miss the live setup video — that's where the rubber meets the road.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this walkthrough helped, hit like and subscribe — it genuinely moves the channel. Two links on screen. The official AWS what's-new post for the announcement. The source code repo for the FX worked example — go fork it. Drop me a comment with what you want me to build live next: the cross-region setup itself, the AWS deploy, the cross-account demo, or something else entirely. Thanks for watching, see you in the next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75120"/>
            <a:ext cx="12191695" cy="18288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83680"/>
            <a:ext cx="4572000" cy="9144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10058400" cy="365760"/>
          </a:xfrm>
          <a:prstGeom prst="rect">
            <a:avLst/>
          </a:prstGeom>
          <a:noFill/>
        </p:spPr>
        <p:txBody>
          <a:bodyPr wrap="square" lIns="0" rIns="0" tIns="0" bIns="0">
            <a:spAutoFit/>
          </a:bodyPr>
          <a:lstStyle/>
          <a:p>
            <a:pPr algn="l">
              <a:lnSpc>
                <a:spcPct val="115000"/>
              </a:lnSpc>
            </a:pPr>
            <a:r>
              <a:rPr sz="1400" b="1">
                <a:solidFill>
                  <a:srgbClr val="FF9900"/>
                </a:solidFill>
                <a:latin typeface="Inter"/>
              </a:rPr>
              <a:t>AWS WHAT'S NEW · MAY 2026</a:t>
            </a:r>
          </a:p>
        </p:txBody>
      </p:sp>
      <p:sp>
        <p:nvSpPr>
          <p:cNvPr id="7" name="TextBox 6"/>
          <p:cNvSpPr txBox="1"/>
          <p:nvPr/>
        </p:nvSpPr>
        <p:spPr>
          <a:xfrm>
            <a:off x="731520" y="2286000"/>
            <a:ext cx="10972800" cy="1371600"/>
          </a:xfrm>
          <a:prstGeom prst="rect">
            <a:avLst/>
          </a:prstGeom>
          <a:noFill/>
        </p:spPr>
        <p:txBody>
          <a:bodyPr wrap="square" lIns="0" rIns="0" tIns="0" bIns="0">
            <a:spAutoFit/>
          </a:bodyPr>
          <a:lstStyle/>
          <a:p>
            <a:pPr algn="l">
              <a:lnSpc>
                <a:spcPct val="115000"/>
              </a:lnSpc>
            </a:pPr>
            <a:r>
              <a:rPr sz="6800" b="1">
                <a:solidFill>
                  <a:srgbClr val="FFFFFF"/>
                </a:solidFill>
                <a:latin typeface="Inter"/>
              </a:rPr>
              <a:t>OpenSearch UI</a:t>
            </a:r>
          </a:p>
        </p:txBody>
      </p:sp>
      <p:sp>
        <p:nvSpPr>
          <p:cNvPr id="8" name="TextBox 7"/>
          <p:cNvSpPr txBox="1"/>
          <p:nvPr/>
        </p:nvSpPr>
        <p:spPr>
          <a:xfrm>
            <a:off x="731520" y="3520440"/>
            <a:ext cx="10972800" cy="868680"/>
          </a:xfrm>
          <a:prstGeom prst="rect">
            <a:avLst/>
          </a:prstGeom>
          <a:noFill/>
        </p:spPr>
        <p:txBody>
          <a:bodyPr wrap="square" lIns="0" rIns="0" tIns="0" bIns="0">
            <a:spAutoFit/>
          </a:bodyPr>
          <a:lstStyle/>
          <a:p>
            <a:pPr algn="l">
              <a:lnSpc>
                <a:spcPct val="115000"/>
              </a:lnSpc>
            </a:pPr>
            <a:r>
              <a:rPr sz="2800" b="0">
                <a:solidFill>
                  <a:srgbClr val="CFFAFE"/>
                </a:solidFill>
                <a:latin typeface="Inter"/>
              </a:rPr>
              <a:t>Cross-region data access — without moving data</a:t>
            </a:r>
          </a:p>
        </p:txBody>
      </p:sp>
      <p:sp>
        <p:nvSpPr>
          <p:cNvPr id="9" name="TextBox 8"/>
          <p:cNvSpPr txBox="1"/>
          <p:nvPr/>
        </p:nvSpPr>
        <p:spPr>
          <a:xfrm>
            <a:off x="731520" y="4434840"/>
            <a:ext cx="10972800" cy="548640"/>
          </a:xfrm>
          <a:prstGeom prst="rect">
            <a:avLst/>
          </a:prstGeom>
          <a:noFill/>
        </p:spPr>
        <p:txBody>
          <a:bodyPr wrap="square" lIns="0" rIns="0" tIns="0" bIns="0">
            <a:spAutoFit/>
          </a:bodyPr>
          <a:lstStyle/>
          <a:p>
            <a:pPr algn="l">
              <a:lnSpc>
                <a:spcPct val="115000"/>
              </a:lnSpc>
            </a:pPr>
            <a:r>
              <a:rPr sz="1800" b="0">
                <a:solidFill>
                  <a:srgbClr val="E2E8F0"/>
                </a:solidFill>
                <a:latin typeface="Inter"/>
              </a:rPr>
              <a:t>Worked example: a real-time multi-region FX trading platform</a:t>
            </a:r>
          </a:p>
        </p:txBody>
      </p:sp>
      <p:sp>
        <p:nvSpPr>
          <p:cNvPr id="10" name="TextBox 9"/>
          <p:cNvSpPr txBox="1"/>
          <p:nvPr/>
        </p:nvSpPr>
        <p:spPr>
          <a:xfrm>
            <a:off x="731520" y="5029200"/>
            <a:ext cx="10972800" cy="457200"/>
          </a:xfrm>
          <a:prstGeom prst="rect">
            <a:avLst/>
          </a:prstGeom>
          <a:noFill/>
        </p:spPr>
        <p:txBody>
          <a:bodyPr wrap="square" lIns="0" rIns="0" tIns="0" bIns="0">
            <a:spAutoFit/>
          </a:bodyPr>
          <a:lstStyle/>
          <a:p>
            <a:pPr algn="l">
              <a:lnSpc>
                <a:spcPct val="115000"/>
              </a:lnSpc>
            </a:pPr>
            <a:r>
              <a:rPr sz="1400" b="0">
                <a:solidFill>
                  <a:srgbClr val="94A3B8"/>
                </a:solidFill>
                <a:latin typeface="Inter"/>
              </a:rPr>
              <a:t>~15 minute walkthrough · architecture, demo, why it matters</a:t>
            </a:r>
          </a:p>
        </p:txBody>
      </p:sp>
      <p:sp>
        <p:nvSpPr>
          <p:cNvPr id="11" name="TextBox 10"/>
          <p:cNvSpPr txBox="1"/>
          <p:nvPr/>
        </p:nvSpPr>
        <p:spPr>
          <a:xfrm>
            <a:off x="731520" y="5943600"/>
            <a:ext cx="10972800" cy="365760"/>
          </a:xfrm>
          <a:prstGeom prst="rect">
            <a:avLst/>
          </a:prstGeom>
          <a:noFill/>
        </p:spPr>
        <p:txBody>
          <a:bodyPr wrap="square" lIns="0" rIns="0" tIns="0" bIns="0">
            <a:spAutoFit/>
          </a:bodyPr>
          <a:lstStyle/>
          <a:p>
            <a:pPr algn="l">
              <a:lnSpc>
                <a:spcPct val="115000"/>
              </a:lnSpc>
            </a:pPr>
            <a:r>
              <a:rPr sz="1200" b="1">
                <a:solidFill>
                  <a:srgbClr val="94A3B8"/>
                </a:solidFill>
                <a:latin typeface="Inter"/>
              </a:rPr>
              <a:t>Hosted by Kishore Veleti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02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AWS WHAT'S NEW · MAY 1, 2026</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The announcement, in two sentences</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11064240" cy="2194560"/>
          </a:xfrm>
          <a:prstGeom prst="roundRect">
            <a:avLst>
              <a:gd name="adj" fmla="val 1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194560"/>
            <a:ext cx="105156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OFFICIAL AWS RELEASE</a:t>
            </a:r>
          </a:p>
        </p:txBody>
      </p:sp>
      <p:sp>
        <p:nvSpPr>
          <p:cNvPr id="13" name="TextBox 12"/>
          <p:cNvSpPr txBox="1"/>
          <p:nvPr/>
        </p:nvSpPr>
        <p:spPr>
          <a:xfrm>
            <a:off x="868680" y="2514600"/>
            <a:ext cx="10515600" cy="640080"/>
          </a:xfrm>
          <a:prstGeom prst="rect">
            <a:avLst/>
          </a:prstGeom>
          <a:noFill/>
        </p:spPr>
        <p:txBody>
          <a:bodyPr wrap="square" lIns="0" rIns="0" tIns="0" bIns="0">
            <a:spAutoFit/>
          </a:bodyPr>
          <a:lstStyle/>
          <a:p>
            <a:pPr algn="l">
              <a:lnSpc>
                <a:spcPct val="130000"/>
              </a:lnSpc>
            </a:pPr>
            <a:r>
              <a:rPr sz="2200" b="1">
                <a:solidFill>
                  <a:srgbClr val="FFFFFF"/>
                </a:solidFill>
                <a:latin typeface="Inter"/>
              </a:rPr>
              <a:t>OpenSearch UI supports cross-region data access to OpenSearch domains</a:t>
            </a:r>
          </a:p>
        </p:txBody>
      </p:sp>
      <p:sp>
        <p:nvSpPr>
          <p:cNvPr id="14" name="TextBox 13"/>
          <p:cNvSpPr txBox="1"/>
          <p:nvPr/>
        </p:nvSpPr>
        <p:spPr>
          <a:xfrm>
            <a:off x="868680" y="3291840"/>
            <a:ext cx="10515600" cy="868680"/>
          </a:xfrm>
          <a:prstGeom prst="rect">
            <a:avLst/>
          </a:prstGeom>
          <a:noFill/>
        </p:spPr>
        <p:txBody>
          <a:bodyPr wrap="square" lIns="0" rIns="0" tIns="0" bIns="0">
            <a:spAutoFit/>
          </a:bodyPr>
          <a:lstStyle/>
          <a:p>
            <a:pPr algn="l">
              <a:lnSpc>
                <a:spcPct val="150000"/>
              </a:lnSpc>
            </a:pPr>
            <a:r>
              <a:rPr sz="1400" b="0">
                <a:solidFill>
                  <a:srgbClr val="CFFAFE"/>
                </a:solidFill>
                <a:latin typeface="Inter"/>
              </a:rPr>
              <a:t>“Access OpenSearch domains hosted in different AWS Regions from within a single OpenSearch UI application — without switching endpoints or replicating data.”</a:t>
            </a:r>
          </a:p>
        </p:txBody>
      </p:sp>
      <p:sp>
        <p:nvSpPr>
          <p:cNvPr id="15" name="Rounded Rectangle 14"/>
          <p:cNvSpPr/>
          <p:nvPr/>
        </p:nvSpPr>
        <p:spPr>
          <a:xfrm>
            <a:off x="548640" y="4526280"/>
            <a:ext cx="2697480" cy="9144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617720"/>
            <a:ext cx="2331720" cy="274320"/>
          </a:xfrm>
          <a:prstGeom prst="rect">
            <a:avLst/>
          </a:prstGeom>
          <a:noFill/>
        </p:spPr>
        <p:txBody>
          <a:bodyPr wrap="square" lIns="0" rIns="0" tIns="0" bIns="0">
            <a:spAutoFit/>
          </a:bodyPr>
          <a:lstStyle/>
          <a:p>
            <a:pPr algn="l">
              <a:lnSpc>
                <a:spcPct val="115000"/>
              </a:lnSpc>
            </a:pPr>
            <a:r>
              <a:rPr sz="1000" b="1">
                <a:solidFill>
                  <a:srgbClr val="FF9900"/>
                </a:solidFill>
                <a:latin typeface="Inter"/>
              </a:rPr>
              <a:t>DATE</a:t>
            </a:r>
          </a:p>
        </p:txBody>
      </p:sp>
      <p:sp>
        <p:nvSpPr>
          <p:cNvPr id="17" name="TextBox 16"/>
          <p:cNvSpPr txBox="1"/>
          <p:nvPr/>
        </p:nvSpPr>
        <p:spPr>
          <a:xfrm>
            <a:off x="731520" y="4892040"/>
            <a:ext cx="2331720" cy="502920"/>
          </a:xfrm>
          <a:prstGeom prst="rect">
            <a:avLst/>
          </a:prstGeom>
          <a:noFill/>
        </p:spPr>
        <p:txBody>
          <a:bodyPr wrap="square" lIns="0" rIns="0" tIns="0" bIns="0">
            <a:spAutoFit/>
          </a:bodyPr>
          <a:lstStyle/>
          <a:p>
            <a:pPr algn="l">
              <a:lnSpc>
                <a:spcPct val="130000"/>
              </a:lnSpc>
            </a:pPr>
            <a:r>
              <a:rPr sz="1300" b="0">
                <a:solidFill>
                  <a:srgbClr val="0F172A"/>
                </a:solidFill>
                <a:latin typeface="Inter"/>
              </a:rPr>
              <a:t>May 1, 2026</a:t>
            </a:r>
          </a:p>
        </p:txBody>
      </p:sp>
      <p:sp>
        <p:nvSpPr>
          <p:cNvPr id="18" name="Rounded Rectangle 17"/>
          <p:cNvSpPr/>
          <p:nvPr/>
        </p:nvSpPr>
        <p:spPr>
          <a:xfrm>
            <a:off x="3337560" y="4526280"/>
            <a:ext cx="2697480" cy="9144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0440" y="4617720"/>
            <a:ext cx="2331720" cy="274320"/>
          </a:xfrm>
          <a:prstGeom prst="rect">
            <a:avLst/>
          </a:prstGeom>
          <a:noFill/>
        </p:spPr>
        <p:txBody>
          <a:bodyPr wrap="square" lIns="0" rIns="0" tIns="0" bIns="0">
            <a:spAutoFit/>
          </a:bodyPr>
          <a:lstStyle/>
          <a:p>
            <a:pPr algn="l">
              <a:lnSpc>
                <a:spcPct val="115000"/>
              </a:lnSpc>
            </a:pPr>
            <a:r>
              <a:rPr sz="1000" b="1">
                <a:solidFill>
                  <a:srgbClr val="FF9900"/>
                </a:solidFill>
                <a:latin typeface="Inter"/>
              </a:rPr>
              <a:t>SCOPE</a:t>
            </a:r>
          </a:p>
        </p:txBody>
      </p:sp>
      <p:sp>
        <p:nvSpPr>
          <p:cNvPr id="20" name="TextBox 19"/>
          <p:cNvSpPr txBox="1"/>
          <p:nvPr/>
        </p:nvSpPr>
        <p:spPr>
          <a:xfrm>
            <a:off x="3520440" y="4892040"/>
            <a:ext cx="2331720" cy="502920"/>
          </a:xfrm>
          <a:prstGeom prst="rect">
            <a:avLst/>
          </a:prstGeom>
          <a:noFill/>
        </p:spPr>
        <p:txBody>
          <a:bodyPr wrap="square" lIns="0" rIns="0" tIns="0" bIns="0">
            <a:spAutoFit/>
          </a:bodyPr>
          <a:lstStyle/>
          <a:p>
            <a:pPr algn="l">
              <a:lnSpc>
                <a:spcPct val="130000"/>
              </a:lnSpc>
            </a:pPr>
            <a:r>
              <a:rPr sz="1300" b="0">
                <a:solidFill>
                  <a:srgbClr val="0F172A"/>
                </a:solidFill>
                <a:latin typeface="Inter"/>
              </a:rPr>
              <a:t>Public + VPC domains</a:t>
            </a:r>
          </a:p>
        </p:txBody>
      </p:sp>
      <p:sp>
        <p:nvSpPr>
          <p:cNvPr id="21" name="Rounded Rectangle 20"/>
          <p:cNvSpPr/>
          <p:nvPr/>
        </p:nvSpPr>
        <p:spPr>
          <a:xfrm>
            <a:off x="6126480" y="4526280"/>
            <a:ext cx="2697480" cy="9144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4617720"/>
            <a:ext cx="2331720" cy="274320"/>
          </a:xfrm>
          <a:prstGeom prst="rect">
            <a:avLst/>
          </a:prstGeom>
          <a:noFill/>
        </p:spPr>
        <p:txBody>
          <a:bodyPr wrap="square" lIns="0" rIns="0" tIns="0" bIns="0">
            <a:spAutoFit/>
          </a:bodyPr>
          <a:lstStyle/>
          <a:p>
            <a:pPr algn="l">
              <a:lnSpc>
                <a:spcPct val="115000"/>
              </a:lnSpc>
            </a:pPr>
            <a:r>
              <a:rPr sz="1000" b="1">
                <a:solidFill>
                  <a:srgbClr val="FF9900"/>
                </a:solidFill>
                <a:latin typeface="Inter"/>
              </a:rPr>
              <a:t>AUTH</a:t>
            </a:r>
          </a:p>
        </p:txBody>
      </p:sp>
      <p:sp>
        <p:nvSpPr>
          <p:cNvPr id="23" name="TextBox 22"/>
          <p:cNvSpPr txBox="1"/>
          <p:nvPr/>
        </p:nvSpPr>
        <p:spPr>
          <a:xfrm>
            <a:off x="6309360" y="4892040"/>
            <a:ext cx="2331720" cy="502920"/>
          </a:xfrm>
          <a:prstGeom prst="rect">
            <a:avLst/>
          </a:prstGeom>
          <a:noFill/>
        </p:spPr>
        <p:txBody>
          <a:bodyPr wrap="square" lIns="0" rIns="0" tIns="0" bIns="0">
            <a:spAutoFit/>
          </a:bodyPr>
          <a:lstStyle/>
          <a:p>
            <a:pPr algn="l">
              <a:lnSpc>
                <a:spcPct val="130000"/>
              </a:lnSpc>
            </a:pPr>
            <a:r>
              <a:rPr sz="1300" b="0">
                <a:solidFill>
                  <a:srgbClr val="0F172A"/>
                </a:solidFill>
                <a:latin typeface="Inter"/>
              </a:rPr>
              <a:t>IAM · IAM Identity Center</a:t>
            </a:r>
          </a:p>
        </p:txBody>
      </p:sp>
      <p:sp>
        <p:nvSpPr>
          <p:cNvPr id="24" name="Rounded Rectangle 23"/>
          <p:cNvSpPr/>
          <p:nvPr/>
        </p:nvSpPr>
        <p:spPr>
          <a:xfrm>
            <a:off x="8915400" y="4526280"/>
            <a:ext cx="2697480" cy="9144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4617720"/>
            <a:ext cx="2331720" cy="274320"/>
          </a:xfrm>
          <a:prstGeom prst="rect">
            <a:avLst/>
          </a:prstGeom>
          <a:noFill/>
        </p:spPr>
        <p:txBody>
          <a:bodyPr wrap="square" lIns="0" rIns="0" tIns="0" bIns="0">
            <a:spAutoFit/>
          </a:bodyPr>
          <a:lstStyle/>
          <a:p>
            <a:pPr algn="l">
              <a:lnSpc>
                <a:spcPct val="115000"/>
              </a:lnSpc>
            </a:pPr>
            <a:r>
              <a:rPr sz="1000" b="1">
                <a:solidFill>
                  <a:srgbClr val="FF9900"/>
                </a:solidFill>
                <a:latin typeface="Inter"/>
              </a:rPr>
              <a:t>COMBO</a:t>
            </a:r>
          </a:p>
        </p:txBody>
      </p:sp>
      <p:sp>
        <p:nvSpPr>
          <p:cNvPr id="26" name="TextBox 25"/>
          <p:cNvSpPr txBox="1"/>
          <p:nvPr/>
        </p:nvSpPr>
        <p:spPr>
          <a:xfrm>
            <a:off x="9098280" y="4892040"/>
            <a:ext cx="2331720" cy="502920"/>
          </a:xfrm>
          <a:prstGeom prst="rect">
            <a:avLst/>
          </a:prstGeom>
          <a:noFill/>
        </p:spPr>
        <p:txBody>
          <a:bodyPr wrap="square" lIns="0" rIns="0" tIns="0" bIns="0">
            <a:spAutoFit/>
          </a:bodyPr>
          <a:lstStyle/>
          <a:p>
            <a:pPr algn="l">
              <a:lnSpc>
                <a:spcPct val="130000"/>
              </a:lnSpc>
            </a:pPr>
            <a:r>
              <a:rPr sz="1300" b="0">
                <a:solidFill>
                  <a:srgbClr val="0F172A"/>
                </a:solidFill>
                <a:latin typeface="Inter"/>
              </a:rPr>
              <a:t>Plus cross-account access</a:t>
            </a:r>
          </a:p>
        </p:txBody>
      </p:sp>
      <p:sp>
        <p:nvSpPr>
          <p:cNvPr id="27" name="TextBox 26"/>
          <p:cNvSpPr txBox="1"/>
          <p:nvPr/>
        </p:nvSpPr>
        <p:spPr>
          <a:xfrm>
            <a:off x="548640" y="5715000"/>
            <a:ext cx="11064240" cy="365760"/>
          </a:xfrm>
          <a:prstGeom prst="rect">
            <a:avLst/>
          </a:prstGeom>
          <a:noFill/>
        </p:spPr>
        <p:txBody>
          <a:bodyPr wrap="square" lIns="0" rIns="0" tIns="0" bIns="0">
            <a:spAutoFit/>
          </a:bodyPr>
          <a:lstStyle/>
          <a:p>
            <a:pPr algn="l">
              <a:lnSpc>
                <a:spcPct val="115000"/>
              </a:lnSpc>
            </a:pPr>
            <a:r>
              <a:rPr sz="1100" b="0">
                <a:solidFill>
                  <a:srgbClr val="64748B"/>
                </a:solidFill>
                <a:latin typeface="Menlo"/>
              </a:rPr>
              <a:t>aws.amazon.com/about-aws/whats-new/2026/05/opensearch-ui-cross-region-data-access-domains/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03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WHY THIS MATTERS</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The trade-off this collapses</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5440680" cy="393192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011680"/>
            <a:ext cx="91440" cy="393192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194560"/>
            <a:ext cx="5029200" cy="365760"/>
          </a:xfrm>
          <a:prstGeom prst="rect">
            <a:avLst/>
          </a:prstGeom>
          <a:noFill/>
        </p:spPr>
        <p:txBody>
          <a:bodyPr wrap="square" lIns="0" rIns="0" tIns="0" bIns="0">
            <a:spAutoFit/>
          </a:bodyPr>
          <a:lstStyle/>
          <a:p>
            <a:pPr algn="l">
              <a:lnSpc>
                <a:spcPct val="115000"/>
              </a:lnSpc>
            </a:pPr>
            <a:r>
              <a:rPr sz="1100" b="1">
                <a:solidFill>
                  <a:srgbClr val="F43F5E"/>
                </a:solidFill>
                <a:latin typeface="Inter"/>
              </a:rPr>
              <a:t>PRESSURE 1 · DATA RESIDENCY</a:t>
            </a:r>
          </a:p>
        </p:txBody>
      </p:sp>
      <p:sp>
        <p:nvSpPr>
          <p:cNvPr id="14" name="TextBox 13"/>
          <p:cNvSpPr txBox="1"/>
          <p:nvPr/>
        </p:nvSpPr>
        <p:spPr>
          <a:xfrm>
            <a:off x="868680" y="2514600"/>
            <a:ext cx="5029200" cy="457200"/>
          </a:xfrm>
          <a:prstGeom prst="rect">
            <a:avLst/>
          </a:prstGeom>
          <a:noFill/>
        </p:spPr>
        <p:txBody>
          <a:bodyPr wrap="square" lIns="0" rIns="0" tIns="0" bIns="0">
            <a:spAutoFit/>
          </a:bodyPr>
          <a:lstStyle/>
          <a:p>
            <a:pPr algn="l">
              <a:lnSpc>
                <a:spcPct val="115000"/>
              </a:lnSpc>
            </a:pPr>
            <a:r>
              <a:rPr sz="1800" b="1">
                <a:solidFill>
                  <a:srgbClr val="0F172A"/>
                </a:solidFill>
                <a:latin typeface="Inter"/>
              </a:rPr>
              <a:t>Keep data in the region where it was born</a:t>
            </a:r>
          </a:p>
        </p:txBody>
      </p:sp>
      <p:sp>
        <p:nvSpPr>
          <p:cNvPr id="15" name="TextBox 14"/>
          <p:cNvSpPr txBox="1"/>
          <p:nvPr/>
        </p:nvSpPr>
        <p:spPr>
          <a:xfrm>
            <a:off x="868680" y="3154680"/>
            <a:ext cx="4937760" cy="2743200"/>
          </a:xfrm>
          <a:prstGeom prst="rect">
            <a:avLst/>
          </a:prstGeom>
          <a:noFill/>
        </p:spPr>
        <p:txBody>
          <a:bodyPr wrap="square" lIns="0" rIns="0" tIns="0" bIns="0">
            <a:spAutoFit/>
          </a:bodyPr>
          <a:lstStyle/>
          <a:p>
            <a:pPr>
              <a:lnSpc>
                <a:spcPct val="140000"/>
              </a:lnSpc>
              <a:spcAft>
                <a:spcPts val="800"/>
              </a:spcAft>
            </a:pPr>
            <a:r>
              <a:rPr sz="1300">
                <a:solidFill>
                  <a:srgbClr val="06B6D4"/>
                </a:solidFill>
                <a:latin typeface="Inter"/>
              </a:rPr>
              <a:t>●  </a:t>
            </a:r>
            <a:r>
              <a:rPr sz="1300">
                <a:solidFill>
                  <a:srgbClr val="334155"/>
                </a:solidFill>
                <a:latin typeface="Inter"/>
              </a:rPr>
              <a:t>GDPR · MAS · RBI · regional compliance regimes</a:t>
            </a:r>
          </a:p>
          <a:p>
            <a:pPr>
              <a:lnSpc>
                <a:spcPct val="140000"/>
              </a:lnSpc>
              <a:spcAft>
                <a:spcPts val="800"/>
              </a:spcAft>
            </a:pPr>
            <a:r>
              <a:rPr sz="1300">
                <a:solidFill>
                  <a:srgbClr val="06B6D4"/>
                </a:solidFill>
                <a:latin typeface="Inter"/>
              </a:rPr>
              <a:t>●  </a:t>
            </a:r>
            <a:r>
              <a:rPr sz="1300">
                <a:solidFill>
                  <a:srgbClr val="334155"/>
                </a:solidFill>
                <a:latin typeface="Inter"/>
              </a:rPr>
              <a:t>Customer contractual requirements</a:t>
            </a:r>
          </a:p>
          <a:p>
            <a:pPr>
              <a:lnSpc>
                <a:spcPct val="140000"/>
              </a:lnSpc>
              <a:spcAft>
                <a:spcPts val="800"/>
              </a:spcAft>
            </a:pPr>
            <a:r>
              <a:rPr sz="1300">
                <a:solidFill>
                  <a:srgbClr val="06B6D4"/>
                </a:solidFill>
                <a:latin typeface="Inter"/>
              </a:rPr>
              <a:t>●  </a:t>
            </a:r>
            <a:r>
              <a:rPr sz="1300">
                <a:solidFill>
                  <a:srgbClr val="334155"/>
                </a:solidFill>
                <a:latin typeface="Inter"/>
              </a:rPr>
              <a:t>Latency for regional users</a:t>
            </a:r>
          </a:p>
          <a:p>
            <a:pPr>
              <a:lnSpc>
                <a:spcPct val="140000"/>
              </a:lnSpc>
              <a:spcAft>
                <a:spcPts val="800"/>
              </a:spcAft>
            </a:pPr>
            <a:r>
              <a:rPr sz="1300">
                <a:solidFill>
                  <a:srgbClr val="06B6D4"/>
                </a:solidFill>
                <a:latin typeface="Inter"/>
              </a:rPr>
              <a:t>●  </a:t>
            </a:r>
            <a:r>
              <a:rPr sz="1300">
                <a:solidFill>
                  <a:srgbClr val="334155"/>
                </a:solidFill>
                <a:latin typeface="Inter"/>
              </a:rPr>
              <a:t>Inter-region egress is expensive</a:t>
            </a:r>
          </a:p>
        </p:txBody>
      </p:sp>
      <p:sp>
        <p:nvSpPr>
          <p:cNvPr id="16" name="Rounded Rectangle 15"/>
          <p:cNvSpPr/>
          <p:nvPr/>
        </p:nvSpPr>
        <p:spPr>
          <a:xfrm>
            <a:off x="6263640" y="2011680"/>
            <a:ext cx="5440680" cy="393192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2011680"/>
            <a:ext cx="91440" cy="3931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2194560"/>
            <a:ext cx="5029200" cy="365760"/>
          </a:xfrm>
          <a:prstGeom prst="rect">
            <a:avLst/>
          </a:prstGeom>
          <a:noFill/>
        </p:spPr>
        <p:txBody>
          <a:bodyPr wrap="square" lIns="0" rIns="0" tIns="0" bIns="0">
            <a:spAutoFit/>
          </a:bodyPr>
          <a:lstStyle/>
          <a:p>
            <a:pPr algn="l">
              <a:lnSpc>
                <a:spcPct val="115000"/>
              </a:lnSpc>
            </a:pPr>
            <a:r>
              <a:rPr sz="1100" b="1">
                <a:solidFill>
                  <a:srgbClr val="10B981"/>
                </a:solidFill>
                <a:latin typeface="Inter"/>
              </a:rPr>
              <a:t>PRESSURE 2 · CENTRAL VISIBILITY</a:t>
            </a:r>
          </a:p>
        </p:txBody>
      </p:sp>
      <p:sp>
        <p:nvSpPr>
          <p:cNvPr id="19" name="TextBox 18"/>
          <p:cNvSpPr txBox="1"/>
          <p:nvPr/>
        </p:nvSpPr>
        <p:spPr>
          <a:xfrm>
            <a:off x="6583680" y="2514600"/>
            <a:ext cx="5029200" cy="457200"/>
          </a:xfrm>
          <a:prstGeom prst="rect">
            <a:avLst/>
          </a:prstGeom>
          <a:noFill/>
        </p:spPr>
        <p:txBody>
          <a:bodyPr wrap="square" lIns="0" rIns="0" tIns="0" bIns="0">
            <a:spAutoFit/>
          </a:bodyPr>
          <a:lstStyle/>
          <a:p>
            <a:pPr algn="l">
              <a:lnSpc>
                <a:spcPct val="115000"/>
              </a:lnSpc>
            </a:pPr>
            <a:r>
              <a:rPr sz="1800" b="1">
                <a:solidFill>
                  <a:srgbClr val="0F172A"/>
                </a:solidFill>
                <a:latin typeface="Inter"/>
              </a:rPr>
              <a:t>Analysts need one pane of glass</a:t>
            </a:r>
          </a:p>
        </p:txBody>
      </p:sp>
      <p:sp>
        <p:nvSpPr>
          <p:cNvPr id="20" name="TextBox 19"/>
          <p:cNvSpPr txBox="1"/>
          <p:nvPr/>
        </p:nvSpPr>
        <p:spPr>
          <a:xfrm>
            <a:off x="6583680" y="3154680"/>
            <a:ext cx="4937760" cy="2743200"/>
          </a:xfrm>
          <a:prstGeom prst="rect">
            <a:avLst/>
          </a:prstGeom>
          <a:noFill/>
        </p:spPr>
        <p:txBody>
          <a:bodyPr wrap="square" lIns="0" rIns="0" tIns="0" bIns="0">
            <a:spAutoFit/>
          </a:bodyPr>
          <a:lstStyle/>
          <a:p>
            <a:pPr>
              <a:lnSpc>
                <a:spcPct val="140000"/>
              </a:lnSpc>
              <a:spcAft>
                <a:spcPts val="800"/>
              </a:spcAft>
            </a:pPr>
            <a:r>
              <a:rPr sz="1300">
                <a:solidFill>
                  <a:srgbClr val="10B981"/>
                </a:solidFill>
                <a:latin typeface="Inter"/>
              </a:rPr>
              <a:t>●  </a:t>
            </a:r>
            <a:r>
              <a:rPr sz="1300">
                <a:solidFill>
                  <a:srgbClr val="334155"/>
                </a:solidFill>
                <a:latin typeface="Inter"/>
              </a:rPr>
              <a:t>Global trading book oversight</a:t>
            </a:r>
          </a:p>
          <a:p>
            <a:pPr>
              <a:lnSpc>
                <a:spcPct val="140000"/>
              </a:lnSpc>
              <a:spcAft>
                <a:spcPts val="800"/>
              </a:spcAft>
            </a:pPr>
            <a:r>
              <a:rPr sz="1300">
                <a:solidFill>
                  <a:srgbClr val="10B981"/>
                </a:solidFill>
                <a:latin typeface="Inter"/>
              </a:rPr>
              <a:t>●  </a:t>
            </a:r>
            <a:r>
              <a:rPr sz="1300">
                <a:solidFill>
                  <a:srgbClr val="334155"/>
                </a:solidFill>
                <a:latin typeface="Inter"/>
              </a:rPr>
              <a:t>Cross-region anomaly detection</a:t>
            </a:r>
          </a:p>
          <a:p>
            <a:pPr>
              <a:lnSpc>
                <a:spcPct val="140000"/>
              </a:lnSpc>
              <a:spcAft>
                <a:spcPts val="800"/>
              </a:spcAft>
            </a:pPr>
            <a:r>
              <a:rPr sz="1300">
                <a:solidFill>
                  <a:srgbClr val="10B981"/>
                </a:solidFill>
                <a:latin typeface="Inter"/>
              </a:rPr>
              <a:t>●  </a:t>
            </a:r>
            <a:r>
              <a:rPr sz="1300">
                <a:solidFill>
                  <a:srgbClr val="334155"/>
                </a:solidFill>
                <a:latin typeface="Inter"/>
              </a:rPr>
              <a:t>Centralized observability dashboards</a:t>
            </a:r>
          </a:p>
          <a:p>
            <a:pPr>
              <a:lnSpc>
                <a:spcPct val="140000"/>
              </a:lnSpc>
              <a:spcAft>
                <a:spcPts val="800"/>
              </a:spcAft>
            </a:pPr>
            <a:r>
              <a:rPr sz="1300">
                <a:solidFill>
                  <a:srgbClr val="10B981"/>
                </a:solidFill>
                <a:latin typeface="Inter"/>
              </a:rPr>
              <a:t>●  </a:t>
            </a:r>
            <a:r>
              <a:rPr sz="1300">
                <a:solidFill>
                  <a:srgbClr val="334155"/>
                </a:solidFill>
                <a:latin typeface="Inter"/>
              </a:rPr>
              <a:t>One UI, one auth, one query language</a:t>
            </a:r>
          </a:p>
        </p:txBody>
      </p:sp>
      <p:sp>
        <p:nvSpPr>
          <p:cNvPr id="21" name="Rounded Rectangle 20"/>
          <p:cNvSpPr/>
          <p:nvPr/>
        </p:nvSpPr>
        <p:spPr>
          <a:xfrm>
            <a:off x="548640" y="6035040"/>
            <a:ext cx="11064240" cy="365760"/>
          </a:xfrm>
          <a:prstGeom prst="roundRect">
            <a:avLst>
              <a:gd name="adj" fmla="val 1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035040"/>
            <a:ext cx="11064240" cy="365760"/>
          </a:xfrm>
          <a:prstGeom prst="rect">
            <a:avLst/>
          </a:prstGeom>
          <a:noFill/>
        </p:spPr>
        <p:txBody>
          <a:bodyPr wrap="square" lIns="0" rIns="0" tIns="0" bIns="0">
            <a:spAutoFit/>
          </a:bodyPr>
          <a:lstStyle/>
          <a:p>
            <a:pPr algn="ctr">
              <a:lnSpc>
                <a:spcPct val="115000"/>
              </a:lnSpc>
            </a:pPr>
            <a:r>
              <a:rPr sz="1400" b="1">
                <a:solidFill>
                  <a:srgbClr val="FF9900"/>
                </a:solidFill>
                <a:latin typeface="Inter"/>
              </a:rPr>
              <a:t>For years you had to pick one. Now you don’t.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04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BEFORE THIS FEATURE</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What teams used to do (and pay for)</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5486400" cy="18288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011680"/>
            <a:ext cx="91440" cy="182880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240280"/>
            <a:ext cx="5029200" cy="365760"/>
          </a:xfrm>
          <a:prstGeom prst="rect">
            <a:avLst/>
          </a:prstGeom>
          <a:noFill/>
        </p:spPr>
        <p:txBody>
          <a:bodyPr wrap="square" lIns="0" rIns="0" tIns="0" bIns="0">
            <a:spAutoFit/>
          </a:bodyPr>
          <a:lstStyle/>
          <a:p>
            <a:pPr algn="l">
              <a:lnSpc>
                <a:spcPct val="115000"/>
              </a:lnSpc>
            </a:pPr>
            <a:r>
              <a:rPr sz="1700" b="1">
                <a:solidFill>
                  <a:srgbClr val="0F172A"/>
                </a:solidFill>
                <a:latin typeface="Inter"/>
              </a:rPr>
              <a:t>Cross-cluster replication</a:t>
            </a:r>
          </a:p>
        </p:txBody>
      </p:sp>
      <p:sp>
        <p:nvSpPr>
          <p:cNvPr id="14" name="TextBox 13"/>
          <p:cNvSpPr txBox="1"/>
          <p:nvPr/>
        </p:nvSpPr>
        <p:spPr>
          <a:xfrm>
            <a:off x="868680" y="2697480"/>
            <a:ext cx="5029200" cy="1097280"/>
          </a:xfrm>
          <a:prstGeom prst="rect">
            <a:avLst/>
          </a:prstGeom>
          <a:noFill/>
        </p:spPr>
        <p:txBody>
          <a:bodyPr wrap="square" lIns="0" rIns="0" tIns="0" bIns="0">
            <a:spAutoFit/>
          </a:bodyPr>
          <a:lstStyle/>
          <a:p>
            <a:pPr algn="l">
              <a:lnSpc>
                <a:spcPct val="140000"/>
              </a:lnSpc>
            </a:pPr>
            <a:r>
              <a:rPr sz="1300" b="0">
                <a:solidFill>
                  <a:srgbClr val="334155"/>
                </a:solidFill>
                <a:latin typeface="Inter"/>
              </a:rPr>
              <a:t>Replicate every region into a central one. Doubles storage, blows up egress, breaks residency.</a:t>
            </a:r>
          </a:p>
        </p:txBody>
      </p:sp>
      <p:sp>
        <p:nvSpPr>
          <p:cNvPr id="15" name="Rounded Rectangle 14"/>
          <p:cNvSpPr/>
          <p:nvPr/>
        </p:nvSpPr>
        <p:spPr>
          <a:xfrm>
            <a:off x="6126480" y="2011680"/>
            <a:ext cx="5486400" cy="18288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2011680"/>
            <a:ext cx="91440" cy="1828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240280"/>
            <a:ext cx="5029200" cy="365760"/>
          </a:xfrm>
          <a:prstGeom prst="rect">
            <a:avLst/>
          </a:prstGeom>
          <a:noFill/>
        </p:spPr>
        <p:txBody>
          <a:bodyPr wrap="square" lIns="0" rIns="0" tIns="0" bIns="0">
            <a:spAutoFit/>
          </a:bodyPr>
          <a:lstStyle/>
          <a:p>
            <a:pPr algn="l">
              <a:lnSpc>
                <a:spcPct val="115000"/>
              </a:lnSpc>
            </a:pPr>
            <a:r>
              <a:rPr sz="1700" b="1">
                <a:solidFill>
                  <a:srgbClr val="0F172A"/>
                </a:solidFill>
                <a:latin typeface="Inter"/>
              </a:rPr>
              <a:t>Endpoint juggling</a:t>
            </a:r>
          </a:p>
        </p:txBody>
      </p:sp>
      <p:sp>
        <p:nvSpPr>
          <p:cNvPr id="18" name="TextBox 17"/>
          <p:cNvSpPr txBox="1"/>
          <p:nvPr/>
        </p:nvSpPr>
        <p:spPr>
          <a:xfrm>
            <a:off x="6446520" y="2697480"/>
            <a:ext cx="5029200" cy="1097280"/>
          </a:xfrm>
          <a:prstGeom prst="rect">
            <a:avLst/>
          </a:prstGeom>
          <a:noFill/>
        </p:spPr>
        <p:txBody>
          <a:bodyPr wrap="square" lIns="0" rIns="0" tIns="0" bIns="0">
            <a:spAutoFit/>
          </a:bodyPr>
          <a:lstStyle/>
          <a:p>
            <a:pPr algn="l">
              <a:lnSpc>
                <a:spcPct val="140000"/>
              </a:lnSpc>
            </a:pPr>
            <a:r>
              <a:rPr sz="1300" b="0">
                <a:solidFill>
                  <a:srgbClr val="334155"/>
                </a:solidFill>
                <a:latin typeface="Inter"/>
              </a:rPr>
              <a:t>Five bookmarks for five regions. Switch contexts, copy-paste queries, no joins.</a:t>
            </a:r>
          </a:p>
        </p:txBody>
      </p:sp>
      <p:sp>
        <p:nvSpPr>
          <p:cNvPr id="19" name="Rounded Rectangle 18"/>
          <p:cNvSpPr/>
          <p:nvPr/>
        </p:nvSpPr>
        <p:spPr>
          <a:xfrm>
            <a:off x="548640" y="3931920"/>
            <a:ext cx="5486400" cy="18288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931920"/>
            <a:ext cx="91440" cy="1828800"/>
          </a:xfrm>
          <a:prstGeom prst="rect">
            <a:avLst/>
          </a:prstGeom>
          <a:solidFill>
            <a:srgbClr val="312E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160520"/>
            <a:ext cx="5029200" cy="365760"/>
          </a:xfrm>
          <a:prstGeom prst="rect">
            <a:avLst/>
          </a:prstGeom>
          <a:noFill/>
        </p:spPr>
        <p:txBody>
          <a:bodyPr wrap="square" lIns="0" rIns="0" tIns="0" bIns="0">
            <a:spAutoFit/>
          </a:bodyPr>
          <a:lstStyle/>
          <a:p>
            <a:pPr algn="l">
              <a:lnSpc>
                <a:spcPct val="115000"/>
              </a:lnSpc>
            </a:pPr>
            <a:r>
              <a:rPr sz="1700" b="1">
                <a:solidFill>
                  <a:srgbClr val="0F172A"/>
                </a:solidFill>
                <a:latin typeface="Inter"/>
              </a:rPr>
              <a:t>Custom federated proxy</a:t>
            </a:r>
          </a:p>
        </p:txBody>
      </p:sp>
      <p:sp>
        <p:nvSpPr>
          <p:cNvPr id="22" name="TextBox 21"/>
          <p:cNvSpPr txBox="1"/>
          <p:nvPr/>
        </p:nvSpPr>
        <p:spPr>
          <a:xfrm>
            <a:off x="868680" y="4617720"/>
            <a:ext cx="5029200" cy="1097280"/>
          </a:xfrm>
          <a:prstGeom prst="rect">
            <a:avLst/>
          </a:prstGeom>
          <a:noFill/>
        </p:spPr>
        <p:txBody>
          <a:bodyPr wrap="square" lIns="0" rIns="0" tIns="0" bIns="0">
            <a:spAutoFit/>
          </a:bodyPr>
          <a:lstStyle/>
          <a:p>
            <a:pPr algn="l">
              <a:lnSpc>
                <a:spcPct val="140000"/>
              </a:lnSpc>
            </a:pPr>
            <a:r>
              <a:rPr sz="1300" b="0">
                <a:solidFill>
                  <a:srgbClr val="334155"/>
                </a:solidFill>
                <a:latin typeface="Inter"/>
              </a:rPr>
              <a:t>Build a query router yourself. New surface area to maintain and authenticate.</a:t>
            </a:r>
          </a:p>
        </p:txBody>
      </p:sp>
      <p:sp>
        <p:nvSpPr>
          <p:cNvPr id="23" name="Rounded Rectangle 22"/>
          <p:cNvSpPr/>
          <p:nvPr/>
        </p:nvSpPr>
        <p:spPr>
          <a:xfrm>
            <a:off x="6126480" y="3931920"/>
            <a:ext cx="5486400" cy="18288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26480" y="3931920"/>
            <a:ext cx="91440" cy="18288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4160520"/>
            <a:ext cx="5029200" cy="365760"/>
          </a:xfrm>
          <a:prstGeom prst="rect">
            <a:avLst/>
          </a:prstGeom>
          <a:noFill/>
        </p:spPr>
        <p:txBody>
          <a:bodyPr wrap="square" lIns="0" rIns="0" tIns="0" bIns="0">
            <a:spAutoFit/>
          </a:bodyPr>
          <a:lstStyle/>
          <a:p>
            <a:pPr algn="l">
              <a:lnSpc>
                <a:spcPct val="115000"/>
              </a:lnSpc>
            </a:pPr>
            <a:r>
              <a:rPr sz="1700" b="1">
                <a:solidFill>
                  <a:srgbClr val="0F172A"/>
                </a:solidFill>
                <a:latin typeface="Inter"/>
              </a:rPr>
              <a:t>Just give up</a:t>
            </a:r>
          </a:p>
        </p:txBody>
      </p:sp>
      <p:sp>
        <p:nvSpPr>
          <p:cNvPr id="26" name="TextBox 25"/>
          <p:cNvSpPr txBox="1"/>
          <p:nvPr/>
        </p:nvSpPr>
        <p:spPr>
          <a:xfrm>
            <a:off x="6446520" y="4617720"/>
            <a:ext cx="5029200" cy="1097280"/>
          </a:xfrm>
          <a:prstGeom prst="rect">
            <a:avLst/>
          </a:prstGeom>
          <a:noFill/>
        </p:spPr>
        <p:txBody>
          <a:bodyPr wrap="square" lIns="0" rIns="0" tIns="0" bIns="0">
            <a:spAutoFit/>
          </a:bodyPr>
          <a:lstStyle/>
          <a:p>
            <a:pPr algn="l">
              <a:lnSpc>
                <a:spcPct val="140000"/>
              </a:lnSpc>
            </a:pPr>
            <a:r>
              <a:rPr sz="1300" b="0">
                <a:solidFill>
                  <a:srgbClr val="334155"/>
                </a:solidFill>
                <a:latin typeface="Inter"/>
              </a:rPr>
              <a:t>Per-region dashboards · no global view · the most common outcome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05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AFTER THIS FEATURE</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One UI · many regions · no movement</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2194560"/>
            <a:ext cx="2560320" cy="1005840"/>
          </a:xfrm>
          <a:prstGeom prst="roundRect">
            <a:avLst>
              <a:gd name="adj" fmla="val 10000"/>
            </a:avLst>
          </a:prstGeom>
          <a:solidFill>
            <a:srgbClr val="FFFFFF"/>
          </a:solidFill>
          <a:ln w="1905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359152"/>
            <a:ext cx="2286000" cy="365760"/>
          </a:xfrm>
          <a:prstGeom prst="rect">
            <a:avLst/>
          </a:prstGeom>
          <a:noFill/>
        </p:spPr>
        <p:txBody>
          <a:bodyPr wrap="square" lIns="0" rIns="0" tIns="0" bIns="0">
            <a:spAutoFit/>
          </a:bodyPr>
          <a:lstStyle/>
          <a:p>
            <a:pPr algn="l">
              <a:lnSpc>
                <a:spcPct val="115000"/>
              </a:lnSpc>
            </a:pPr>
            <a:r>
              <a:rPr sz="1000" b="1">
                <a:solidFill>
                  <a:srgbClr val="1E3A8A"/>
                </a:solidFill>
                <a:latin typeface="Inter"/>
              </a:rPr>
              <a:t>OPENSEARCH</a:t>
            </a:r>
          </a:p>
        </p:txBody>
      </p:sp>
      <p:sp>
        <p:nvSpPr>
          <p:cNvPr id="13" name="TextBox 12"/>
          <p:cNvSpPr txBox="1"/>
          <p:nvPr/>
        </p:nvSpPr>
        <p:spPr>
          <a:xfrm>
            <a:off x="777240" y="2606040"/>
            <a:ext cx="2286000" cy="457200"/>
          </a:xfrm>
          <a:prstGeom prst="rect">
            <a:avLst/>
          </a:prstGeom>
          <a:noFill/>
        </p:spPr>
        <p:txBody>
          <a:bodyPr wrap="square" lIns="0" rIns="0" tIns="0" bIns="0">
            <a:spAutoFit/>
          </a:bodyPr>
          <a:lstStyle/>
          <a:p>
            <a:pPr algn="l">
              <a:lnSpc>
                <a:spcPct val="115000"/>
              </a:lnSpc>
            </a:pPr>
            <a:r>
              <a:rPr sz="1800" b="1">
                <a:solidFill>
                  <a:srgbClr val="0F172A"/>
                </a:solidFill>
                <a:latin typeface="Menlo"/>
              </a:rPr>
              <a:t>us-east-1</a:t>
            </a:r>
          </a:p>
        </p:txBody>
      </p:sp>
      <p:sp>
        <p:nvSpPr>
          <p:cNvPr id="14" name="TextBox 13"/>
          <p:cNvSpPr txBox="1"/>
          <p:nvPr/>
        </p:nvSpPr>
        <p:spPr>
          <a:xfrm>
            <a:off x="777240" y="2907792"/>
            <a:ext cx="2286000" cy="274320"/>
          </a:xfrm>
          <a:prstGeom prst="rect">
            <a:avLst/>
          </a:prstGeom>
          <a:noFill/>
        </p:spPr>
        <p:txBody>
          <a:bodyPr wrap="square" lIns="0" rIns="0" tIns="0" bIns="0">
            <a:spAutoFit/>
          </a:bodyPr>
          <a:lstStyle/>
          <a:p>
            <a:pPr algn="l">
              <a:lnSpc>
                <a:spcPct val="115000"/>
              </a:lnSpc>
            </a:pPr>
            <a:r>
              <a:rPr sz="1100" b="0">
                <a:solidFill>
                  <a:srgbClr val="64748B"/>
                </a:solidFill>
                <a:latin typeface="Inter"/>
              </a:rPr>
              <a:t>Domain</a:t>
            </a:r>
          </a:p>
        </p:txBody>
      </p:sp>
      <p:sp>
        <p:nvSpPr>
          <p:cNvPr id="15" name="Right Arrow 14"/>
          <p:cNvSpPr/>
          <p:nvPr/>
        </p:nvSpPr>
        <p:spPr>
          <a:xfrm>
            <a:off x="3383280" y="2560320"/>
            <a:ext cx="548640" cy="274320"/>
          </a:xfrm>
          <a:prstGeom prst="rightArrow">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 y="3474720"/>
            <a:ext cx="2560320" cy="1005840"/>
          </a:xfrm>
          <a:prstGeom prst="roundRect">
            <a:avLst>
              <a:gd name="adj" fmla="val 10000"/>
            </a:avLst>
          </a:prstGeom>
          <a:solidFill>
            <a:srgbClr val="FFFFFF"/>
          </a:solidFill>
          <a:ln w="1905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639312"/>
            <a:ext cx="2286000" cy="365760"/>
          </a:xfrm>
          <a:prstGeom prst="rect">
            <a:avLst/>
          </a:prstGeom>
          <a:noFill/>
        </p:spPr>
        <p:txBody>
          <a:bodyPr wrap="square" lIns="0" rIns="0" tIns="0" bIns="0">
            <a:spAutoFit/>
          </a:bodyPr>
          <a:lstStyle/>
          <a:p>
            <a:pPr algn="l">
              <a:lnSpc>
                <a:spcPct val="115000"/>
              </a:lnSpc>
            </a:pPr>
            <a:r>
              <a:rPr sz="1000" b="1">
                <a:solidFill>
                  <a:srgbClr val="06B6D4"/>
                </a:solidFill>
                <a:latin typeface="Inter"/>
              </a:rPr>
              <a:t>OPENSEARCH</a:t>
            </a:r>
          </a:p>
        </p:txBody>
      </p:sp>
      <p:sp>
        <p:nvSpPr>
          <p:cNvPr id="18" name="TextBox 17"/>
          <p:cNvSpPr txBox="1"/>
          <p:nvPr/>
        </p:nvSpPr>
        <p:spPr>
          <a:xfrm>
            <a:off x="777240" y="3886200"/>
            <a:ext cx="2286000" cy="457200"/>
          </a:xfrm>
          <a:prstGeom prst="rect">
            <a:avLst/>
          </a:prstGeom>
          <a:noFill/>
        </p:spPr>
        <p:txBody>
          <a:bodyPr wrap="square" lIns="0" rIns="0" tIns="0" bIns="0">
            <a:spAutoFit/>
          </a:bodyPr>
          <a:lstStyle/>
          <a:p>
            <a:pPr algn="l">
              <a:lnSpc>
                <a:spcPct val="115000"/>
              </a:lnSpc>
            </a:pPr>
            <a:r>
              <a:rPr sz="1800" b="1">
                <a:solidFill>
                  <a:srgbClr val="0F172A"/>
                </a:solidFill>
                <a:latin typeface="Menlo"/>
              </a:rPr>
              <a:t>eu-west-1</a:t>
            </a:r>
          </a:p>
        </p:txBody>
      </p:sp>
      <p:sp>
        <p:nvSpPr>
          <p:cNvPr id="19" name="TextBox 18"/>
          <p:cNvSpPr txBox="1"/>
          <p:nvPr/>
        </p:nvSpPr>
        <p:spPr>
          <a:xfrm>
            <a:off x="777240" y="4187952"/>
            <a:ext cx="2286000" cy="274320"/>
          </a:xfrm>
          <a:prstGeom prst="rect">
            <a:avLst/>
          </a:prstGeom>
          <a:noFill/>
        </p:spPr>
        <p:txBody>
          <a:bodyPr wrap="square" lIns="0" rIns="0" tIns="0" bIns="0">
            <a:spAutoFit/>
          </a:bodyPr>
          <a:lstStyle/>
          <a:p>
            <a:pPr algn="l">
              <a:lnSpc>
                <a:spcPct val="115000"/>
              </a:lnSpc>
            </a:pPr>
            <a:r>
              <a:rPr sz="1100" b="0">
                <a:solidFill>
                  <a:srgbClr val="64748B"/>
                </a:solidFill>
                <a:latin typeface="Inter"/>
              </a:rPr>
              <a:t>Domain</a:t>
            </a:r>
          </a:p>
        </p:txBody>
      </p:sp>
      <p:sp>
        <p:nvSpPr>
          <p:cNvPr id="20" name="Right Arrow 19"/>
          <p:cNvSpPr/>
          <p:nvPr/>
        </p:nvSpPr>
        <p:spPr>
          <a:xfrm>
            <a:off x="3383280" y="3840480"/>
            <a:ext cx="548640" cy="274320"/>
          </a:xfrm>
          <a:prstGeom prst="rightArrow">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 y="4754880"/>
            <a:ext cx="2560320" cy="1005840"/>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19472"/>
            <a:ext cx="2286000" cy="365760"/>
          </a:xfrm>
          <a:prstGeom prst="rect">
            <a:avLst/>
          </a:prstGeom>
          <a:noFill/>
        </p:spPr>
        <p:txBody>
          <a:bodyPr wrap="square" lIns="0" rIns="0" tIns="0" bIns="0">
            <a:spAutoFit/>
          </a:bodyPr>
          <a:lstStyle/>
          <a:p>
            <a:pPr algn="l">
              <a:lnSpc>
                <a:spcPct val="115000"/>
              </a:lnSpc>
            </a:pPr>
            <a:r>
              <a:rPr sz="1000" b="1">
                <a:solidFill>
                  <a:srgbClr val="10B981"/>
                </a:solidFill>
                <a:latin typeface="Inter"/>
              </a:rPr>
              <a:t>OPENSEARCH</a:t>
            </a:r>
          </a:p>
        </p:txBody>
      </p:sp>
      <p:sp>
        <p:nvSpPr>
          <p:cNvPr id="23" name="TextBox 22"/>
          <p:cNvSpPr txBox="1"/>
          <p:nvPr/>
        </p:nvSpPr>
        <p:spPr>
          <a:xfrm>
            <a:off x="777240" y="5166360"/>
            <a:ext cx="2286000" cy="457200"/>
          </a:xfrm>
          <a:prstGeom prst="rect">
            <a:avLst/>
          </a:prstGeom>
          <a:noFill/>
        </p:spPr>
        <p:txBody>
          <a:bodyPr wrap="square" lIns="0" rIns="0" tIns="0" bIns="0">
            <a:spAutoFit/>
          </a:bodyPr>
          <a:lstStyle/>
          <a:p>
            <a:pPr algn="l">
              <a:lnSpc>
                <a:spcPct val="115000"/>
              </a:lnSpc>
            </a:pPr>
            <a:r>
              <a:rPr sz="1800" b="1">
                <a:solidFill>
                  <a:srgbClr val="0F172A"/>
                </a:solidFill>
                <a:latin typeface="Menlo"/>
              </a:rPr>
              <a:t>ap-south-1</a:t>
            </a:r>
          </a:p>
        </p:txBody>
      </p:sp>
      <p:sp>
        <p:nvSpPr>
          <p:cNvPr id="24" name="TextBox 23"/>
          <p:cNvSpPr txBox="1"/>
          <p:nvPr/>
        </p:nvSpPr>
        <p:spPr>
          <a:xfrm>
            <a:off x="777240" y="5468112"/>
            <a:ext cx="2286000" cy="274320"/>
          </a:xfrm>
          <a:prstGeom prst="rect">
            <a:avLst/>
          </a:prstGeom>
          <a:noFill/>
        </p:spPr>
        <p:txBody>
          <a:bodyPr wrap="square" lIns="0" rIns="0" tIns="0" bIns="0">
            <a:spAutoFit/>
          </a:bodyPr>
          <a:lstStyle/>
          <a:p>
            <a:pPr algn="l">
              <a:lnSpc>
                <a:spcPct val="115000"/>
              </a:lnSpc>
            </a:pPr>
            <a:r>
              <a:rPr sz="1100" b="0">
                <a:solidFill>
                  <a:srgbClr val="64748B"/>
                </a:solidFill>
                <a:latin typeface="Inter"/>
              </a:rPr>
              <a:t>Domain</a:t>
            </a:r>
          </a:p>
        </p:txBody>
      </p:sp>
      <p:sp>
        <p:nvSpPr>
          <p:cNvPr id="25" name="Right Arrow 24"/>
          <p:cNvSpPr/>
          <p:nvPr/>
        </p:nvSpPr>
        <p:spPr>
          <a:xfrm>
            <a:off x="3383280" y="5120640"/>
            <a:ext cx="548640" cy="274320"/>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206240" y="2377440"/>
            <a:ext cx="7406640" cy="3657600"/>
          </a:xfrm>
          <a:prstGeom prst="roundRect">
            <a:avLst>
              <a:gd name="adj" fmla="val 10000"/>
            </a:avLst>
          </a:prstGeom>
          <a:solidFill>
            <a:srgbClr val="0F2A5C"/>
          </a:solidFill>
          <a:ln w="2540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4840" y="2606040"/>
            <a:ext cx="6858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OPENSEARCH UI · SINGLE APPLICATION</a:t>
            </a:r>
          </a:p>
        </p:txBody>
      </p:sp>
      <p:sp>
        <p:nvSpPr>
          <p:cNvPr id="28" name="TextBox 27"/>
          <p:cNvSpPr txBox="1"/>
          <p:nvPr/>
        </p:nvSpPr>
        <p:spPr>
          <a:xfrm>
            <a:off x="4434840" y="2971800"/>
            <a:ext cx="6858000" cy="548640"/>
          </a:xfrm>
          <a:prstGeom prst="rect">
            <a:avLst/>
          </a:prstGeom>
          <a:noFill/>
        </p:spPr>
        <p:txBody>
          <a:bodyPr wrap="square" lIns="0" rIns="0" tIns="0" bIns="0">
            <a:spAutoFit/>
          </a:bodyPr>
          <a:lstStyle/>
          <a:p>
            <a:pPr algn="l">
              <a:lnSpc>
                <a:spcPct val="115000"/>
              </a:lnSpc>
            </a:pPr>
            <a:r>
              <a:rPr sz="2400" b="1">
                <a:solidFill>
                  <a:srgbClr val="FFFFFF"/>
                </a:solidFill>
                <a:latin typeface="Inter"/>
              </a:rPr>
              <a:t>One dashboard.</a:t>
            </a:r>
          </a:p>
        </p:txBody>
      </p:sp>
      <p:sp>
        <p:nvSpPr>
          <p:cNvPr id="29" name="TextBox 28"/>
          <p:cNvSpPr txBox="1"/>
          <p:nvPr/>
        </p:nvSpPr>
        <p:spPr>
          <a:xfrm>
            <a:off x="4434840" y="3520440"/>
            <a:ext cx="6858000" cy="548640"/>
          </a:xfrm>
          <a:prstGeom prst="rect">
            <a:avLst/>
          </a:prstGeom>
          <a:noFill/>
        </p:spPr>
        <p:txBody>
          <a:bodyPr wrap="square" lIns="0" rIns="0" tIns="0" bIns="0">
            <a:spAutoFit/>
          </a:bodyPr>
          <a:lstStyle/>
          <a:p>
            <a:pPr algn="l">
              <a:lnSpc>
                <a:spcPct val="115000"/>
              </a:lnSpc>
            </a:pPr>
            <a:r>
              <a:rPr sz="1800" b="0">
                <a:solidFill>
                  <a:srgbClr val="CFFAFE"/>
                </a:solidFill>
                <a:latin typeface="Inter"/>
              </a:rPr>
              <a:t>One auth. One query language.</a:t>
            </a:r>
          </a:p>
        </p:txBody>
      </p:sp>
      <p:sp>
        <p:nvSpPr>
          <p:cNvPr id="30" name="TextBox 29"/>
          <p:cNvSpPr txBox="1"/>
          <p:nvPr/>
        </p:nvSpPr>
        <p:spPr>
          <a:xfrm>
            <a:off x="4434840" y="4206240"/>
            <a:ext cx="6858000" cy="1554480"/>
          </a:xfrm>
          <a:prstGeom prst="rect">
            <a:avLst/>
          </a:prstGeom>
          <a:noFill/>
        </p:spPr>
        <p:txBody>
          <a:bodyPr wrap="square" lIns="0" rIns="0" tIns="0" bIns="0">
            <a:spAutoFit/>
          </a:bodyPr>
          <a:lstStyle/>
          <a:p>
            <a:pPr algn="l">
              <a:lnSpc>
                <a:spcPct val="170000"/>
              </a:lnSpc>
            </a:pPr>
            <a:r>
              <a:rPr sz="1300" b="0">
                <a:solidFill>
                  <a:srgbClr val="E2E8F0"/>
                </a:solidFill>
                <a:latin typeface="Inter"/>
              </a:rPr>
              <a:t>✓  Data stays in its origin region — zero replication
✓  Zero inter-region egress for storage
✓  Per-region latency + availability preserved
✓  Compliant with regional data residency rules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06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THE WORKED EXAMPLE</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Meet FX Trade Analytics</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011680"/>
            <a:ext cx="11064240" cy="548640"/>
          </a:xfrm>
          <a:prstGeom prst="rect">
            <a:avLst/>
          </a:prstGeom>
          <a:noFill/>
        </p:spPr>
        <p:txBody>
          <a:bodyPr wrap="square" lIns="0" rIns="0" tIns="0" bIns="0">
            <a:spAutoFit/>
          </a:bodyPr>
          <a:lstStyle/>
          <a:p>
            <a:pPr algn="l">
              <a:lnSpc>
                <a:spcPct val="140000"/>
              </a:lnSpc>
            </a:pPr>
            <a:r>
              <a:rPr sz="1600" b="0">
                <a:solidFill>
                  <a:srgbClr val="334155"/>
                </a:solidFill>
                <a:latin typeface="Inter"/>
              </a:rPr>
              <a:t>A real-time, multi-region FX trading platform I built end-to-end. Open source · in the description.</a:t>
            </a:r>
          </a:p>
        </p:txBody>
      </p:sp>
      <p:sp>
        <p:nvSpPr>
          <p:cNvPr id="12" name="Rounded Rectangle 11"/>
          <p:cNvSpPr/>
          <p:nvPr/>
        </p:nvSpPr>
        <p:spPr>
          <a:xfrm>
            <a:off x="548640" y="2834640"/>
            <a:ext cx="2697480" cy="31089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834640"/>
            <a:ext cx="2697480" cy="41148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926080"/>
            <a:ext cx="2697480" cy="320040"/>
          </a:xfrm>
          <a:prstGeom prst="rect">
            <a:avLst/>
          </a:prstGeom>
          <a:noFill/>
        </p:spPr>
        <p:txBody>
          <a:bodyPr wrap="square" lIns="0" rIns="0" tIns="0" bIns="0">
            <a:spAutoFit/>
          </a:bodyPr>
          <a:lstStyle/>
          <a:p>
            <a:pPr algn="ctr">
              <a:lnSpc>
                <a:spcPct val="115000"/>
              </a:lnSpc>
            </a:pPr>
            <a:r>
              <a:rPr sz="1400" b="1">
                <a:solidFill>
                  <a:srgbClr val="FFFFFF"/>
                </a:solidFill>
                <a:latin typeface="Inter"/>
              </a:rPr>
              <a:t>Producer</a:t>
            </a:r>
          </a:p>
        </p:txBody>
      </p:sp>
      <p:sp>
        <p:nvSpPr>
          <p:cNvPr id="15" name="TextBox 14"/>
          <p:cNvSpPr txBox="1"/>
          <p:nvPr/>
        </p:nvSpPr>
        <p:spPr>
          <a:xfrm>
            <a:off x="822960" y="3474720"/>
            <a:ext cx="2148840" cy="2377440"/>
          </a:xfrm>
          <a:prstGeom prst="rect">
            <a:avLst/>
          </a:prstGeom>
          <a:noFill/>
        </p:spPr>
        <p:txBody>
          <a:bodyPr wrap="square" lIns="0" rIns="0" tIns="0" bIns="0">
            <a:spAutoFit/>
          </a:bodyPr>
          <a:lstStyle/>
          <a:p>
            <a:pPr algn="l">
              <a:lnSpc>
                <a:spcPct val="150000"/>
              </a:lnSpc>
            </a:pPr>
            <a:r>
              <a:rPr sz="1300" b="0">
                <a:solidFill>
                  <a:srgbClr val="334155"/>
                </a:solidFill>
                <a:latin typeface="Inter"/>
              </a:rPr>
              <a:t>Customer portal places trades · master-data validation</a:t>
            </a:r>
          </a:p>
        </p:txBody>
      </p:sp>
      <p:sp>
        <p:nvSpPr>
          <p:cNvPr id="16" name="Rounded Rectangle 15"/>
          <p:cNvSpPr/>
          <p:nvPr/>
        </p:nvSpPr>
        <p:spPr>
          <a:xfrm>
            <a:off x="3337560" y="2834640"/>
            <a:ext cx="2697480" cy="31089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37560" y="2834640"/>
            <a:ext cx="2697480" cy="4114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37560" y="2926080"/>
            <a:ext cx="2697480" cy="320040"/>
          </a:xfrm>
          <a:prstGeom prst="rect">
            <a:avLst/>
          </a:prstGeom>
          <a:noFill/>
        </p:spPr>
        <p:txBody>
          <a:bodyPr wrap="square" lIns="0" rIns="0" tIns="0" bIns="0">
            <a:spAutoFit/>
          </a:bodyPr>
          <a:lstStyle/>
          <a:p>
            <a:pPr algn="ctr">
              <a:lnSpc>
                <a:spcPct val="115000"/>
              </a:lnSpc>
            </a:pPr>
            <a:r>
              <a:rPr sz="1400" b="1">
                <a:solidFill>
                  <a:srgbClr val="FFFFFF"/>
                </a:solidFill>
                <a:latin typeface="Inter"/>
              </a:rPr>
              <a:t>Stream</a:t>
            </a:r>
          </a:p>
        </p:txBody>
      </p:sp>
      <p:sp>
        <p:nvSpPr>
          <p:cNvPr id="19" name="TextBox 18"/>
          <p:cNvSpPr txBox="1"/>
          <p:nvPr/>
        </p:nvSpPr>
        <p:spPr>
          <a:xfrm>
            <a:off x="3611880" y="3474720"/>
            <a:ext cx="2148840" cy="2377440"/>
          </a:xfrm>
          <a:prstGeom prst="rect">
            <a:avLst/>
          </a:prstGeom>
          <a:noFill/>
        </p:spPr>
        <p:txBody>
          <a:bodyPr wrap="square" lIns="0" rIns="0" tIns="0" bIns="0">
            <a:spAutoFit/>
          </a:bodyPr>
          <a:lstStyle/>
          <a:p>
            <a:pPr algn="l">
              <a:lnSpc>
                <a:spcPct val="150000"/>
              </a:lnSpc>
            </a:pPr>
            <a:r>
              <a:rPr sz="1300" b="0">
                <a:solidFill>
                  <a:srgbClr val="334155"/>
                </a:solidFill>
                <a:latin typeface="Inter"/>
              </a:rPr>
              <a:t>Kafka pipeline · risk classifier · enriched events</a:t>
            </a:r>
          </a:p>
        </p:txBody>
      </p:sp>
      <p:sp>
        <p:nvSpPr>
          <p:cNvPr id="20" name="Rounded Rectangle 19"/>
          <p:cNvSpPr/>
          <p:nvPr/>
        </p:nvSpPr>
        <p:spPr>
          <a:xfrm>
            <a:off x="6126480" y="2834640"/>
            <a:ext cx="2697480" cy="31089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2834640"/>
            <a:ext cx="2697480" cy="4114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0" y="2926080"/>
            <a:ext cx="2697480" cy="320040"/>
          </a:xfrm>
          <a:prstGeom prst="rect">
            <a:avLst/>
          </a:prstGeom>
          <a:noFill/>
        </p:spPr>
        <p:txBody>
          <a:bodyPr wrap="square" lIns="0" rIns="0" tIns="0" bIns="0">
            <a:spAutoFit/>
          </a:bodyPr>
          <a:lstStyle/>
          <a:p>
            <a:pPr algn="ctr">
              <a:lnSpc>
                <a:spcPct val="115000"/>
              </a:lnSpc>
            </a:pPr>
            <a:r>
              <a:rPr sz="1400" b="1">
                <a:solidFill>
                  <a:srgbClr val="FFFFFF"/>
                </a:solidFill>
                <a:latin typeface="Inter"/>
              </a:rPr>
              <a:t>Index</a:t>
            </a:r>
          </a:p>
        </p:txBody>
      </p:sp>
      <p:sp>
        <p:nvSpPr>
          <p:cNvPr id="23" name="TextBox 22"/>
          <p:cNvSpPr txBox="1"/>
          <p:nvPr/>
        </p:nvSpPr>
        <p:spPr>
          <a:xfrm>
            <a:off x="6400800" y="3474720"/>
            <a:ext cx="2148840" cy="2377440"/>
          </a:xfrm>
          <a:prstGeom prst="rect">
            <a:avLst/>
          </a:prstGeom>
          <a:noFill/>
        </p:spPr>
        <p:txBody>
          <a:bodyPr wrap="square" lIns="0" rIns="0" tIns="0" bIns="0">
            <a:spAutoFit/>
          </a:bodyPr>
          <a:lstStyle/>
          <a:p>
            <a:pPr algn="l">
              <a:lnSpc>
                <a:spcPct val="150000"/>
              </a:lnSpc>
            </a:pPr>
            <a:r>
              <a:rPr sz="1300" b="0">
                <a:solidFill>
                  <a:srgbClr val="334155"/>
                </a:solidFill>
                <a:latin typeface="Inter"/>
              </a:rPr>
              <a:t>OpenSearch indices partitioned by AWS region</a:t>
            </a:r>
          </a:p>
        </p:txBody>
      </p:sp>
      <p:sp>
        <p:nvSpPr>
          <p:cNvPr id="24" name="Rounded Rectangle 23"/>
          <p:cNvSpPr/>
          <p:nvPr/>
        </p:nvSpPr>
        <p:spPr>
          <a:xfrm>
            <a:off x="8915400" y="2834640"/>
            <a:ext cx="2697480" cy="31089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15400" y="2834640"/>
            <a:ext cx="2697480" cy="4114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15400" y="2926080"/>
            <a:ext cx="2697480" cy="320040"/>
          </a:xfrm>
          <a:prstGeom prst="rect">
            <a:avLst/>
          </a:prstGeom>
          <a:noFill/>
        </p:spPr>
        <p:txBody>
          <a:bodyPr wrap="square" lIns="0" rIns="0" tIns="0" bIns="0">
            <a:spAutoFit/>
          </a:bodyPr>
          <a:lstStyle/>
          <a:p>
            <a:pPr algn="ctr">
              <a:lnSpc>
                <a:spcPct val="115000"/>
              </a:lnSpc>
            </a:pPr>
            <a:r>
              <a:rPr sz="1400" b="1">
                <a:solidFill>
                  <a:srgbClr val="FFFFFF"/>
                </a:solidFill>
                <a:latin typeface="Inter"/>
              </a:rPr>
              <a:t>Analyze</a:t>
            </a:r>
          </a:p>
        </p:txBody>
      </p:sp>
      <p:sp>
        <p:nvSpPr>
          <p:cNvPr id="27" name="TextBox 26"/>
          <p:cNvSpPr txBox="1"/>
          <p:nvPr/>
        </p:nvSpPr>
        <p:spPr>
          <a:xfrm>
            <a:off x="9189720" y="3474720"/>
            <a:ext cx="2148840" cy="2377440"/>
          </a:xfrm>
          <a:prstGeom prst="rect">
            <a:avLst/>
          </a:prstGeom>
          <a:noFill/>
        </p:spPr>
        <p:txBody>
          <a:bodyPr wrap="square" lIns="0" rIns="0" tIns="0" bIns="0">
            <a:spAutoFit/>
          </a:bodyPr>
          <a:lstStyle/>
          <a:p>
            <a:pPr algn="l">
              <a:lnSpc>
                <a:spcPct val="150000"/>
              </a:lnSpc>
            </a:pPr>
            <a:r>
              <a:rPr sz="1300" b="0">
                <a:solidFill>
                  <a:srgbClr val="334155"/>
                </a:solidFill>
                <a:latin typeface="Inter"/>
              </a:rPr>
              <a:t>Customer + admin portals · OpenSearch UI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07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ARCHITECTURE · ONE SLIDE</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Event-driven · multi-region by design</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86587" y="2194560"/>
            <a:ext cx="1417320" cy="1325880"/>
          </a:xfrm>
          <a:prstGeom prst="roundRect">
            <a:avLst>
              <a:gd name="adj" fmla="val 10000"/>
            </a:avLst>
          </a:prstGeom>
          <a:solidFill>
            <a:srgbClr val="FFFFFF"/>
          </a:solidFill>
          <a:ln w="1905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307" y="2377440"/>
            <a:ext cx="1325880" cy="640080"/>
          </a:xfrm>
          <a:prstGeom prst="rect">
            <a:avLst/>
          </a:prstGeom>
          <a:noFill/>
        </p:spPr>
        <p:txBody>
          <a:bodyPr wrap="square" lIns="0" rIns="0" tIns="0" bIns="0">
            <a:spAutoFit/>
          </a:bodyPr>
          <a:lstStyle/>
          <a:p>
            <a:pPr algn="ctr">
              <a:lnSpc>
                <a:spcPct val="120000"/>
              </a:lnSpc>
            </a:pPr>
            <a:r>
              <a:rPr sz="1100" b="1">
                <a:solidFill>
                  <a:srgbClr val="0F172A"/>
                </a:solidFill>
                <a:latin typeface="Inter"/>
              </a:rPr>
              <a:t>Customer
Portal</a:t>
            </a:r>
          </a:p>
        </p:txBody>
      </p:sp>
      <p:sp>
        <p:nvSpPr>
          <p:cNvPr id="13" name="TextBox 12"/>
          <p:cNvSpPr txBox="1"/>
          <p:nvPr/>
        </p:nvSpPr>
        <p:spPr>
          <a:xfrm>
            <a:off x="632307" y="3108960"/>
            <a:ext cx="1325880" cy="365760"/>
          </a:xfrm>
          <a:prstGeom prst="rect">
            <a:avLst/>
          </a:prstGeom>
          <a:noFill/>
        </p:spPr>
        <p:txBody>
          <a:bodyPr wrap="square" lIns="0" rIns="0" tIns="0" bIns="0">
            <a:spAutoFit/>
          </a:bodyPr>
          <a:lstStyle/>
          <a:p>
            <a:pPr algn="ctr">
              <a:lnSpc>
                <a:spcPct val="115000"/>
              </a:lnSpc>
            </a:pPr>
            <a:r>
              <a:rPr sz="1000" b="0">
                <a:solidFill>
                  <a:srgbClr val="64748B"/>
                </a:solidFill>
                <a:latin typeface="Inter"/>
              </a:rPr>
              <a:t>4201</a:t>
            </a:r>
          </a:p>
        </p:txBody>
      </p:sp>
      <p:sp>
        <p:nvSpPr>
          <p:cNvPr id="14" name="Right Arrow 13"/>
          <p:cNvSpPr/>
          <p:nvPr/>
        </p:nvSpPr>
        <p:spPr>
          <a:xfrm>
            <a:off x="2013051" y="2697480"/>
            <a:ext cx="164592" cy="274320"/>
          </a:xfrm>
          <a:prstGeom prst="rightArrow">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186787" y="2194560"/>
            <a:ext cx="1417320" cy="1325880"/>
          </a:xfrm>
          <a:prstGeom prst="roundRect">
            <a:avLst>
              <a:gd name="adj" fmla="val 10000"/>
            </a:avLst>
          </a:prstGeom>
          <a:solidFill>
            <a:srgbClr val="FFFFFF"/>
          </a:solidFill>
          <a:ln w="1905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32507" y="2377440"/>
            <a:ext cx="1325880" cy="640080"/>
          </a:xfrm>
          <a:prstGeom prst="rect">
            <a:avLst/>
          </a:prstGeom>
          <a:noFill/>
        </p:spPr>
        <p:txBody>
          <a:bodyPr wrap="square" lIns="0" rIns="0" tIns="0" bIns="0">
            <a:spAutoFit/>
          </a:bodyPr>
          <a:lstStyle/>
          <a:p>
            <a:pPr algn="ctr">
              <a:lnSpc>
                <a:spcPct val="120000"/>
              </a:lnSpc>
            </a:pPr>
            <a:r>
              <a:rPr sz="1100" b="1">
                <a:solidFill>
                  <a:srgbClr val="0F172A"/>
                </a:solidFill>
                <a:latin typeface="Inter"/>
              </a:rPr>
              <a:t>Trade
Service</a:t>
            </a:r>
          </a:p>
        </p:txBody>
      </p:sp>
      <p:sp>
        <p:nvSpPr>
          <p:cNvPr id="17" name="TextBox 16"/>
          <p:cNvSpPr txBox="1"/>
          <p:nvPr/>
        </p:nvSpPr>
        <p:spPr>
          <a:xfrm>
            <a:off x="2232507" y="3108960"/>
            <a:ext cx="1325880" cy="365760"/>
          </a:xfrm>
          <a:prstGeom prst="rect">
            <a:avLst/>
          </a:prstGeom>
          <a:noFill/>
        </p:spPr>
        <p:txBody>
          <a:bodyPr wrap="square" lIns="0" rIns="0" tIns="0" bIns="0">
            <a:spAutoFit/>
          </a:bodyPr>
          <a:lstStyle/>
          <a:p>
            <a:pPr algn="ctr">
              <a:lnSpc>
                <a:spcPct val="115000"/>
              </a:lnSpc>
            </a:pPr>
            <a:r>
              <a:rPr sz="1000" b="0">
                <a:solidFill>
                  <a:srgbClr val="64748B"/>
                </a:solidFill>
                <a:latin typeface="Inter"/>
              </a:rPr>
              <a:t>8080</a:t>
            </a:r>
          </a:p>
        </p:txBody>
      </p:sp>
      <p:sp>
        <p:nvSpPr>
          <p:cNvPr id="18" name="Right Arrow 17"/>
          <p:cNvSpPr/>
          <p:nvPr/>
        </p:nvSpPr>
        <p:spPr>
          <a:xfrm>
            <a:off x="3613251" y="2697480"/>
            <a:ext cx="164592" cy="274320"/>
          </a:xfrm>
          <a:prstGeom prst="rightArrow">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786987" y="2194560"/>
            <a:ext cx="1417320" cy="1325880"/>
          </a:xfrm>
          <a:prstGeom prst="roundRect">
            <a:avLst>
              <a:gd name="adj" fmla="val 10000"/>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32707" y="2377440"/>
            <a:ext cx="1325880" cy="640080"/>
          </a:xfrm>
          <a:prstGeom prst="rect">
            <a:avLst/>
          </a:prstGeom>
          <a:noFill/>
        </p:spPr>
        <p:txBody>
          <a:bodyPr wrap="square" lIns="0" rIns="0" tIns="0" bIns="0">
            <a:spAutoFit/>
          </a:bodyPr>
          <a:lstStyle/>
          <a:p>
            <a:pPr algn="ctr">
              <a:lnSpc>
                <a:spcPct val="120000"/>
              </a:lnSpc>
            </a:pPr>
            <a:r>
              <a:rPr sz="1100" b="1">
                <a:solidFill>
                  <a:srgbClr val="0F172A"/>
                </a:solidFill>
                <a:latin typeface="Inter"/>
              </a:rPr>
              <a:t>Kafka
trade-events</a:t>
            </a:r>
          </a:p>
        </p:txBody>
      </p:sp>
      <p:sp>
        <p:nvSpPr>
          <p:cNvPr id="21" name="TextBox 20"/>
          <p:cNvSpPr txBox="1"/>
          <p:nvPr/>
        </p:nvSpPr>
        <p:spPr>
          <a:xfrm>
            <a:off x="3832707" y="3108960"/>
            <a:ext cx="1325880" cy="365760"/>
          </a:xfrm>
          <a:prstGeom prst="rect">
            <a:avLst/>
          </a:prstGeom>
          <a:noFill/>
        </p:spPr>
        <p:txBody>
          <a:bodyPr wrap="square" lIns="0" rIns="0" tIns="0" bIns="0">
            <a:spAutoFit/>
          </a:bodyPr>
          <a:lstStyle/>
          <a:p>
            <a:pPr algn="ctr">
              <a:lnSpc>
                <a:spcPct val="115000"/>
              </a:lnSpc>
            </a:pPr>
            <a:r>
              <a:rPr sz="1000" b="0">
                <a:solidFill>
                  <a:srgbClr val="64748B"/>
                </a:solidFill>
                <a:latin typeface="Inter"/>
              </a:rPr>
              <a:t>Confluent</a:t>
            </a:r>
          </a:p>
        </p:txBody>
      </p:sp>
      <p:sp>
        <p:nvSpPr>
          <p:cNvPr id="22" name="Right Arrow 21"/>
          <p:cNvSpPr/>
          <p:nvPr/>
        </p:nvSpPr>
        <p:spPr>
          <a:xfrm>
            <a:off x="5213451" y="2697480"/>
            <a:ext cx="164592" cy="274320"/>
          </a:xfrm>
          <a:prstGeom prst="rightArrow">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387187" y="2194560"/>
            <a:ext cx="1417320" cy="1325880"/>
          </a:xfrm>
          <a:prstGeom prst="roundRect">
            <a:avLst>
              <a:gd name="adj" fmla="val 10000"/>
            </a:avLst>
          </a:prstGeom>
          <a:solidFill>
            <a:srgbClr val="FFFFFF"/>
          </a:solidFill>
          <a:ln w="1905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32907" y="2377440"/>
            <a:ext cx="1325880" cy="640080"/>
          </a:xfrm>
          <a:prstGeom prst="rect">
            <a:avLst/>
          </a:prstGeom>
          <a:noFill/>
        </p:spPr>
        <p:txBody>
          <a:bodyPr wrap="square" lIns="0" rIns="0" tIns="0" bIns="0">
            <a:spAutoFit/>
          </a:bodyPr>
          <a:lstStyle/>
          <a:p>
            <a:pPr algn="ctr">
              <a:lnSpc>
                <a:spcPct val="120000"/>
              </a:lnSpc>
            </a:pPr>
            <a:r>
              <a:rPr sz="1100" b="1">
                <a:solidFill>
                  <a:srgbClr val="0F172A"/>
                </a:solidFill>
                <a:latin typeface="Inter"/>
              </a:rPr>
              <a:t>Risk
Service</a:t>
            </a:r>
          </a:p>
        </p:txBody>
      </p:sp>
      <p:sp>
        <p:nvSpPr>
          <p:cNvPr id="25" name="TextBox 24"/>
          <p:cNvSpPr txBox="1"/>
          <p:nvPr/>
        </p:nvSpPr>
        <p:spPr>
          <a:xfrm>
            <a:off x="5432907" y="3108960"/>
            <a:ext cx="1325880" cy="365760"/>
          </a:xfrm>
          <a:prstGeom prst="rect">
            <a:avLst/>
          </a:prstGeom>
          <a:noFill/>
        </p:spPr>
        <p:txBody>
          <a:bodyPr wrap="square" lIns="0" rIns="0" tIns="0" bIns="0">
            <a:spAutoFit/>
          </a:bodyPr>
          <a:lstStyle/>
          <a:p>
            <a:pPr algn="ctr">
              <a:lnSpc>
                <a:spcPct val="115000"/>
              </a:lnSpc>
            </a:pPr>
            <a:r>
              <a:rPr sz="1000" b="0">
                <a:solidFill>
                  <a:srgbClr val="64748B"/>
                </a:solidFill>
                <a:latin typeface="Inter"/>
              </a:rPr>
              <a:t>8081</a:t>
            </a:r>
          </a:p>
        </p:txBody>
      </p:sp>
      <p:sp>
        <p:nvSpPr>
          <p:cNvPr id="26" name="Right Arrow 25"/>
          <p:cNvSpPr/>
          <p:nvPr/>
        </p:nvSpPr>
        <p:spPr>
          <a:xfrm>
            <a:off x="6813651" y="2697480"/>
            <a:ext cx="164592" cy="274320"/>
          </a:xfrm>
          <a:prstGeom prst="rightArrow">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987387" y="2194560"/>
            <a:ext cx="1417320" cy="1325880"/>
          </a:xfrm>
          <a:prstGeom prst="roundRect">
            <a:avLst>
              <a:gd name="adj" fmla="val 10000"/>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33107" y="2377440"/>
            <a:ext cx="1325880" cy="640080"/>
          </a:xfrm>
          <a:prstGeom prst="rect">
            <a:avLst/>
          </a:prstGeom>
          <a:noFill/>
        </p:spPr>
        <p:txBody>
          <a:bodyPr wrap="square" lIns="0" rIns="0" tIns="0" bIns="0">
            <a:spAutoFit/>
          </a:bodyPr>
          <a:lstStyle/>
          <a:p>
            <a:pPr algn="ctr">
              <a:lnSpc>
                <a:spcPct val="120000"/>
              </a:lnSpc>
            </a:pPr>
            <a:r>
              <a:rPr sz="1100" b="1">
                <a:solidFill>
                  <a:srgbClr val="0F172A"/>
                </a:solidFill>
                <a:latin typeface="Inter"/>
              </a:rPr>
              <a:t>Kafka
enriched</a:t>
            </a:r>
          </a:p>
        </p:txBody>
      </p:sp>
      <p:sp>
        <p:nvSpPr>
          <p:cNvPr id="29" name="TextBox 28"/>
          <p:cNvSpPr txBox="1"/>
          <p:nvPr/>
        </p:nvSpPr>
        <p:spPr>
          <a:xfrm>
            <a:off x="7033107" y="3108960"/>
            <a:ext cx="1325880" cy="365760"/>
          </a:xfrm>
          <a:prstGeom prst="rect">
            <a:avLst/>
          </a:prstGeom>
          <a:noFill/>
        </p:spPr>
        <p:txBody>
          <a:bodyPr wrap="square" lIns="0" rIns="0" tIns="0" bIns="0">
            <a:spAutoFit/>
          </a:bodyPr>
          <a:lstStyle/>
          <a:p>
            <a:pPr algn="ctr">
              <a:lnSpc>
                <a:spcPct val="115000"/>
              </a:lnSpc>
            </a:pPr>
            <a:r>
              <a:rPr sz="1000" b="0">
                <a:solidFill>
                  <a:srgbClr val="64748B"/>
                </a:solidFill>
                <a:latin typeface="Inter"/>
              </a:rPr>
              <a:t/>
            </a:r>
          </a:p>
        </p:txBody>
      </p:sp>
      <p:sp>
        <p:nvSpPr>
          <p:cNvPr id="30" name="Right Arrow 29"/>
          <p:cNvSpPr/>
          <p:nvPr/>
        </p:nvSpPr>
        <p:spPr>
          <a:xfrm>
            <a:off x="8413851" y="2697480"/>
            <a:ext cx="164592" cy="274320"/>
          </a:xfrm>
          <a:prstGeom prst="rightArrow">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587587" y="2194560"/>
            <a:ext cx="1417320" cy="1325880"/>
          </a:xfrm>
          <a:prstGeom prst="roundRect">
            <a:avLst>
              <a:gd name="adj" fmla="val 10000"/>
            </a:avLst>
          </a:prstGeom>
          <a:solidFill>
            <a:srgbClr val="FFFFFF"/>
          </a:solidFill>
          <a:ln w="1905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33307" y="2377440"/>
            <a:ext cx="1325880" cy="640080"/>
          </a:xfrm>
          <a:prstGeom prst="rect">
            <a:avLst/>
          </a:prstGeom>
          <a:noFill/>
        </p:spPr>
        <p:txBody>
          <a:bodyPr wrap="square" lIns="0" rIns="0" tIns="0" bIns="0">
            <a:spAutoFit/>
          </a:bodyPr>
          <a:lstStyle/>
          <a:p>
            <a:pPr algn="ctr">
              <a:lnSpc>
                <a:spcPct val="120000"/>
              </a:lnSpc>
            </a:pPr>
            <a:r>
              <a:rPr sz="1100" b="1">
                <a:solidFill>
                  <a:srgbClr val="0F172A"/>
                </a:solidFill>
                <a:latin typeface="Inter"/>
              </a:rPr>
              <a:t>Indexer</a:t>
            </a:r>
          </a:p>
        </p:txBody>
      </p:sp>
      <p:sp>
        <p:nvSpPr>
          <p:cNvPr id="33" name="TextBox 32"/>
          <p:cNvSpPr txBox="1"/>
          <p:nvPr/>
        </p:nvSpPr>
        <p:spPr>
          <a:xfrm>
            <a:off x="8633307" y="3108960"/>
            <a:ext cx="1325880" cy="365760"/>
          </a:xfrm>
          <a:prstGeom prst="rect">
            <a:avLst/>
          </a:prstGeom>
          <a:noFill/>
        </p:spPr>
        <p:txBody>
          <a:bodyPr wrap="square" lIns="0" rIns="0" tIns="0" bIns="0">
            <a:spAutoFit/>
          </a:bodyPr>
          <a:lstStyle/>
          <a:p>
            <a:pPr algn="ctr">
              <a:lnSpc>
                <a:spcPct val="115000"/>
              </a:lnSpc>
            </a:pPr>
            <a:r>
              <a:rPr sz="1000" b="0">
                <a:solidFill>
                  <a:srgbClr val="64748B"/>
                </a:solidFill>
                <a:latin typeface="Inter"/>
              </a:rPr>
              <a:t>8082</a:t>
            </a:r>
          </a:p>
        </p:txBody>
      </p:sp>
      <p:sp>
        <p:nvSpPr>
          <p:cNvPr id="34" name="Right Arrow 33"/>
          <p:cNvSpPr/>
          <p:nvPr/>
        </p:nvSpPr>
        <p:spPr>
          <a:xfrm>
            <a:off x="10014051" y="2697480"/>
            <a:ext cx="164592" cy="274320"/>
          </a:xfrm>
          <a:prstGeom prst="rightArrow">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87787" y="2194560"/>
            <a:ext cx="1417320" cy="1325880"/>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33507" y="2377440"/>
            <a:ext cx="1325880" cy="640080"/>
          </a:xfrm>
          <a:prstGeom prst="rect">
            <a:avLst/>
          </a:prstGeom>
          <a:noFill/>
        </p:spPr>
        <p:txBody>
          <a:bodyPr wrap="square" lIns="0" rIns="0" tIns="0" bIns="0">
            <a:spAutoFit/>
          </a:bodyPr>
          <a:lstStyle/>
          <a:p>
            <a:pPr algn="ctr">
              <a:lnSpc>
                <a:spcPct val="120000"/>
              </a:lnSpc>
            </a:pPr>
            <a:r>
              <a:rPr sz="1100" b="1">
                <a:solidFill>
                  <a:srgbClr val="0F172A"/>
                </a:solidFill>
                <a:latin typeface="Inter"/>
              </a:rPr>
              <a:t>OpenSearch
fx-trades-{region}</a:t>
            </a:r>
          </a:p>
        </p:txBody>
      </p:sp>
      <p:sp>
        <p:nvSpPr>
          <p:cNvPr id="37" name="TextBox 36"/>
          <p:cNvSpPr txBox="1"/>
          <p:nvPr/>
        </p:nvSpPr>
        <p:spPr>
          <a:xfrm>
            <a:off x="10233507" y="3108960"/>
            <a:ext cx="1325880" cy="365760"/>
          </a:xfrm>
          <a:prstGeom prst="rect">
            <a:avLst/>
          </a:prstGeom>
          <a:noFill/>
        </p:spPr>
        <p:txBody>
          <a:bodyPr wrap="square" lIns="0" rIns="0" tIns="0" bIns="0">
            <a:spAutoFit/>
          </a:bodyPr>
          <a:lstStyle/>
          <a:p>
            <a:pPr algn="ctr">
              <a:lnSpc>
                <a:spcPct val="115000"/>
              </a:lnSpc>
            </a:pPr>
            <a:r>
              <a:rPr sz="1000" b="0">
                <a:solidFill>
                  <a:srgbClr val="64748B"/>
                </a:solidFill>
                <a:latin typeface="Inter"/>
              </a:rPr>
              <a:t>Per-region</a:t>
            </a:r>
          </a:p>
        </p:txBody>
      </p:sp>
      <p:sp>
        <p:nvSpPr>
          <p:cNvPr id="38" name="Rounded Rectangle 37"/>
          <p:cNvSpPr/>
          <p:nvPr/>
        </p:nvSpPr>
        <p:spPr>
          <a:xfrm>
            <a:off x="640080" y="3840480"/>
            <a:ext cx="3657600" cy="777240"/>
          </a:xfrm>
          <a:prstGeom prst="roundRect">
            <a:avLst>
              <a:gd name="adj" fmla="val 1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8680" y="3931920"/>
            <a:ext cx="3291840" cy="320040"/>
          </a:xfrm>
          <a:prstGeom prst="rect">
            <a:avLst/>
          </a:prstGeom>
          <a:noFill/>
        </p:spPr>
        <p:txBody>
          <a:bodyPr wrap="square" lIns="0" rIns="0" tIns="0" bIns="0">
            <a:spAutoFit/>
          </a:bodyPr>
          <a:lstStyle/>
          <a:p>
            <a:pPr algn="l">
              <a:lnSpc>
                <a:spcPct val="115000"/>
              </a:lnSpc>
            </a:pPr>
            <a:r>
              <a:rPr sz="1000" b="1">
                <a:solidFill>
                  <a:srgbClr val="0F2A5C"/>
                </a:solidFill>
                <a:latin typeface="Inter"/>
              </a:rPr>
              <a:t>MASTER DATA · 8083</a:t>
            </a:r>
          </a:p>
        </p:txBody>
      </p:sp>
      <p:sp>
        <p:nvSpPr>
          <p:cNvPr id="40" name="TextBox 39"/>
          <p:cNvSpPr txBox="1"/>
          <p:nvPr/>
        </p:nvSpPr>
        <p:spPr>
          <a:xfrm>
            <a:off x="868680" y="4160520"/>
            <a:ext cx="3291840" cy="411480"/>
          </a:xfrm>
          <a:prstGeom prst="rect">
            <a:avLst/>
          </a:prstGeom>
          <a:noFill/>
        </p:spPr>
        <p:txBody>
          <a:bodyPr wrap="square" lIns="0" rIns="0" tIns="0" bIns="0">
            <a:spAutoFit/>
          </a:bodyPr>
          <a:lstStyle/>
          <a:p>
            <a:pPr algn="l">
              <a:lnSpc>
                <a:spcPct val="115000"/>
              </a:lnSpc>
            </a:pPr>
            <a:r>
              <a:rPr sz="1100" b="0">
                <a:solidFill>
                  <a:srgbClr val="0F2A5C"/>
                </a:solidFill>
                <a:latin typeface="Inter"/>
              </a:rPr>
              <a:t>Postgres + Liquibase · pair allow-list</a:t>
            </a:r>
          </a:p>
        </p:txBody>
      </p:sp>
      <p:sp>
        <p:nvSpPr>
          <p:cNvPr id="41" name="Rounded Rectangle 40"/>
          <p:cNvSpPr/>
          <p:nvPr/>
        </p:nvSpPr>
        <p:spPr>
          <a:xfrm>
            <a:off x="4434840" y="3840480"/>
            <a:ext cx="3657600" cy="777240"/>
          </a:xfrm>
          <a:prstGeom prst="roundRect">
            <a:avLst>
              <a:gd name="adj" fmla="val 1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63440" y="3931920"/>
            <a:ext cx="3291840" cy="320040"/>
          </a:xfrm>
          <a:prstGeom prst="rect">
            <a:avLst/>
          </a:prstGeom>
          <a:noFill/>
        </p:spPr>
        <p:txBody>
          <a:bodyPr wrap="square" lIns="0" rIns="0" tIns="0" bIns="0">
            <a:spAutoFit/>
          </a:bodyPr>
          <a:lstStyle/>
          <a:p>
            <a:pPr algn="l">
              <a:lnSpc>
                <a:spcPct val="115000"/>
              </a:lnSpc>
            </a:pPr>
            <a:r>
              <a:rPr sz="1000" b="1">
                <a:solidFill>
                  <a:srgbClr val="0F2A5C"/>
                </a:solidFill>
                <a:latin typeface="Inter"/>
              </a:rPr>
              <a:t>ADMIN PORTAL · 4200</a:t>
            </a:r>
          </a:p>
        </p:txBody>
      </p:sp>
      <p:sp>
        <p:nvSpPr>
          <p:cNvPr id="43" name="TextBox 42"/>
          <p:cNvSpPr txBox="1"/>
          <p:nvPr/>
        </p:nvSpPr>
        <p:spPr>
          <a:xfrm>
            <a:off x="4663440" y="4160520"/>
            <a:ext cx="3291840" cy="411480"/>
          </a:xfrm>
          <a:prstGeom prst="rect">
            <a:avLst/>
          </a:prstGeom>
          <a:noFill/>
        </p:spPr>
        <p:txBody>
          <a:bodyPr wrap="square" lIns="0" rIns="0" tIns="0" bIns="0">
            <a:spAutoFit/>
          </a:bodyPr>
          <a:lstStyle/>
          <a:p>
            <a:pPr algn="l">
              <a:lnSpc>
                <a:spcPct val="115000"/>
              </a:lnSpc>
            </a:pPr>
            <a:r>
              <a:rPr sz="1100" b="0">
                <a:solidFill>
                  <a:srgbClr val="0F2A5C"/>
                </a:solidFill>
                <a:latin typeface="Inter"/>
              </a:rPr>
              <a:t>Currencies · pairs · trade books</a:t>
            </a:r>
          </a:p>
        </p:txBody>
      </p:sp>
      <p:sp>
        <p:nvSpPr>
          <p:cNvPr id="44" name="Rounded Rectangle 43"/>
          <p:cNvSpPr/>
          <p:nvPr/>
        </p:nvSpPr>
        <p:spPr>
          <a:xfrm>
            <a:off x="8229600" y="3840480"/>
            <a:ext cx="3383280" cy="777240"/>
          </a:xfrm>
          <a:prstGeom prst="roundRect">
            <a:avLst>
              <a:gd name="adj" fmla="val 10000"/>
            </a:avLst>
          </a:prstGeom>
          <a:solidFill>
            <a:srgbClr val="232F3E"/>
          </a:solidFill>
          <a:ln w="1270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58200" y="3931920"/>
            <a:ext cx="3017520" cy="320040"/>
          </a:xfrm>
          <a:prstGeom prst="rect">
            <a:avLst/>
          </a:prstGeom>
          <a:noFill/>
        </p:spPr>
        <p:txBody>
          <a:bodyPr wrap="square" lIns="0" rIns="0" tIns="0" bIns="0">
            <a:spAutoFit/>
          </a:bodyPr>
          <a:lstStyle/>
          <a:p>
            <a:pPr algn="l">
              <a:lnSpc>
                <a:spcPct val="115000"/>
              </a:lnSpc>
            </a:pPr>
            <a:r>
              <a:rPr sz="1000" b="1">
                <a:solidFill>
                  <a:srgbClr val="FF9900"/>
                </a:solidFill>
                <a:latin typeface="Inter"/>
              </a:rPr>
              <a:t>OPENSEARCH UI · NEW</a:t>
            </a:r>
          </a:p>
        </p:txBody>
      </p:sp>
      <p:sp>
        <p:nvSpPr>
          <p:cNvPr id="46" name="TextBox 45"/>
          <p:cNvSpPr txBox="1"/>
          <p:nvPr/>
        </p:nvSpPr>
        <p:spPr>
          <a:xfrm>
            <a:off x="8458200" y="4160520"/>
            <a:ext cx="3017520" cy="411480"/>
          </a:xfrm>
          <a:prstGeom prst="rect">
            <a:avLst/>
          </a:prstGeom>
          <a:noFill/>
        </p:spPr>
        <p:txBody>
          <a:bodyPr wrap="square" lIns="0" rIns="0" tIns="0" bIns="0">
            <a:spAutoFit/>
          </a:bodyPr>
          <a:lstStyle/>
          <a:p>
            <a:pPr algn="l">
              <a:lnSpc>
                <a:spcPct val="115000"/>
              </a:lnSpc>
            </a:pPr>
            <a:r>
              <a:rPr sz="1100" b="0">
                <a:solidFill>
                  <a:srgbClr val="FFFFFF"/>
                </a:solidFill>
                <a:latin typeface="Inter"/>
              </a:rPr>
              <a:t>Cross-region · cross-account</a:t>
            </a:r>
          </a:p>
        </p:txBody>
      </p:sp>
      <p:sp>
        <p:nvSpPr>
          <p:cNvPr id="47" name="TextBox 46"/>
          <p:cNvSpPr txBox="1"/>
          <p:nvPr/>
        </p:nvSpPr>
        <p:spPr>
          <a:xfrm>
            <a:off x="548640" y="4937760"/>
            <a:ext cx="11064240" cy="365760"/>
          </a:xfrm>
          <a:prstGeom prst="rect">
            <a:avLst/>
          </a:prstGeom>
          <a:noFill/>
        </p:spPr>
        <p:txBody>
          <a:bodyPr wrap="square" lIns="0" rIns="0" tIns="0" bIns="0">
            <a:spAutoFit/>
          </a:bodyPr>
          <a:lstStyle/>
          <a:p>
            <a:pPr algn="l">
              <a:lnSpc>
                <a:spcPct val="115000"/>
              </a:lnSpc>
            </a:pPr>
            <a:r>
              <a:rPr sz="1000" b="1">
                <a:solidFill>
                  <a:srgbClr val="64748B"/>
                </a:solidFill>
                <a:latin typeface="Inter"/>
              </a:rPr>
              <a:t>EVERY DEPLOYMENT REPLICATES THIS STACK PER REGION:</a:t>
            </a:r>
          </a:p>
        </p:txBody>
      </p:sp>
      <p:sp>
        <p:nvSpPr>
          <p:cNvPr id="48" name="Rounded Rectangle 47"/>
          <p:cNvSpPr/>
          <p:nvPr/>
        </p:nvSpPr>
        <p:spPr>
          <a:xfrm>
            <a:off x="548640" y="5349240"/>
            <a:ext cx="3611880" cy="640080"/>
          </a:xfrm>
          <a:prstGeom prst="roundRect">
            <a:avLst>
              <a:gd name="adj" fmla="val 1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 y="5486400"/>
            <a:ext cx="3611880" cy="365760"/>
          </a:xfrm>
          <a:prstGeom prst="rect">
            <a:avLst/>
          </a:prstGeom>
          <a:noFill/>
        </p:spPr>
        <p:txBody>
          <a:bodyPr wrap="square" lIns="0" rIns="0" tIns="0" bIns="0">
            <a:spAutoFit/>
          </a:bodyPr>
          <a:lstStyle/>
          <a:p>
            <a:pPr algn="ctr">
              <a:lnSpc>
                <a:spcPct val="115000"/>
              </a:lnSpc>
            </a:pPr>
            <a:r>
              <a:rPr sz="1400" b="1">
                <a:solidFill>
                  <a:srgbClr val="0F2A5C"/>
                </a:solidFill>
                <a:latin typeface="Menlo"/>
              </a:rPr>
              <a:t>us-east-1</a:t>
            </a:r>
          </a:p>
        </p:txBody>
      </p:sp>
      <p:sp>
        <p:nvSpPr>
          <p:cNvPr id="50" name="Rounded Rectangle 49"/>
          <p:cNvSpPr/>
          <p:nvPr/>
        </p:nvSpPr>
        <p:spPr>
          <a:xfrm>
            <a:off x="4251960" y="5349240"/>
            <a:ext cx="3611880" cy="640080"/>
          </a:xfrm>
          <a:prstGeom prst="roundRect">
            <a:avLst>
              <a:gd name="adj" fmla="val 1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251960" y="5486400"/>
            <a:ext cx="3611880" cy="365760"/>
          </a:xfrm>
          <a:prstGeom prst="rect">
            <a:avLst/>
          </a:prstGeom>
          <a:noFill/>
        </p:spPr>
        <p:txBody>
          <a:bodyPr wrap="square" lIns="0" rIns="0" tIns="0" bIns="0">
            <a:spAutoFit/>
          </a:bodyPr>
          <a:lstStyle/>
          <a:p>
            <a:pPr algn="ctr">
              <a:lnSpc>
                <a:spcPct val="115000"/>
              </a:lnSpc>
            </a:pPr>
            <a:r>
              <a:rPr sz="1400" b="1">
                <a:solidFill>
                  <a:srgbClr val="0F2A5C"/>
                </a:solidFill>
                <a:latin typeface="Menlo"/>
              </a:rPr>
              <a:t>eu-west-1</a:t>
            </a:r>
          </a:p>
        </p:txBody>
      </p:sp>
      <p:sp>
        <p:nvSpPr>
          <p:cNvPr id="52" name="Rounded Rectangle 51"/>
          <p:cNvSpPr/>
          <p:nvPr/>
        </p:nvSpPr>
        <p:spPr>
          <a:xfrm>
            <a:off x="7955280" y="5349240"/>
            <a:ext cx="3611880" cy="640080"/>
          </a:xfrm>
          <a:prstGeom prst="roundRect">
            <a:avLst>
              <a:gd name="adj" fmla="val 1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955280" y="5486400"/>
            <a:ext cx="3611880" cy="365760"/>
          </a:xfrm>
          <a:prstGeom prst="rect">
            <a:avLst/>
          </a:prstGeom>
          <a:noFill/>
        </p:spPr>
        <p:txBody>
          <a:bodyPr wrap="square" lIns="0" rIns="0" tIns="0" bIns="0">
            <a:spAutoFit/>
          </a:bodyPr>
          <a:lstStyle/>
          <a:p>
            <a:pPr algn="ctr">
              <a:lnSpc>
                <a:spcPct val="115000"/>
              </a:lnSpc>
            </a:pPr>
            <a:r>
              <a:rPr sz="1400" b="1">
                <a:solidFill>
                  <a:srgbClr val="0F2A5C"/>
                </a:solidFill>
                <a:latin typeface="Menlo"/>
              </a:rPr>
              <a:t>ap-south-1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08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THE DESIGN CHOICE THAT PAYS OFF</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Region-partitioned indices</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11064240" cy="1280160"/>
          </a:xfrm>
          <a:prstGeom prst="roundRect">
            <a:avLst>
              <a:gd name="adj" fmla="val 1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194560"/>
            <a:ext cx="10515600" cy="365760"/>
          </a:xfrm>
          <a:prstGeom prst="rect">
            <a:avLst/>
          </a:prstGeom>
          <a:noFill/>
        </p:spPr>
        <p:txBody>
          <a:bodyPr wrap="square" lIns="0" rIns="0" tIns="0" bIns="0">
            <a:spAutoFit/>
          </a:bodyPr>
          <a:lstStyle/>
          <a:p>
            <a:pPr algn="l">
              <a:lnSpc>
                <a:spcPct val="115000"/>
              </a:lnSpc>
            </a:pPr>
            <a:r>
              <a:rPr sz="1100" b="1">
                <a:solidFill>
                  <a:srgbClr val="0F2A5C"/>
                </a:solidFill>
                <a:latin typeface="Inter"/>
              </a:rPr>
              <a:t>INDEX NAMING CONVENTION</a:t>
            </a:r>
          </a:p>
        </p:txBody>
      </p:sp>
      <p:sp>
        <p:nvSpPr>
          <p:cNvPr id="13" name="TextBox 12"/>
          <p:cNvSpPr txBox="1"/>
          <p:nvPr/>
        </p:nvSpPr>
        <p:spPr>
          <a:xfrm>
            <a:off x="868680" y="2514600"/>
            <a:ext cx="10515600" cy="640080"/>
          </a:xfrm>
          <a:prstGeom prst="rect">
            <a:avLst/>
          </a:prstGeom>
          <a:noFill/>
        </p:spPr>
        <p:txBody>
          <a:bodyPr wrap="square" lIns="0" rIns="0" tIns="0" bIns="0">
            <a:spAutoFit/>
          </a:bodyPr>
          <a:lstStyle/>
          <a:p>
            <a:pPr algn="l">
              <a:lnSpc>
                <a:spcPct val="115000"/>
              </a:lnSpc>
            </a:pPr>
            <a:r>
              <a:rPr sz="2800" b="1">
                <a:solidFill>
                  <a:srgbClr val="0F2A5C"/>
                </a:solidFill>
                <a:latin typeface="Menlo"/>
              </a:rPr>
              <a:t>fx-trades-{region}</a:t>
            </a:r>
          </a:p>
        </p:txBody>
      </p:sp>
      <p:sp>
        <p:nvSpPr>
          <p:cNvPr id="14" name="Rounded Rectangle 13"/>
          <p:cNvSpPr/>
          <p:nvPr/>
        </p:nvSpPr>
        <p:spPr>
          <a:xfrm>
            <a:off x="548640" y="3611880"/>
            <a:ext cx="3611880" cy="12801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611880"/>
            <a:ext cx="3611880"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886200"/>
            <a:ext cx="3291840" cy="457200"/>
          </a:xfrm>
          <a:prstGeom prst="rect">
            <a:avLst/>
          </a:prstGeom>
          <a:noFill/>
        </p:spPr>
        <p:txBody>
          <a:bodyPr wrap="square" lIns="0" rIns="0" tIns="0" bIns="0">
            <a:spAutoFit/>
          </a:bodyPr>
          <a:lstStyle/>
          <a:p>
            <a:pPr algn="l">
              <a:lnSpc>
                <a:spcPct val="115000"/>
              </a:lnSpc>
            </a:pPr>
            <a:r>
              <a:rPr sz="1500" b="1">
                <a:solidFill>
                  <a:srgbClr val="0F172A"/>
                </a:solidFill>
                <a:latin typeface="Menlo"/>
              </a:rPr>
              <a:t>fx-trades-us-east-1</a:t>
            </a:r>
          </a:p>
        </p:txBody>
      </p:sp>
      <p:sp>
        <p:nvSpPr>
          <p:cNvPr id="17" name="TextBox 16"/>
          <p:cNvSpPr txBox="1"/>
          <p:nvPr/>
        </p:nvSpPr>
        <p:spPr>
          <a:xfrm>
            <a:off x="731520" y="4389120"/>
            <a:ext cx="3291840" cy="365760"/>
          </a:xfrm>
          <a:prstGeom prst="rect">
            <a:avLst/>
          </a:prstGeom>
          <a:noFill/>
        </p:spPr>
        <p:txBody>
          <a:bodyPr wrap="square" lIns="0" rIns="0" tIns="0" bIns="0">
            <a:spAutoFit/>
          </a:bodyPr>
          <a:lstStyle/>
          <a:p>
            <a:pPr algn="l">
              <a:lnSpc>
                <a:spcPct val="115000"/>
              </a:lnSpc>
            </a:pPr>
            <a:r>
              <a:rPr sz="1300" b="0">
                <a:solidFill>
                  <a:srgbClr val="64748B"/>
                </a:solidFill>
                <a:latin typeface="Inter"/>
              </a:rPr>
              <a:t>NYC trades</a:t>
            </a:r>
          </a:p>
        </p:txBody>
      </p:sp>
      <p:sp>
        <p:nvSpPr>
          <p:cNvPr id="18" name="Rounded Rectangle 17"/>
          <p:cNvSpPr/>
          <p:nvPr/>
        </p:nvSpPr>
        <p:spPr>
          <a:xfrm>
            <a:off x="4251960" y="3611880"/>
            <a:ext cx="3611880" cy="12801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51960" y="3611880"/>
            <a:ext cx="3611880" cy="9144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3886200"/>
            <a:ext cx="3291840" cy="457200"/>
          </a:xfrm>
          <a:prstGeom prst="rect">
            <a:avLst/>
          </a:prstGeom>
          <a:noFill/>
        </p:spPr>
        <p:txBody>
          <a:bodyPr wrap="square" lIns="0" rIns="0" tIns="0" bIns="0">
            <a:spAutoFit/>
          </a:bodyPr>
          <a:lstStyle/>
          <a:p>
            <a:pPr algn="l">
              <a:lnSpc>
                <a:spcPct val="115000"/>
              </a:lnSpc>
            </a:pPr>
            <a:r>
              <a:rPr sz="1500" b="1">
                <a:solidFill>
                  <a:srgbClr val="0F172A"/>
                </a:solidFill>
                <a:latin typeface="Menlo"/>
              </a:rPr>
              <a:t>fx-trades-eu-west-1</a:t>
            </a:r>
          </a:p>
        </p:txBody>
      </p:sp>
      <p:sp>
        <p:nvSpPr>
          <p:cNvPr id="21" name="TextBox 20"/>
          <p:cNvSpPr txBox="1"/>
          <p:nvPr/>
        </p:nvSpPr>
        <p:spPr>
          <a:xfrm>
            <a:off x="4434840" y="4389120"/>
            <a:ext cx="3291840" cy="365760"/>
          </a:xfrm>
          <a:prstGeom prst="rect">
            <a:avLst/>
          </a:prstGeom>
          <a:noFill/>
        </p:spPr>
        <p:txBody>
          <a:bodyPr wrap="square" lIns="0" rIns="0" tIns="0" bIns="0">
            <a:spAutoFit/>
          </a:bodyPr>
          <a:lstStyle/>
          <a:p>
            <a:pPr algn="l">
              <a:lnSpc>
                <a:spcPct val="115000"/>
              </a:lnSpc>
            </a:pPr>
            <a:r>
              <a:rPr sz="1300" b="0">
                <a:solidFill>
                  <a:srgbClr val="64748B"/>
                </a:solidFill>
                <a:latin typeface="Inter"/>
              </a:rPr>
              <a:t>EU trades</a:t>
            </a:r>
          </a:p>
        </p:txBody>
      </p:sp>
      <p:sp>
        <p:nvSpPr>
          <p:cNvPr id="22" name="Rounded Rectangle 21"/>
          <p:cNvSpPr/>
          <p:nvPr/>
        </p:nvSpPr>
        <p:spPr>
          <a:xfrm>
            <a:off x="7955280" y="3611880"/>
            <a:ext cx="3611880" cy="12801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55280" y="3611880"/>
            <a:ext cx="36118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0" y="3886200"/>
            <a:ext cx="3291840" cy="457200"/>
          </a:xfrm>
          <a:prstGeom prst="rect">
            <a:avLst/>
          </a:prstGeom>
          <a:noFill/>
        </p:spPr>
        <p:txBody>
          <a:bodyPr wrap="square" lIns="0" rIns="0" tIns="0" bIns="0">
            <a:spAutoFit/>
          </a:bodyPr>
          <a:lstStyle/>
          <a:p>
            <a:pPr algn="l">
              <a:lnSpc>
                <a:spcPct val="115000"/>
              </a:lnSpc>
            </a:pPr>
            <a:r>
              <a:rPr sz="1500" b="1">
                <a:solidFill>
                  <a:srgbClr val="0F172A"/>
                </a:solidFill>
                <a:latin typeface="Menlo"/>
              </a:rPr>
              <a:t>fx-trades-ap-south-1</a:t>
            </a:r>
          </a:p>
        </p:txBody>
      </p:sp>
      <p:sp>
        <p:nvSpPr>
          <p:cNvPr id="25" name="TextBox 24"/>
          <p:cNvSpPr txBox="1"/>
          <p:nvPr/>
        </p:nvSpPr>
        <p:spPr>
          <a:xfrm>
            <a:off x="8138160" y="4389120"/>
            <a:ext cx="3291840" cy="365760"/>
          </a:xfrm>
          <a:prstGeom prst="rect">
            <a:avLst/>
          </a:prstGeom>
          <a:noFill/>
        </p:spPr>
        <p:txBody>
          <a:bodyPr wrap="square" lIns="0" rIns="0" tIns="0" bIns="0">
            <a:spAutoFit/>
          </a:bodyPr>
          <a:lstStyle/>
          <a:p>
            <a:pPr algn="l">
              <a:lnSpc>
                <a:spcPct val="115000"/>
              </a:lnSpc>
            </a:pPr>
            <a:r>
              <a:rPr sz="1300" b="0">
                <a:solidFill>
                  <a:srgbClr val="64748B"/>
                </a:solidFill>
                <a:latin typeface="Inter"/>
              </a:rPr>
              <a:t>APAC trades</a:t>
            </a:r>
          </a:p>
        </p:txBody>
      </p:sp>
      <p:sp>
        <p:nvSpPr>
          <p:cNvPr id="26" name="Rounded Rectangle 25"/>
          <p:cNvSpPr/>
          <p:nvPr/>
        </p:nvSpPr>
        <p:spPr>
          <a:xfrm>
            <a:off x="548640" y="5212080"/>
            <a:ext cx="11064240" cy="914400"/>
          </a:xfrm>
          <a:prstGeom prst="roundRect">
            <a:avLst>
              <a:gd name="adj" fmla="val 10000"/>
            </a:avLst>
          </a:prstGeom>
          <a:solidFill>
            <a:srgbClr val="232F3E"/>
          </a:solidFill>
          <a:ln w="1270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349240"/>
            <a:ext cx="105156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WHY THIS MATTERS NOW</a:t>
            </a:r>
          </a:p>
        </p:txBody>
      </p:sp>
      <p:sp>
        <p:nvSpPr>
          <p:cNvPr id="28" name="TextBox 27"/>
          <p:cNvSpPr txBox="1"/>
          <p:nvPr/>
        </p:nvSpPr>
        <p:spPr>
          <a:xfrm>
            <a:off x="868680" y="5623560"/>
            <a:ext cx="10515600" cy="777240"/>
          </a:xfrm>
          <a:prstGeom prst="rect">
            <a:avLst/>
          </a:prstGeom>
          <a:noFill/>
        </p:spPr>
        <p:txBody>
          <a:bodyPr wrap="square" lIns="0" rIns="0" tIns="0" bIns="0">
            <a:spAutoFit/>
          </a:bodyPr>
          <a:lstStyle/>
          <a:p>
            <a:pPr algn="l">
              <a:lnSpc>
                <a:spcPct val="140000"/>
              </a:lnSpc>
            </a:pPr>
            <a:r>
              <a:rPr sz="1400" b="0">
                <a:solidFill>
                  <a:srgbClr val="FFFFFF"/>
                </a:solidFill>
                <a:latin typeface="Inter"/>
              </a:rPr>
              <a:t>OpenSearch UI’s federated query routes by index pattern. fx-trades-* across regions just works.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09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LESSONS</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We did this before AWS shipped the feature</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011680"/>
            <a:ext cx="11064240" cy="548640"/>
          </a:xfrm>
          <a:prstGeom prst="rect">
            <a:avLst/>
          </a:prstGeom>
          <a:noFill/>
        </p:spPr>
        <p:txBody>
          <a:bodyPr wrap="square" lIns="0" rIns="0" tIns="0" bIns="0">
            <a:spAutoFit/>
          </a:bodyPr>
          <a:lstStyle/>
          <a:p>
            <a:pPr algn="l">
              <a:lnSpc>
                <a:spcPct val="140000"/>
              </a:lnSpc>
            </a:pPr>
            <a:r>
              <a:rPr sz="1600" b="0">
                <a:solidFill>
                  <a:srgbClr val="334155"/>
                </a:solidFill>
                <a:latin typeface="Inter"/>
              </a:rPr>
              <a:t>Region-partitioning isn’t about anticipating AWS roadmaps — it’s a structural choice.</a:t>
            </a:r>
          </a:p>
        </p:txBody>
      </p:sp>
      <p:sp>
        <p:nvSpPr>
          <p:cNvPr id="12" name="TextBox 11"/>
          <p:cNvSpPr txBox="1"/>
          <p:nvPr/>
        </p:nvSpPr>
        <p:spPr>
          <a:xfrm>
            <a:off x="548640" y="2834640"/>
            <a:ext cx="10972800" cy="3200400"/>
          </a:xfrm>
          <a:prstGeom prst="rect">
            <a:avLst/>
          </a:prstGeom>
          <a:noFill/>
        </p:spPr>
        <p:txBody>
          <a:bodyPr wrap="square" lIns="0" rIns="0" tIns="0" bIns="0">
            <a:spAutoFit/>
          </a:bodyPr>
          <a:lstStyle/>
          <a:p>
            <a:pPr>
              <a:lnSpc>
                <a:spcPct val="140000"/>
              </a:lnSpc>
              <a:spcAft>
                <a:spcPts val="1400"/>
              </a:spcAft>
            </a:pPr>
            <a:r>
              <a:rPr sz="1800">
                <a:solidFill>
                  <a:srgbClr val="06B6D4"/>
                </a:solidFill>
                <a:latin typeface="Inter"/>
              </a:rPr>
              <a:t>●  </a:t>
            </a:r>
            <a:r>
              <a:rPr sz="1800">
                <a:solidFill>
                  <a:srgbClr val="0F172A"/>
                </a:solidFill>
                <a:latin typeface="Inter"/>
              </a:rPr>
              <a:t>Data residency is a forcing function — it’s rarely optional anyway</a:t>
            </a:r>
          </a:p>
          <a:p>
            <a:pPr>
              <a:lnSpc>
                <a:spcPct val="140000"/>
              </a:lnSpc>
              <a:spcAft>
                <a:spcPts val="1400"/>
              </a:spcAft>
            </a:pPr>
            <a:r>
              <a:rPr sz="1800">
                <a:solidFill>
                  <a:srgbClr val="06B6D4"/>
                </a:solidFill>
                <a:latin typeface="Inter"/>
              </a:rPr>
              <a:t>●  </a:t>
            </a:r>
            <a:r>
              <a:rPr sz="1800">
                <a:solidFill>
                  <a:srgbClr val="0F172A"/>
                </a:solidFill>
                <a:latin typeface="Inter"/>
              </a:rPr>
              <a:t>Per-region scaling, sharding, and rollouts are easier when storage is partitioned</a:t>
            </a:r>
          </a:p>
          <a:p>
            <a:pPr>
              <a:lnSpc>
                <a:spcPct val="140000"/>
              </a:lnSpc>
              <a:spcAft>
                <a:spcPts val="1400"/>
              </a:spcAft>
            </a:pPr>
            <a:r>
              <a:rPr sz="1800">
                <a:solidFill>
                  <a:srgbClr val="06B6D4"/>
                </a:solidFill>
                <a:latin typeface="Inter"/>
              </a:rPr>
              <a:t>●  </a:t>
            </a:r>
            <a:r>
              <a:rPr sz="1800">
                <a:solidFill>
                  <a:srgbClr val="0F172A"/>
                </a:solidFill>
                <a:latin typeface="Inter"/>
              </a:rPr>
              <a:t>Region-as-tenant gives you natural blast-radius isolation</a:t>
            </a:r>
          </a:p>
          <a:p>
            <a:pPr>
              <a:lnSpc>
                <a:spcPct val="140000"/>
              </a:lnSpc>
              <a:spcAft>
                <a:spcPts val="1400"/>
              </a:spcAft>
            </a:pPr>
            <a:r>
              <a:rPr sz="1800">
                <a:solidFill>
                  <a:srgbClr val="06B6D4"/>
                </a:solidFill>
                <a:latin typeface="Inter"/>
              </a:rPr>
              <a:t>●  </a:t>
            </a:r>
            <a:r>
              <a:rPr sz="1800">
                <a:solidFill>
                  <a:srgbClr val="0F172A"/>
                </a:solidFill>
                <a:latin typeface="Inter"/>
              </a:rPr>
              <a:t>When AWS ships a federation feature, your data is already in the right shape</a:t>
            </a:r>
          </a:p>
        </p:txBody>
      </p:sp>
      <p:sp>
        <p:nvSpPr>
          <p:cNvPr id="13" name="TextBox 12"/>
          <p:cNvSpPr txBox="1"/>
          <p:nvPr/>
        </p:nvSpPr>
        <p:spPr>
          <a:xfrm>
            <a:off x="548640" y="5760720"/>
            <a:ext cx="11064240" cy="365760"/>
          </a:xfrm>
          <a:prstGeom prst="rect">
            <a:avLst/>
          </a:prstGeom>
          <a:noFill/>
        </p:spPr>
        <p:txBody>
          <a:bodyPr wrap="square" lIns="0" rIns="0" tIns="0" bIns="0">
            <a:spAutoFit/>
          </a:bodyPr>
          <a:lstStyle/>
          <a:p>
            <a:pPr algn="ctr">
              <a:lnSpc>
                <a:spcPct val="115000"/>
              </a:lnSpc>
            </a:pPr>
            <a:r>
              <a:rPr sz="1400" b="1">
                <a:solidFill>
                  <a:srgbClr val="0F2A5C"/>
                </a:solidFill>
                <a:latin typeface="Inter"/>
              </a:rPr>
              <a:t>Design for residency. Centralization is a feature you can buy later.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10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THE PAYOFF</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Zero data-plane changes required</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103120"/>
            <a:ext cx="7315200" cy="50292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03120"/>
            <a:ext cx="9144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221992"/>
            <a:ext cx="6858000" cy="365760"/>
          </a:xfrm>
          <a:prstGeom prst="rect">
            <a:avLst/>
          </a:prstGeom>
          <a:noFill/>
        </p:spPr>
        <p:txBody>
          <a:bodyPr wrap="square" lIns="0" rIns="0" tIns="0" bIns="0">
            <a:spAutoFit/>
          </a:bodyPr>
          <a:lstStyle/>
          <a:p>
            <a:pPr algn="l">
              <a:lnSpc>
                <a:spcPct val="115000"/>
              </a:lnSpc>
            </a:pPr>
            <a:r>
              <a:rPr sz="1400" b="1">
                <a:solidFill>
                  <a:srgbClr val="0F172A"/>
                </a:solidFill>
                <a:latin typeface="Inter"/>
              </a:rPr>
              <a:t>Indexer service</a:t>
            </a:r>
          </a:p>
        </p:txBody>
      </p:sp>
      <p:sp>
        <p:nvSpPr>
          <p:cNvPr id="14" name="Rounded Rectangle 13"/>
          <p:cNvSpPr/>
          <p:nvPr/>
        </p:nvSpPr>
        <p:spPr>
          <a:xfrm>
            <a:off x="8092440" y="2103120"/>
            <a:ext cx="3520440" cy="50292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2221992"/>
            <a:ext cx="3520440" cy="365760"/>
          </a:xfrm>
          <a:prstGeom prst="rect">
            <a:avLst/>
          </a:prstGeom>
          <a:noFill/>
        </p:spPr>
        <p:txBody>
          <a:bodyPr wrap="square" lIns="0" rIns="0" tIns="0" bIns="0">
            <a:spAutoFit/>
          </a:bodyPr>
          <a:lstStyle/>
          <a:p>
            <a:pPr algn="ctr">
              <a:lnSpc>
                <a:spcPct val="115000"/>
              </a:lnSpc>
            </a:pPr>
            <a:r>
              <a:rPr sz="1300" b="1">
                <a:solidFill>
                  <a:srgbClr val="FFFFFF"/>
                </a:solidFill>
                <a:latin typeface="Inter"/>
              </a:rPr>
              <a:t>Unchanged</a:t>
            </a:r>
          </a:p>
        </p:txBody>
      </p:sp>
      <p:sp>
        <p:nvSpPr>
          <p:cNvPr id="16" name="Rounded Rectangle 15"/>
          <p:cNvSpPr/>
          <p:nvPr/>
        </p:nvSpPr>
        <p:spPr>
          <a:xfrm>
            <a:off x="548640" y="2697480"/>
            <a:ext cx="7315200" cy="50292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697480"/>
            <a:ext cx="9144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2816352"/>
            <a:ext cx="6858000" cy="365760"/>
          </a:xfrm>
          <a:prstGeom prst="rect">
            <a:avLst/>
          </a:prstGeom>
          <a:noFill/>
        </p:spPr>
        <p:txBody>
          <a:bodyPr wrap="square" lIns="0" rIns="0" tIns="0" bIns="0">
            <a:spAutoFit/>
          </a:bodyPr>
          <a:lstStyle/>
          <a:p>
            <a:pPr algn="l">
              <a:lnSpc>
                <a:spcPct val="115000"/>
              </a:lnSpc>
            </a:pPr>
            <a:r>
              <a:rPr sz="1400" b="1">
                <a:solidFill>
                  <a:srgbClr val="0F172A"/>
                </a:solidFill>
                <a:latin typeface="Inter"/>
              </a:rPr>
              <a:t>Index naming</a:t>
            </a:r>
          </a:p>
        </p:txBody>
      </p:sp>
      <p:sp>
        <p:nvSpPr>
          <p:cNvPr id="19" name="Rounded Rectangle 18"/>
          <p:cNvSpPr/>
          <p:nvPr/>
        </p:nvSpPr>
        <p:spPr>
          <a:xfrm>
            <a:off x="8092440" y="2697480"/>
            <a:ext cx="3520440" cy="50292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2816352"/>
            <a:ext cx="3520440" cy="365760"/>
          </a:xfrm>
          <a:prstGeom prst="rect">
            <a:avLst/>
          </a:prstGeom>
          <a:noFill/>
        </p:spPr>
        <p:txBody>
          <a:bodyPr wrap="square" lIns="0" rIns="0" tIns="0" bIns="0">
            <a:spAutoFit/>
          </a:bodyPr>
          <a:lstStyle/>
          <a:p>
            <a:pPr algn="ctr">
              <a:lnSpc>
                <a:spcPct val="115000"/>
              </a:lnSpc>
            </a:pPr>
            <a:r>
              <a:rPr sz="1300" b="1">
                <a:solidFill>
                  <a:srgbClr val="FFFFFF"/>
                </a:solidFill>
                <a:latin typeface="Inter"/>
              </a:rPr>
              <a:t>Unchanged</a:t>
            </a:r>
          </a:p>
        </p:txBody>
      </p:sp>
      <p:sp>
        <p:nvSpPr>
          <p:cNvPr id="21" name="Rounded Rectangle 20"/>
          <p:cNvSpPr/>
          <p:nvPr/>
        </p:nvSpPr>
        <p:spPr>
          <a:xfrm>
            <a:off x="548640" y="3291840"/>
            <a:ext cx="7315200" cy="50292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291840"/>
            <a:ext cx="9144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410712"/>
            <a:ext cx="6858000" cy="365760"/>
          </a:xfrm>
          <a:prstGeom prst="rect">
            <a:avLst/>
          </a:prstGeom>
          <a:noFill/>
        </p:spPr>
        <p:txBody>
          <a:bodyPr wrap="square" lIns="0" rIns="0" tIns="0" bIns="0">
            <a:spAutoFit/>
          </a:bodyPr>
          <a:lstStyle/>
          <a:p>
            <a:pPr algn="l">
              <a:lnSpc>
                <a:spcPct val="115000"/>
              </a:lnSpc>
            </a:pPr>
            <a:r>
              <a:rPr sz="1400" b="1">
                <a:solidFill>
                  <a:srgbClr val="0F172A"/>
                </a:solidFill>
                <a:latin typeface="Inter"/>
              </a:rPr>
              <a:t>Mappings</a:t>
            </a:r>
          </a:p>
        </p:txBody>
      </p:sp>
      <p:sp>
        <p:nvSpPr>
          <p:cNvPr id="24" name="Rounded Rectangle 23"/>
          <p:cNvSpPr/>
          <p:nvPr/>
        </p:nvSpPr>
        <p:spPr>
          <a:xfrm>
            <a:off x="8092440" y="3291840"/>
            <a:ext cx="3520440" cy="50292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92440" y="3410712"/>
            <a:ext cx="3520440" cy="365760"/>
          </a:xfrm>
          <a:prstGeom prst="rect">
            <a:avLst/>
          </a:prstGeom>
          <a:noFill/>
        </p:spPr>
        <p:txBody>
          <a:bodyPr wrap="square" lIns="0" rIns="0" tIns="0" bIns="0">
            <a:spAutoFit/>
          </a:bodyPr>
          <a:lstStyle/>
          <a:p>
            <a:pPr algn="ctr">
              <a:lnSpc>
                <a:spcPct val="115000"/>
              </a:lnSpc>
            </a:pPr>
            <a:r>
              <a:rPr sz="1300" b="1">
                <a:solidFill>
                  <a:srgbClr val="FFFFFF"/>
                </a:solidFill>
                <a:latin typeface="Inter"/>
              </a:rPr>
              <a:t>Unchanged</a:t>
            </a:r>
          </a:p>
        </p:txBody>
      </p:sp>
      <p:sp>
        <p:nvSpPr>
          <p:cNvPr id="26" name="Rounded Rectangle 25"/>
          <p:cNvSpPr/>
          <p:nvPr/>
        </p:nvSpPr>
        <p:spPr>
          <a:xfrm>
            <a:off x="548640" y="3886200"/>
            <a:ext cx="7315200" cy="50292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3886200"/>
            <a:ext cx="9144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4005072"/>
            <a:ext cx="6858000" cy="365760"/>
          </a:xfrm>
          <a:prstGeom prst="rect">
            <a:avLst/>
          </a:prstGeom>
          <a:noFill/>
        </p:spPr>
        <p:txBody>
          <a:bodyPr wrap="square" lIns="0" rIns="0" tIns="0" bIns="0">
            <a:spAutoFit/>
          </a:bodyPr>
          <a:lstStyle/>
          <a:p>
            <a:pPr algn="l">
              <a:lnSpc>
                <a:spcPct val="115000"/>
              </a:lnSpc>
            </a:pPr>
            <a:r>
              <a:rPr sz="1400" b="1">
                <a:solidFill>
                  <a:srgbClr val="0F172A"/>
                </a:solidFill>
                <a:latin typeface="Inter"/>
              </a:rPr>
              <a:t>Trade-service / Kafka</a:t>
            </a:r>
          </a:p>
        </p:txBody>
      </p:sp>
      <p:sp>
        <p:nvSpPr>
          <p:cNvPr id="29" name="Rounded Rectangle 28"/>
          <p:cNvSpPr/>
          <p:nvPr/>
        </p:nvSpPr>
        <p:spPr>
          <a:xfrm>
            <a:off x="8092440" y="3886200"/>
            <a:ext cx="3520440" cy="50292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92440" y="4005072"/>
            <a:ext cx="3520440" cy="365760"/>
          </a:xfrm>
          <a:prstGeom prst="rect">
            <a:avLst/>
          </a:prstGeom>
          <a:noFill/>
        </p:spPr>
        <p:txBody>
          <a:bodyPr wrap="square" lIns="0" rIns="0" tIns="0" bIns="0">
            <a:spAutoFit/>
          </a:bodyPr>
          <a:lstStyle/>
          <a:p>
            <a:pPr algn="ctr">
              <a:lnSpc>
                <a:spcPct val="115000"/>
              </a:lnSpc>
            </a:pPr>
            <a:r>
              <a:rPr sz="1300" b="1">
                <a:solidFill>
                  <a:srgbClr val="FFFFFF"/>
                </a:solidFill>
                <a:latin typeface="Inter"/>
              </a:rPr>
              <a:t>Unchanged</a:t>
            </a:r>
          </a:p>
        </p:txBody>
      </p:sp>
      <p:sp>
        <p:nvSpPr>
          <p:cNvPr id="31" name="Rounded Rectangle 30"/>
          <p:cNvSpPr/>
          <p:nvPr/>
        </p:nvSpPr>
        <p:spPr>
          <a:xfrm>
            <a:off x="548640" y="4480560"/>
            <a:ext cx="7315200" cy="50292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4480560"/>
            <a:ext cx="91440"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80" y="4599432"/>
            <a:ext cx="6858000" cy="365760"/>
          </a:xfrm>
          <a:prstGeom prst="rect">
            <a:avLst/>
          </a:prstGeom>
          <a:noFill/>
        </p:spPr>
        <p:txBody>
          <a:bodyPr wrap="square" lIns="0" rIns="0" tIns="0" bIns="0">
            <a:spAutoFit/>
          </a:bodyPr>
          <a:lstStyle/>
          <a:p>
            <a:pPr algn="l">
              <a:lnSpc>
                <a:spcPct val="115000"/>
              </a:lnSpc>
            </a:pPr>
            <a:r>
              <a:rPr sz="1400" b="1">
                <a:solidFill>
                  <a:srgbClr val="0F172A"/>
                </a:solidFill>
                <a:latin typeface="Inter"/>
              </a:rPr>
              <a:t>OpenSearch UI config</a:t>
            </a:r>
          </a:p>
        </p:txBody>
      </p:sp>
      <p:sp>
        <p:nvSpPr>
          <p:cNvPr id="34" name="Rounded Rectangle 33"/>
          <p:cNvSpPr/>
          <p:nvPr/>
        </p:nvSpPr>
        <p:spPr>
          <a:xfrm>
            <a:off x="8092440" y="4480560"/>
            <a:ext cx="3520440" cy="50292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92440" y="4599432"/>
            <a:ext cx="3520440" cy="365760"/>
          </a:xfrm>
          <a:prstGeom prst="rect">
            <a:avLst/>
          </a:prstGeom>
          <a:noFill/>
        </p:spPr>
        <p:txBody>
          <a:bodyPr wrap="square" lIns="0" rIns="0" tIns="0" bIns="0">
            <a:spAutoFit/>
          </a:bodyPr>
          <a:lstStyle/>
          <a:p>
            <a:pPr algn="ctr">
              <a:lnSpc>
                <a:spcPct val="115000"/>
              </a:lnSpc>
            </a:pPr>
            <a:r>
              <a:rPr sz="1300" b="1">
                <a:solidFill>
                  <a:srgbClr val="FFFFFF"/>
                </a:solidFill>
                <a:latin typeface="Inter"/>
              </a:rPr>
              <a:t>New IAM trust + add domain</a:t>
            </a:r>
          </a:p>
        </p:txBody>
      </p:sp>
      <p:sp>
        <p:nvSpPr>
          <p:cNvPr id="36" name="Rounded Rectangle 35"/>
          <p:cNvSpPr/>
          <p:nvPr/>
        </p:nvSpPr>
        <p:spPr>
          <a:xfrm>
            <a:off x="548640" y="5074920"/>
            <a:ext cx="7315200" cy="50292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5074920"/>
            <a:ext cx="91440"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 y="5193792"/>
            <a:ext cx="6858000" cy="365760"/>
          </a:xfrm>
          <a:prstGeom prst="rect">
            <a:avLst/>
          </a:prstGeom>
          <a:noFill/>
        </p:spPr>
        <p:txBody>
          <a:bodyPr wrap="square" lIns="0" rIns="0" tIns="0" bIns="0">
            <a:spAutoFit/>
          </a:bodyPr>
          <a:lstStyle/>
          <a:p>
            <a:pPr algn="l">
              <a:lnSpc>
                <a:spcPct val="115000"/>
              </a:lnSpc>
            </a:pPr>
            <a:r>
              <a:rPr sz="1400" b="1">
                <a:solidFill>
                  <a:srgbClr val="0F172A"/>
                </a:solidFill>
                <a:latin typeface="Inter"/>
              </a:rPr>
              <a:t>Auth (IAM or IDC)</a:t>
            </a:r>
          </a:p>
        </p:txBody>
      </p:sp>
      <p:sp>
        <p:nvSpPr>
          <p:cNvPr id="39" name="Rounded Rectangle 38"/>
          <p:cNvSpPr/>
          <p:nvPr/>
        </p:nvSpPr>
        <p:spPr>
          <a:xfrm>
            <a:off x="8092440" y="5074920"/>
            <a:ext cx="3520440" cy="50292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92440" y="5193792"/>
            <a:ext cx="3520440" cy="365760"/>
          </a:xfrm>
          <a:prstGeom prst="rect">
            <a:avLst/>
          </a:prstGeom>
          <a:noFill/>
        </p:spPr>
        <p:txBody>
          <a:bodyPr wrap="square" lIns="0" rIns="0" tIns="0" bIns="0">
            <a:spAutoFit/>
          </a:bodyPr>
          <a:lstStyle/>
          <a:p>
            <a:pPr algn="ctr">
              <a:lnSpc>
                <a:spcPct val="115000"/>
              </a:lnSpc>
            </a:pPr>
            <a:r>
              <a:rPr sz="1300" b="1">
                <a:solidFill>
                  <a:srgbClr val="FFFFFF"/>
                </a:solidFill>
                <a:latin typeface="Inter"/>
              </a:rPr>
              <a:t>Configure once per cluster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11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DEMO SCENARIO</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A trader in NYC, asking about EU + APAC trades</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11064240" cy="914400"/>
          </a:xfrm>
          <a:prstGeom prst="roundRect">
            <a:avLst>
              <a:gd name="adj" fmla="val 10000"/>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48840"/>
            <a:ext cx="10515600" cy="320040"/>
          </a:xfrm>
          <a:prstGeom prst="rect">
            <a:avLst/>
          </a:prstGeom>
          <a:noFill/>
        </p:spPr>
        <p:txBody>
          <a:bodyPr wrap="square" lIns="0" rIns="0" tIns="0" bIns="0">
            <a:spAutoFit/>
          </a:bodyPr>
          <a:lstStyle/>
          <a:p>
            <a:pPr algn="l">
              <a:lnSpc>
                <a:spcPct val="115000"/>
              </a:lnSpc>
            </a:pPr>
            <a:r>
              <a:rPr sz="1000" b="1">
                <a:solidFill>
                  <a:srgbClr val="FF9900"/>
                </a:solidFill>
                <a:latin typeface="Inter"/>
              </a:rPr>
              <a:t>THE QUESTION</a:t>
            </a:r>
          </a:p>
        </p:txBody>
      </p:sp>
      <p:sp>
        <p:nvSpPr>
          <p:cNvPr id="13" name="TextBox 12"/>
          <p:cNvSpPr txBox="1"/>
          <p:nvPr/>
        </p:nvSpPr>
        <p:spPr>
          <a:xfrm>
            <a:off x="777240" y="2423160"/>
            <a:ext cx="10515600" cy="411480"/>
          </a:xfrm>
          <a:prstGeom prst="rect">
            <a:avLst/>
          </a:prstGeom>
          <a:noFill/>
        </p:spPr>
        <p:txBody>
          <a:bodyPr wrap="square" lIns="0" rIns="0" tIns="0" bIns="0">
            <a:spAutoFit/>
          </a:bodyPr>
          <a:lstStyle/>
          <a:p>
            <a:pPr algn="l">
              <a:lnSpc>
                <a:spcPct val="115000"/>
              </a:lnSpc>
            </a:pPr>
            <a:r>
              <a:rPr sz="1600" b="0">
                <a:solidFill>
                  <a:srgbClr val="FFFFFF"/>
                </a:solidFill>
                <a:latin typeface="Menlo"/>
              </a:rPr>
              <a:t>“Show me all HIGH-risk USD trades, last 24h, across every region.”</a:t>
            </a:r>
          </a:p>
        </p:txBody>
      </p:sp>
      <p:sp>
        <p:nvSpPr>
          <p:cNvPr id="14" name="Rounded Rectangle 13"/>
          <p:cNvSpPr/>
          <p:nvPr/>
        </p:nvSpPr>
        <p:spPr>
          <a:xfrm>
            <a:off x="548640" y="3246120"/>
            <a:ext cx="1828800" cy="640080"/>
          </a:xfrm>
          <a:prstGeom prst="roundRect">
            <a:avLst>
              <a:gd name="adj" fmla="val 10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429000"/>
            <a:ext cx="1828800" cy="365760"/>
          </a:xfrm>
          <a:prstGeom prst="rect">
            <a:avLst/>
          </a:prstGeom>
          <a:noFill/>
        </p:spPr>
        <p:txBody>
          <a:bodyPr wrap="square" lIns="0" rIns="0" tIns="0" bIns="0">
            <a:spAutoFit/>
          </a:bodyPr>
          <a:lstStyle/>
          <a:p>
            <a:pPr algn="ctr">
              <a:lnSpc>
                <a:spcPct val="115000"/>
              </a:lnSpc>
            </a:pPr>
            <a:r>
              <a:rPr sz="1200" b="1">
                <a:solidFill>
                  <a:srgbClr val="FFFFFF"/>
                </a:solidFill>
                <a:latin typeface="Inter"/>
              </a:rPr>
              <a:t>OPEN</a:t>
            </a:r>
          </a:p>
        </p:txBody>
      </p:sp>
      <p:sp>
        <p:nvSpPr>
          <p:cNvPr id="16" name="Rounded Rectangle 15"/>
          <p:cNvSpPr/>
          <p:nvPr/>
        </p:nvSpPr>
        <p:spPr>
          <a:xfrm>
            <a:off x="2514600" y="3246120"/>
            <a:ext cx="9098280" cy="64008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0" y="3429000"/>
            <a:ext cx="8686800" cy="365760"/>
          </a:xfrm>
          <a:prstGeom prst="rect">
            <a:avLst/>
          </a:prstGeom>
          <a:noFill/>
        </p:spPr>
        <p:txBody>
          <a:bodyPr wrap="square" lIns="0" rIns="0" tIns="0" bIns="0">
            <a:spAutoFit/>
          </a:bodyPr>
          <a:lstStyle/>
          <a:p>
            <a:pPr algn="l">
              <a:lnSpc>
                <a:spcPct val="115000"/>
              </a:lnSpc>
            </a:pPr>
            <a:r>
              <a:rPr sz="1300" b="0">
                <a:solidFill>
                  <a:srgbClr val="0F172A"/>
                </a:solidFill>
                <a:latin typeface="Inter"/>
              </a:rPr>
              <a:t>Single OpenSearch UI bookmark · log in once</a:t>
            </a:r>
          </a:p>
        </p:txBody>
      </p:sp>
      <p:sp>
        <p:nvSpPr>
          <p:cNvPr id="18" name="Rounded Rectangle 17"/>
          <p:cNvSpPr/>
          <p:nvPr/>
        </p:nvSpPr>
        <p:spPr>
          <a:xfrm>
            <a:off x="548640" y="3977640"/>
            <a:ext cx="1828800" cy="640080"/>
          </a:xfrm>
          <a:prstGeom prst="roundRect">
            <a:avLst>
              <a:gd name="adj" fmla="val 10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160520"/>
            <a:ext cx="1828800" cy="365760"/>
          </a:xfrm>
          <a:prstGeom prst="rect">
            <a:avLst/>
          </a:prstGeom>
          <a:noFill/>
        </p:spPr>
        <p:txBody>
          <a:bodyPr wrap="square" lIns="0" rIns="0" tIns="0" bIns="0">
            <a:spAutoFit/>
          </a:bodyPr>
          <a:lstStyle/>
          <a:p>
            <a:pPr algn="ctr">
              <a:lnSpc>
                <a:spcPct val="115000"/>
              </a:lnSpc>
            </a:pPr>
            <a:r>
              <a:rPr sz="1200" b="1">
                <a:solidFill>
                  <a:srgbClr val="FFFFFF"/>
                </a:solidFill>
                <a:latin typeface="Inter"/>
              </a:rPr>
              <a:t>QUERY</a:t>
            </a:r>
          </a:p>
        </p:txBody>
      </p:sp>
      <p:sp>
        <p:nvSpPr>
          <p:cNvPr id="20" name="Rounded Rectangle 19"/>
          <p:cNvSpPr/>
          <p:nvPr/>
        </p:nvSpPr>
        <p:spPr>
          <a:xfrm>
            <a:off x="2514600" y="3977640"/>
            <a:ext cx="9098280" cy="64008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0" y="4160520"/>
            <a:ext cx="8686800" cy="365760"/>
          </a:xfrm>
          <a:prstGeom prst="rect">
            <a:avLst/>
          </a:prstGeom>
          <a:noFill/>
        </p:spPr>
        <p:txBody>
          <a:bodyPr wrap="square" lIns="0" rIns="0" tIns="0" bIns="0">
            <a:spAutoFit/>
          </a:bodyPr>
          <a:lstStyle/>
          <a:p>
            <a:pPr algn="l">
              <a:lnSpc>
                <a:spcPct val="115000"/>
              </a:lnSpc>
            </a:pPr>
            <a:r>
              <a:rPr sz="1300" b="0">
                <a:solidFill>
                  <a:srgbClr val="0F172A"/>
                </a:solidFill>
                <a:latin typeface="Menlo"/>
              </a:rPr>
              <a:t>Index pattern: fx-trades-* · risk:HIGH AND from:USD AND ts:[now-24h TO now]</a:t>
            </a:r>
          </a:p>
        </p:txBody>
      </p:sp>
      <p:sp>
        <p:nvSpPr>
          <p:cNvPr id="22" name="Rounded Rectangle 21"/>
          <p:cNvSpPr/>
          <p:nvPr/>
        </p:nvSpPr>
        <p:spPr>
          <a:xfrm>
            <a:off x="548640" y="4709160"/>
            <a:ext cx="1828800" cy="640080"/>
          </a:xfrm>
          <a:prstGeom prst="roundRect">
            <a:avLst>
              <a:gd name="adj" fmla="val 10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892040"/>
            <a:ext cx="1828800" cy="365760"/>
          </a:xfrm>
          <a:prstGeom prst="rect">
            <a:avLst/>
          </a:prstGeom>
          <a:noFill/>
        </p:spPr>
        <p:txBody>
          <a:bodyPr wrap="square" lIns="0" rIns="0" tIns="0" bIns="0">
            <a:spAutoFit/>
          </a:bodyPr>
          <a:lstStyle/>
          <a:p>
            <a:pPr algn="ctr">
              <a:lnSpc>
                <a:spcPct val="115000"/>
              </a:lnSpc>
            </a:pPr>
            <a:r>
              <a:rPr sz="1200" b="1">
                <a:solidFill>
                  <a:srgbClr val="FFFFFF"/>
                </a:solidFill>
                <a:latin typeface="Inter"/>
              </a:rPr>
              <a:t>RESULTS</a:t>
            </a:r>
          </a:p>
        </p:txBody>
      </p:sp>
      <p:sp>
        <p:nvSpPr>
          <p:cNvPr id="24" name="Rounded Rectangle 23"/>
          <p:cNvSpPr/>
          <p:nvPr/>
        </p:nvSpPr>
        <p:spPr>
          <a:xfrm>
            <a:off x="2514600" y="4709160"/>
            <a:ext cx="9098280" cy="64008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0" y="4892040"/>
            <a:ext cx="8686800" cy="365760"/>
          </a:xfrm>
          <a:prstGeom prst="rect">
            <a:avLst/>
          </a:prstGeom>
          <a:noFill/>
        </p:spPr>
        <p:txBody>
          <a:bodyPr wrap="square" lIns="0" rIns="0" tIns="0" bIns="0">
            <a:spAutoFit/>
          </a:bodyPr>
          <a:lstStyle/>
          <a:p>
            <a:pPr algn="l">
              <a:lnSpc>
                <a:spcPct val="115000"/>
              </a:lnSpc>
            </a:pPr>
            <a:r>
              <a:rPr sz="1300" b="0">
                <a:solidFill>
                  <a:srgbClr val="0F172A"/>
                </a:solidFill>
                <a:latin typeface="Menlo"/>
              </a:rPr>
              <a:t>Hits returned from all 3 regional domains · per-region timing</a:t>
            </a:r>
          </a:p>
        </p:txBody>
      </p:sp>
      <p:sp>
        <p:nvSpPr>
          <p:cNvPr id="26" name="TextBox 25"/>
          <p:cNvSpPr txBox="1"/>
          <p:nvPr/>
        </p:nvSpPr>
        <p:spPr>
          <a:xfrm>
            <a:off x="548640" y="5852160"/>
            <a:ext cx="11064240" cy="365760"/>
          </a:xfrm>
          <a:prstGeom prst="rect">
            <a:avLst/>
          </a:prstGeom>
          <a:noFill/>
        </p:spPr>
        <p:txBody>
          <a:bodyPr wrap="square" lIns="0" rIns="0" tIns="0" bIns="0">
            <a:spAutoFit/>
          </a:bodyPr>
          <a:lstStyle/>
          <a:p>
            <a:pPr algn="ctr">
              <a:lnSpc>
                <a:spcPct val="115000"/>
              </a:lnSpc>
            </a:pPr>
            <a:r>
              <a:rPr sz="1200" b="1">
                <a:solidFill>
                  <a:srgbClr val="0F2A5C"/>
                </a:solidFill>
                <a:latin typeface="Inter"/>
              </a:rPr>
              <a:t>Three regions queried in parallel. No replicated indices. No bookmarks per region.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12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HOW IT’S SET UP</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Cross-region in three configuration steps</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103120"/>
            <a:ext cx="868680" cy="960120"/>
          </a:xfrm>
          <a:prstGeom prst="roundRect">
            <a:avLst>
              <a:gd name="adj" fmla="val 1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423160"/>
            <a:ext cx="868680" cy="365760"/>
          </a:xfrm>
          <a:prstGeom prst="rect">
            <a:avLst/>
          </a:prstGeom>
          <a:noFill/>
        </p:spPr>
        <p:txBody>
          <a:bodyPr wrap="square" lIns="0" rIns="0" tIns="0" bIns="0">
            <a:spAutoFit/>
          </a:bodyPr>
          <a:lstStyle/>
          <a:p>
            <a:pPr algn="ctr">
              <a:lnSpc>
                <a:spcPct val="115000"/>
              </a:lnSpc>
            </a:pPr>
            <a:r>
              <a:rPr sz="2400" b="1">
                <a:solidFill>
                  <a:srgbClr val="FF9900"/>
                </a:solidFill>
                <a:latin typeface="Inter"/>
              </a:rPr>
              <a:t>1</a:t>
            </a:r>
          </a:p>
        </p:txBody>
      </p:sp>
      <p:sp>
        <p:nvSpPr>
          <p:cNvPr id="13" name="Rounded Rectangle 12"/>
          <p:cNvSpPr/>
          <p:nvPr/>
        </p:nvSpPr>
        <p:spPr>
          <a:xfrm>
            <a:off x="1508760" y="2103120"/>
            <a:ext cx="10104120" cy="96012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83080" y="2267712"/>
            <a:ext cx="9601200" cy="365760"/>
          </a:xfrm>
          <a:prstGeom prst="rect">
            <a:avLst/>
          </a:prstGeom>
          <a:noFill/>
        </p:spPr>
        <p:txBody>
          <a:bodyPr wrap="square" lIns="0" rIns="0" tIns="0" bIns="0">
            <a:spAutoFit/>
          </a:bodyPr>
          <a:lstStyle/>
          <a:p>
            <a:pPr algn="l">
              <a:lnSpc>
                <a:spcPct val="115000"/>
              </a:lnSpc>
            </a:pPr>
            <a:r>
              <a:rPr sz="1700" b="1">
                <a:solidFill>
                  <a:srgbClr val="0F172A"/>
                </a:solidFill>
                <a:latin typeface="Inter"/>
              </a:rPr>
              <a:t>Pick the home Region</a:t>
            </a:r>
          </a:p>
        </p:txBody>
      </p:sp>
      <p:sp>
        <p:nvSpPr>
          <p:cNvPr id="15" name="TextBox 14"/>
          <p:cNvSpPr txBox="1"/>
          <p:nvPr/>
        </p:nvSpPr>
        <p:spPr>
          <a:xfrm>
            <a:off x="1783080" y="2606040"/>
            <a:ext cx="9601200" cy="457200"/>
          </a:xfrm>
          <a:prstGeom prst="rect">
            <a:avLst/>
          </a:prstGeom>
          <a:noFill/>
        </p:spPr>
        <p:txBody>
          <a:bodyPr wrap="square" lIns="0" rIns="0" tIns="0" bIns="0">
            <a:spAutoFit/>
          </a:bodyPr>
          <a:lstStyle/>
          <a:p>
            <a:pPr algn="l">
              <a:lnSpc>
                <a:spcPct val="140000"/>
              </a:lnSpc>
            </a:pPr>
            <a:r>
              <a:rPr sz="1300" b="0">
                <a:solidFill>
                  <a:srgbClr val="64748B"/>
                </a:solidFill>
                <a:latin typeface="Inter"/>
              </a:rPr>
              <a:t>Where the OpenSearch UI application lives. All cross-region calls originate here.</a:t>
            </a:r>
          </a:p>
        </p:txBody>
      </p:sp>
      <p:sp>
        <p:nvSpPr>
          <p:cNvPr id="16" name="Rounded Rectangle 15"/>
          <p:cNvSpPr/>
          <p:nvPr/>
        </p:nvSpPr>
        <p:spPr>
          <a:xfrm>
            <a:off x="548640" y="3200400"/>
            <a:ext cx="868680" cy="960120"/>
          </a:xfrm>
          <a:prstGeom prst="roundRect">
            <a:avLst>
              <a:gd name="adj" fmla="val 1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520440"/>
            <a:ext cx="868680" cy="365760"/>
          </a:xfrm>
          <a:prstGeom prst="rect">
            <a:avLst/>
          </a:prstGeom>
          <a:noFill/>
        </p:spPr>
        <p:txBody>
          <a:bodyPr wrap="square" lIns="0" rIns="0" tIns="0" bIns="0">
            <a:spAutoFit/>
          </a:bodyPr>
          <a:lstStyle/>
          <a:p>
            <a:pPr algn="ctr">
              <a:lnSpc>
                <a:spcPct val="115000"/>
              </a:lnSpc>
            </a:pPr>
            <a:r>
              <a:rPr sz="2400" b="1">
                <a:solidFill>
                  <a:srgbClr val="FF9900"/>
                </a:solidFill>
                <a:latin typeface="Inter"/>
              </a:rPr>
              <a:t>2</a:t>
            </a:r>
          </a:p>
        </p:txBody>
      </p:sp>
      <p:sp>
        <p:nvSpPr>
          <p:cNvPr id="18" name="Rounded Rectangle 17"/>
          <p:cNvSpPr/>
          <p:nvPr/>
        </p:nvSpPr>
        <p:spPr>
          <a:xfrm>
            <a:off x="1508760" y="3200400"/>
            <a:ext cx="10104120" cy="96012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83080" y="3364992"/>
            <a:ext cx="9601200" cy="365760"/>
          </a:xfrm>
          <a:prstGeom prst="rect">
            <a:avLst/>
          </a:prstGeom>
          <a:noFill/>
        </p:spPr>
        <p:txBody>
          <a:bodyPr wrap="square" lIns="0" rIns="0" tIns="0" bIns="0">
            <a:spAutoFit/>
          </a:bodyPr>
          <a:lstStyle/>
          <a:p>
            <a:pPr algn="l">
              <a:lnSpc>
                <a:spcPct val="115000"/>
              </a:lnSpc>
            </a:pPr>
            <a:r>
              <a:rPr sz="1700" b="1">
                <a:solidFill>
                  <a:srgbClr val="0F172A"/>
                </a:solidFill>
                <a:latin typeface="Inter"/>
              </a:rPr>
              <a:t>Add target domains</a:t>
            </a:r>
          </a:p>
        </p:txBody>
      </p:sp>
      <p:sp>
        <p:nvSpPr>
          <p:cNvPr id="20" name="TextBox 19"/>
          <p:cNvSpPr txBox="1"/>
          <p:nvPr/>
        </p:nvSpPr>
        <p:spPr>
          <a:xfrm>
            <a:off x="1783080" y="3703320"/>
            <a:ext cx="9601200" cy="457200"/>
          </a:xfrm>
          <a:prstGeom prst="rect">
            <a:avLst/>
          </a:prstGeom>
          <a:noFill/>
        </p:spPr>
        <p:txBody>
          <a:bodyPr wrap="square" lIns="0" rIns="0" tIns="0" bIns="0">
            <a:spAutoFit/>
          </a:bodyPr>
          <a:lstStyle/>
          <a:p>
            <a:pPr algn="l">
              <a:lnSpc>
                <a:spcPct val="140000"/>
              </a:lnSpc>
            </a:pPr>
            <a:r>
              <a:rPr sz="1300" b="0">
                <a:solidFill>
                  <a:srgbClr val="64748B"/>
                </a:solidFill>
                <a:latin typeface="Inter"/>
              </a:rPr>
              <a:t>In the UI’s data-source config, add each remote domain ARN. Public or VPC, both supported.</a:t>
            </a:r>
          </a:p>
        </p:txBody>
      </p:sp>
      <p:sp>
        <p:nvSpPr>
          <p:cNvPr id="21" name="Rounded Rectangle 20"/>
          <p:cNvSpPr/>
          <p:nvPr/>
        </p:nvSpPr>
        <p:spPr>
          <a:xfrm>
            <a:off x="548640" y="4297680"/>
            <a:ext cx="868680" cy="960120"/>
          </a:xfrm>
          <a:prstGeom prst="roundRect">
            <a:avLst>
              <a:gd name="adj" fmla="val 1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17720"/>
            <a:ext cx="868680" cy="365760"/>
          </a:xfrm>
          <a:prstGeom prst="rect">
            <a:avLst/>
          </a:prstGeom>
          <a:noFill/>
        </p:spPr>
        <p:txBody>
          <a:bodyPr wrap="square" lIns="0" rIns="0" tIns="0" bIns="0">
            <a:spAutoFit/>
          </a:bodyPr>
          <a:lstStyle/>
          <a:p>
            <a:pPr algn="ctr">
              <a:lnSpc>
                <a:spcPct val="115000"/>
              </a:lnSpc>
            </a:pPr>
            <a:r>
              <a:rPr sz="2400" b="1">
                <a:solidFill>
                  <a:srgbClr val="FF9900"/>
                </a:solidFill>
                <a:latin typeface="Inter"/>
              </a:rPr>
              <a:t>3</a:t>
            </a:r>
          </a:p>
        </p:txBody>
      </p:sp>
      <p:sp>
        <p:nvSpPr>
          <p:cNvPr id="23" name="Rounded Rectangle 22"/>
          <p:cNvSpPr/>
          <p:nvPr/>
        </p:nvSpPr>
        <p:spPr>
          <a:xfrm>
            <a:off x="1508760" y="4297680"/>
            <a:ext cx="10104120" cy="96012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83080" y="4462272"/>
            <a:ext cx="9601200" cy="365760"/>
          </a:xfrm>
          <a:prstGeom prst="rect">
            <a:avLst/>
          </a:prstGeom>
          <a:noFill/>
        </p:spPr>
        <p:txBody>
          <a:bodyPr wrap="square" lIns="0" rIns="0" tIns="0" bIns="0">
            <a:spAutoFit/>
          </a:bodyPr>
          <a:lstStyle/>
          <a:p>
            <a:pPr algn="l">
              <a:lnSpc>
                <a:spcPct val="115000"/>
              </a:lnSpc>
            </a:pPr>
            <a:r>
              <a:rPr sz="1700" b="1">
                <a:solidFill>
                  <a:srgbClr val="0F172A"/>
                </a:solidFill>
                <a:latin typeface="Inter"/>
              </a:rPr>
              <a:t>Grant trust</a:t>
            </a:r>
          </a:p>
        </p:txBody>
      </p:sp>
      <p:sp>
        <p:nvSpPr>
          <p:cNvPr id="25" name="TextBox 24"/>
          <p:cNvSpPr txBox="1"/>
          <p:nvPr/>
        </p:nvSpPr>
        <p:spPr>
          <a:xfrm>
            <a:off x="1783080" y="4800600"/>
            <a:ext cx="9601200" cy="457200"/>
          </a:xfrm>
          <a:prstGeom prst="rect">
            <a:avLst/>
          </a:prstGeom>
          <a:noFill/>
        </p:spPr>
        <p:txBody>
          <a:bodyPr wrap="square" lIns="0" rIns="0" tIns="0" bIns="0">
            <a:spAutoFit/>
          </a:bodyPr>
          <a:lstStyle/>
          <a:p>
            <a:pPr algn="l">
              <a:lnSpc>
                <a:spcPct val="140000"/>
              </a:lnSpc>
            </a:pPr>
            <a:r>
              <a:rPr sz="1300" b="0">
                <a:solidFill>
                  <a:srgbClr val="64748B"/>
                </a:solidFill>
                <a:latin typeface="Inter"/>
              </a:rPr>
              <a:t>On every target domain, allow the UI Region’s service principal to read indices.</a:t>
            </a:r>
          </a:p>
        </p:txBody>
      </p:sp>
      <p:sp>
        <p:nvSpPr>
          <p:cNvPr id="26" name="TextBox 25"/>
          <p:cNvSpPr txBox="1"/>
          <p:nvPr/>
        </p:nvSpPr>
        <p:spPr>
          <a:xfrm>
            <a:off x="548640" y="5943600"/>
            <a:ext cx="11064240" cy="365760"/>
          </a:xfrm>
          <a:prstGeom prst="rect">
            <a:avLst/>
          </a:prstGeom>
          <a:noFill/>
        </p:spPr>
        <p:txBody>
          <a:bodyPr wrap="square" lIns="0" rIns="0" tIns="0" bIns="0">
            <a:spAutoFit/>
          </a:bodyPr>
          <a:lstStyle/>
          <a:p>
            <a:pPr algn="ctr">
              <a:lnSpc>
                <a:spcPct val="115000"/>
              </a:lnSpc>
            </a:pPr>
            <a:r>
              <a:rPr sz="1200" b="0">
                <a:solidFill>
                  <a:srgbClr val="64748B"/>
                </a:solidFill>
                <a:latin typeface="Inter"/>
              </a:rPr>
              <a:t>Full step-by-step in the AWS docs link on the outro slide.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13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AUTH · OPTION 1</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IAM-based authentication</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011680"/>
            <a:ext cx="10972800" cy="3657600"/>
          </a:xfrm>
          <a:prstGeom prst="rect">
            <a:avLst/>
          </a:prstGeom>
          <a:noFill/>
        </p:spPr>
        <p:txBody>
          <a:bodyPr wrap="square" lIns="0" rIns="0" tIns="0" bIns="0">
            <a:spAutoFit/>
          </a:bodyPr>
          <a:lstStyle/>
          <a:p>
            <a:pPr>
              <a:lnSpc>
                <a:spcPct val="140000"/>
              </a:lnSpc>
              <a:spcAft>
                <a:spcPts val="1400"/>
              </a:spcAft>
            </a:pPr>
            <a:r>
              <a:rPr sz="1700">
                <a:solidFill>
                  <a:srgbClr val="06B6D4"/>
                </a:solidFill>
                <a:latin typeface="Inter"/>
              </a:rPr>
              <a:t>●  </a:t>
            </a:r>
            <a:r>
              <a:rPr sz="1700">
                <a:solidFill>
                  <a:srgbClr val="0F172A"/>
                </a:solidFill>
                <a:latin typeface="Inter"/>
              </a:rPr>
              <a:t>Each user assumes an IAM role mapped to OpenSearch fine-grained access control</a:t>
            </a:r>
          </a:p>
          <a:p>
            <a:pPr>
              <a:lnSpc>
                <a:spcPct val="140000"/>
              </a:lnSpc>
              <a:spcAft>
                <a:spcPts val="1400"/>
              </a:spcAft>
            </a:pPr>
            <a:r>
              <a:rPr sz="1700">
                <a:solidFill>
                  <a:srgbClr val="06B6D4"/>
                </a:solidFill>
                <a:latin typeface="Inter"/>
              </a:rPr>
              <a:t>●  </a:t>
            </a:r>
            <a:r>
              <a:rPr sz="1700">
                <a:solidFill>
                  <a:srgbClr val="0F172A"/>
                </a:solidFill>
                <a:latin typeface="Inter"/>
              </a:rPr>
              <a:t>Fits orgs that already use IAM federation (SAML / OIDC → IAM roles)</a:t>
            </a:r>
          </a:p>
          <a:p>
            <a:pPr>
              <a:lnSpc>
                <a:spcPct val="140000"/>
              </a:lnSpc>
              <a:spcAft>
                <a:spcPts val="1400"/>
              </a:spcAft>
            </a:pPr>
            <a:r>
              <a:rPr sz="1700">
                <a:solidFill>
                  <a:srgbClr val="06B6D4"/>
                </a:solidFill>
                <a:latin typeface="Inter"/>
              </a:rPr>
              <a:t>●  </a:t>
            </a:r>
            <a:r>
              <a:rPr sz="1700">
                <a:solidFill>
                  <a:srgbClr val="0F172A"/>
                </a:solidFill>
                <a:latin typeface="Inter"/>
              </a:rPr>
              <a:t>Same authorization logic across regions — IAM trust policies do the routing</a:t>
            </a:r>
          </a:p>
          <a:p>
            <a:pPr>
              <a:lnSpc>
                <a:spcPct val="140000"/>
              </a:lnSpc>
              <a:spcAft>
                <a:spcPts val="1400"/>
              </a:spcAft>
            </a:pPr>
            <a:r>
              <a:rPr sz="1700">
                <a:solidFill>
                  <a:srgbClr val="06B6D4"/>
                </a:solidFill>
                <a:latin typeface="Inter"/>
              </a:rPr>
              <a:t>●  </a:t>
            </a:r>
            <a:r>
              <a:rPr sz="1700">
                <a:solidFill>
                  <a:srgbClr val="0F172A"/>
                </a:solidFill>
                <a:latin typeface="Inter"/>
              </a:rPr>
              <a:t>Per-index, per-action policies still apply on every regional domain</a:t>
            </a:r>
          </a:p>
        </p:txBody>
      </p:sp>
      <p:sp>
        <p:nvSpPr>
          <p:cNvPr id="12" name="Rounded Rectangle 11"/>
          <p:cNvSpPr/>
          <p:nvPr/>
        </p:nvSpPr>
        <p:spPr>
          <a:xfrm>
            <a:off x="548640" y="5486400"/>
            <a:ext cx="11064240" cy="640080"/>
          </a:xfrm>
          <a:prstGeom prst="roundRect">
            <a:avLst>
              <a:gd name="adj" fmla="val 1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577840"/>
            <a:ext cx="10515600" cy="457200"/>
          </a:xfrm>
          <a:prstGeom prst="rect">
            <a:avLst/>
          </a:prstGeom>
          <a:noFill/>
        </p:spPr>
        <p:txBody>
          <a:bodyPr wrap="square" lIns="0" rIns="0" tIns="0" bIns="0">
            <a:spAutoFit/>
          </a:bodyPr>
          <a:lstStyle/>
          <a:p>
            <a:pPr algn="l">
              <a:lnSpc>
                <a:spcPct val="140000"/>
              </a:lnSpc>
            </a:pPr>
            <a:r>
              <a:rPr sz="1400" b="1">
                <a:solidFill>
                  <a:srgbClr val="0F2A5C"/>
                </a:solidFill>
                <a:latin typeface="Inter"/>
              </a:rPr>
              <a:t>Best when: your org already runs IAM-managed identities · auditing via CloudTrail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14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AUTH · OPTION 2</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IAM Identity Center for SSO</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011680"/>
            <a:ext cx="10972800" cy="3657600"/>
          </a:xfrm>
          <a:prstGeom prst="rect">
            <a:avLst/>
          </a:prstGeom>
          <a:noFill/>
        </p:spPr>
        <p:txBody>
          <a:bodyPr wrap="square" lIns="0" rIns="0" tIns="0" bIns="0">
            <a:spAutoFit/>
          </a:bodyPr>
          <a:lstStyle/>
          <a:p>
            <a:pPr>
              <a:lnSpc>
                <a:spcPct val="140000"/>
              </a:lnSpc>
              <a:spcAft>
                <a:spcPts val="1400"/>
              </a:spcAft>
            </a:pPr>
            <a:r>
              <a:rPr sz="1700">
                <a:solidFill>
                  <a:srgbClr val="06B6D4"/>
                </a:solidFill>
                <a:latin typeface="Inter"/>
              </a:rPr>
              <a:t>●  </a:t>
            </a:r>
            <a:r>
              <a:rPr sz="1700">
                <a:solidFill>
                  <a:srgbClr val="0F172A"/>
                </a:solidFill>
                <a:latin typeface="Inter"/>
              </a:rPr>
              <a:t>Users log in once via IDC — UI federates that to each regional domain</a:t>
            </a:r>
          </a:p>
          <a:p>
            <a:pPr>
              <a:lnSpc>
                <a:spcPct val="140000"/>
              </a:lnSpc>
              <a:spcAft>
                <a:spcPts val="1400"/>
              </a:spcAft>
            </a:pPr>
            <a:r>
              <a:rPr sz="1700">
                <a:solidFill>
                  <a:srgbClr val="06B6D4"/>
                </a:solidFill>
                <a:latin typeface="Inter"/>
              </a:rPr>
              <a:t>●  </a:t>
            </a:r>
            <a:r>
              <a:rPr sz="1700">
                <a:solidFill>
                  <a:srgbClr val="0F172A"/>
                </a:solidFill>
                <a:latin typeface="Inter"/>
              </a:rPr>
              <a:t>Native group-to-permission mapping — no IAM role choreography</a:t>
            </a:r>
          </a:p>
          <a:p>
            <a:pPr>
              <a:lnSpc>
                <a:spcPct val="140000"/>
              </a:lnSpc>
              <a:spcAft>
                <a:spcPts val="1400"/>
              </a:spcAft>
            </a:pPr>
            <a:r>
              <a:rPr sz="1700">
                <a:solidFill>
                  <a:srgbClr val="06B6D4"/>
                </a:solidFill>
                <a:latin typeface="Inter"/>
              </a:rPr>
              <a:t>●  </a:t>
            </a:r>
            <a:r>
              <a:rPr sz="1700">
                <a:solidFill>
                  <a:srgbClr val="0F172A"/>
                </a:solidFill>
                <a:latin typeface="Inter"/>
              </a:rPr>
              <a:t>Plays nicely with multi-account orgs (AWS Organizations + IDC)</a:t>
            </a:r>
          </a:p>
          <a:p>
            <a:pPr>
              <a:lnSpc>
                <a:spcPct val="140000"/>
              </a:lnSpc>
              <a:spcAft>
                <a:spcPts val="1400"/>
              </a:spcAft>
            </a:pPr>
            <a:r>
              <a:rPr sz="1700">
                <a:solidFill>
                  <a:srgbClr val="06B6D4"/>
                </a:solidFill>
                <a:latin typeface="Inter"/>
              </a:rPr>
              <a:t>●  </a:t>
            </a:r>
            <a:r>
              <a:rPr sz="1700">
                <a:solidFill>
                  <a:srgbClr val="0F172A"/>
                </a:solidFill>
                <a:latin typeface="Inter"/>
              </a:rPr>
              <a:t>Audit trail unified through IDC, not stitched across IAM logs</a:t>
            </a:r>
          </a:p>
        </p:txBody>
      </p:sp>
      <p:sp>
        <p:nvSpPr>
          <p:cNvPr id="12" name="Rounded Rectangle 11"/>
          <p:cNvSpPr/>
          <p:nvPr/>
        </p:nvSpPr>
        <p:spPr>
          <a:xfrm>
            <a:off x="548640" y="5486400"/>
            <a:ext cx="11064240" cy="640080"/>
          </a:xfrm>
          <a:prstGeom prst="roundRect">
            <a:avLst>
              <a:gd name="adj" fmla="val 1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577840"/>
            <a:ext cx="10515600" cy="457200"/>
          </a:xfrm>
          <a:prstGeom prst="rect">
            <a:avLst/>
          </a:prstGeom>
          <a:noFill/>
        </p:spPr>
        <p:txBody>
          <a:bodyPr wrap="square" lIns="0" rIns="0" tIns="0" bIns="0">
            <a:spAutoFit/>
          </a:bodyPr>
          <a:lstStyle/>
          <a:p>
            <a:pPr algn="l">
              <a:lnSpc>
                <a:spcPct val="140000"/>
              </a:lnSpc>
            </a:pPr>
            <a:r>
              <a:rPr sz="1400" b="1">
                <a:solidFill>
                  <a:srgbClr val="0F172A"/>
                </a:solidFill>
                <a:latin typeface="Inter"/>
              </a:rPr>
              <a:t>Best when: you’ve standardized on IDC across the organization · cleaner SSO UX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15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COMBINED POWER</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Cross-account + cross-region together</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11064240" cy="2011680"/>
          </a:xfrm>
          <a:prstGeom prst="roundRect">
            <a:avLst>
              <a:gd name="adj" fmla="val 1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194560"/>
            <a:ext cx="105156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EARLIER IN 2026 + NOW = THE FULL ENTERPRISE STORY</a:t>
            </a:r>
          </a:p>
        </p:txBody>
      </p:sp>
      <p:sp>
        <p:nvSpPr>
          <p:cNvPr id="13" name="TextBox 12"/>
          <p:cNvSpPr txBox="1"/>
          <p:nvPr/>
        </p:nvSpPr>
        <p:spPr>
          <a:xfrm>
            <a:off x="868680" y="2514600"/>
            <a:ext cx="10515600" cy="548640"/>
          </a:xfrm>
          <a:prstGeom prst="rect">
            <a:avLst/>
          </a:prstGeom>
          <a:noFill/>
        </p:spPr>
        <p:txBody>
          <a:bodyPr wrap="square" lIns="0" rIns="0" tIns="0" bIns="0">
            <a:spAutoFit/>
          </a:bodyPr>
          <a:lstStyle/>
          <a:p>
            <a:pPr algn="l">
              <a:lnSpc>
                <a:spcPct val="140000"/>
              </a:lnSpc>
            </a:pPr>
            <a:r>
              <a:rPr sz="2000" b="1">
                <a:solidFill>
                  <a:srgbClr val="FFFFFF"/>
                </a:solidFill>
                <a:latin typeface="Inter"/>
              </a:rPr>
              <a:t>Single OpenSearch UI · multiple accounts · multiple Regions · any combination.</a:t>
            </a:r>
          </a:p>
        </p:txBody>
      </p:sp>
      <p:sp>
        <p:nvSpPr>
          <p:cNvPr id="14" name="TextBox 13"/>
          <p:cNvSpPr txBox="1"/>
          <p:nvPr/>
        </p:nvSpPr>
        <p:spPr>
          <a:xfrm>
            <a:off x="868680" y="3200400"/>
            <a:ext cx="10515600" cy="640080"/>
          </a:xfrm>
          <a:prstGeom prst="rect">
            <a:avLst/>
          </a:prstGeom>
          <a:noFill/>
        </p:spPr>
        <p:txBody>
          <a:bodyPr wrap="square" lIns="0" rIns="0" tIns="0" bIns="0">
            <a:spAutoFit/>
          </a:bodyPr>
          <a:lstStyle/>
          <a:p>
            <a:pPr algn="l">
              <a:lnSpc>
                <a:spcPct val="150000"/>
              </a:lnSpc>
            </a:pPr>
            <a:r>
              <a:rPr sz="1400" b="0">
                <a:solidFill>
                  <a:srgbClr val="CFFAFE"/>
                </a:solidFill>
                <a:latin typeface="Inter"/>
              </a:rPr>
              <a:t>Production account · staging account · per-team accounts · per-region replicas — one pane of glass for all of them.</a:t>
            </a:r>
          </a:p>
        </p:txBody>
      </p:sp>
      <p:sp>
        <p:nvSpPr>
          <p:cNvPr id="15" name="Rounded Rectangle 14"/>
          <p:cNvSpPr/>
          <p:nvPr/>
        </p:nvSpPr>
        <p:spPr>
          <a:xfrm>
            <a:off x="548640" y="4297680"/>
            <a:ext cx="3611880" cy="155448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434840"/>
            <a:ext cx="3291840" cy="365760"/>
          </a:xfrm>
          <a:prstGeom prst="rect">
            <a:avLst/>
          </a:prstGeom>
          <a:noFill/>
        </p:spPr>
        <p:txBody>
          <a:bodyPr wrap="square" lIns="0" rIns="0" tIns="0" bIns="0">
            <a:spAutoFit/>
          </a:bodyPr>
          <a:lstStyle/>
          <a:p>
            <a:pPr algn="l">
              <a:lnSpc>
                <a:spcPct val="115000"/>
              </a:lnSpc>
            </a:pPr>
            <a:r>
              <a:rPr sz="1100" b="1">
                <a:solidFill>
                  <a:srgbClr val="0F2A5C"/>
                </a:solidFill>
                <a:latin typeface="Inter"/>
              </a:rPr>
              <a:t>PLATFORM ENGINEER</a:t>
            </a:r>
          </a:p>
        </p:txBody>
      </p:sp>
      <p:sp>
        <p:nvSpPr>
          <p:cNvPr id="17" name="TextBox 16"/>
          <p:cNvSpPr txBox="1"/>
          <p:nvPr/>
        </p:nvSpPr>
        <p:spPr>
          <a:xfrm>
            <a:off x="731520" y="4754880"/>
            <a:ext cx="3291840" cy="914400"/>
          </a:xfrm>
          <a:prstGeom prst="rect">
            <a:avLst/>
          </a:prstGeom>
          <a:noFill/>
        </p:spPr>
        <p:txBody>
          <a:bodyPr wrap="square" lIns="0" rIns="0" tIns="0" bIns="0">
            <a:spAutoFit/>
          </a:bodyPr>
          <a:lstStyle/>
          <a:p>
            <a:pPr algn="l">
              <a:lnSpc>
                <a:spcPct val="150000"/>
              </a:lnSpc>
            </a:pPr>
            <a:r>
              <a:rPr sz="1400" b="0">
                <a:solidFill>
                  <a:srgbClr val="334155"/>
                </a:solidFill>
                <a:latin typeface="Inter"/>
              </a:rPr>
              <a:t>Sees prod + staging + dev in one UI</a:t>
            </a:r>
          </a:p>
        </p:txBody>
      </p:sp>
      <p:sp>
        <p:nvSpPr>
          <p:cNvPr id="18" name="Rounded Rectangle 17"/>
          <p:cNvSpPr/>
          <p:nvPr/>
        </p:nvSpPr>
        <p:spPr>
          <a:xfrm>
            <a:off x="4251960" y="4297680"/>
            <a:ext cx="3611880" cy="155448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4434840"/>
            <a:ext cx="3291840" cy="365760"/>
          </a:xfrm>
          <a:prstGeom prst="rect">
            <a:avLst/>
          </a:prstGeom>
          <a:noFill/>
        </p:spPr>
        <p:txBody>
          <a:bodyPr wrap="square" lIns="0" rIns="0" tIns="0" bIns="0">
            <a:spAutoFit/>
          </a:bodyPr>
          <a:lstStyle/>
          <a:p>
            <a:pPr algn="l">
              <a:lnSpc>
                <a:spcPct val="115000"/>
              </a:lnSpc>
            </a:pPr>
            <a:r>
              <a:rPr sz="1100" b="1">
                <a:solidFill>
                  <a:srgbClr val="0F2A5C"/>
                </a:solidFill>
                <a:latin typeface="Inter"/>
              </a:rPr>
              <a:t>SECURITY ANALYST</a:t>
            </a:r>
          </a:p>
        </p:txBody>
      </p:sp>
      <p:sp>
        <p:nvSpPr>
          <p:cNvPr id="20" name="TextBox 19"/>
          <p:cNvSpPr txBox="1"/>
          <p:nvPr/>
        </p:nvSpPr>
        <p:spPr>
          <a:xfrm>
            <a:off x="4434840" y="4754880"/>
            <a:ext cx="3291840" cy="914400"/>
          </a:xfrm>
          <a:prstGeom prst="rect">
            <a:avLst/>
          </a:prstGeom>
          <a:noFill/>
        </p:spPr>
        <p:txBody>
          <a:bodyPr wrap="square" lIns="0" rIns="0" tIns="0" bIns="0">
            <a:spAutoFit/>
          </a:bodyPr>
          <a:lstStyle/>
          <a:p>
            <a:pPr algn="l">
              <a:lnSpc>
                <a:spcPct val="150000"/>
              </a:lnSpc>
            </a:pPr>
            <a:r>
              <a:rPr sz="1400" b="0">
                <a:solidFill>
                  <a:srgbClr val="334155"/>
                </a:solidFill>
                <a:latin typeface="Inter"/>
              </a:rPr>
              <a:t>Cross-account threat hunting</a:t>
            </a:r>
          </a:p>
        </p:txBody>
      </p:sp>
      <p:sp>
        <p:nvSpPr>
          <p:cNvPr id="21" name="Rounded Rectangle 20"/>
          <p:cNvSpPr/>
          <p:nvPr/>
        </p:nvSpPr>
        <p:spPr>
          <a:xfrm>
            <a:off x="7955280" y="4297680"/>
            <a:ext cx="3611880" cy="155448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0" y="4434840"/>
            <a:ext cx="3291840" cy="365760"/>
          </a:xfrm>
          <a:prstGeom prst="rect">
            <a:avLst/>
          </a:prstGeom>
          <a:noFill/>
        </p:spPr>
        <p:txBody>
          <a:bodyPr wrap="square" lIns="0" rIns="0" tIns="0" bIns="0">
            <a:spAutoFit/>
          </a:bodyPr>
          <a:lstStyle/>
          <a:p>
            <a:pPr algn="l">
              <a:lnSpc>
                <a:spcPct val="115000"/>
              </a:lnSpc>
            </a:pPr>
            <a:r>
              <a:rPr sz="1100" b="1">
                <a:solidFill>
                  <a:srgbClr val="0F2A5C"/>
                </a:solidFill>
                <a:latin typeface="Inter"/>
              </a:rPr>
              <a:t>COMPLIANCE LEAD</a:t>
            </a:r>
          </a:p>
        </p:txBody>
      </p:sp>
      <p:sp>
        <p:nvSpPr>
          <p:cNvPr id="23" name="TextBox 22"/>
          <p:cNvSpPr txBox="1"/>
          <p:nvPr/>
        </p:nvSpPr>
        <p:spPr>
          <a:xfrm>
            <a:off x="8138160" y="4754880"/>
            <a:ext cx="3291840" cy="914400"/>
          </a:xfrm>
          <a:prstGeom prst="rect">
            <a:avLst/>
          </a:prstGeom>
          <a:noFill/>
        </p:spPr>
        <p:txBody>
          <a:bodyPr wrap="square" lIns="0" rIns="0" tIns="0" bIns="0">
            <a:spAutoFit/>
          </a:bodyPr>
          <a:lstStyle/>
          <a:p>
            <a:pPr algn="l">
              <a:lnSpc>
                <a:spcPct val="150000"/>
              </a:lnSpc>
            </a:pPr>
            <a:r>
              <a:rPr sz="1400" b="0">
                <a:solidFill>
                  <a:srgbClr val="334155"/>
                </a:solidFill>
                <a:latin typeface="Inter"/>
              </a:rPr>
              <a:t>Per-region data still where it should be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16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WHY IT MATTERS · COMPLIANCE</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Data stays put — visibility doesn’t have to</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103120"/>
            <a:ext cx="2468880" cy="59436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267712"/>
            <a:ext cx="2468880" cy="365760"/>
          </a:xfrm>
          <a:prstGeom prst="rect">
            <a:avLst/>
          </a:prstGeom>
          <a:noFill/>
        </p:spPr>
        <p:txBody>
          <a:bodyPr wrap="square" lIns="0" rIns="0" tIns="0" bIns="0">
            <a:spAutoFit/>
          </a:bodyPr>
          <a:lstStyle/>
          <a:p>
            <a:pPr algn="ctr">
              <a:lnSpc>
                <a:spcPct val="115000"/>
              </a:lnSpc>
            </a:pPr>
            <a:r>
              <a:rPr sz="1300" b="1">
                <a:solidFill>
                  <a:srgbClr val="FFFFFF"/>
                </a:solidFill>
                <a:latin typeface="Inter"/>
              </a:rPr>
              <a:t>GDPR (EU)</a:t>
            </a:r>
          </a:p>
        </p:txBody>
      </p:sp>
      <p:sp>
        <p:nvSpPr>
          <p:cNvPr id="13" name="Rounded Rectangle 12"/>
          <p:cNvSpPr/>
          <p:nvPr/>
        </p:nvSpPr>
        <p:spPr>
          <a:xfrm>
            <a:off x="3154680" y="2103120"/>
            <a:ext cx="8458200" cy="59436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0" y="2267712"/>
            <a:ext cx="8183879" cy="365760"/>
          </a:xfrm>
          <a:prstGeom prst="rect">
            <a:avLst/>
          </a:prstGeom>
          <a:noFill/>
        </p:spPr>
        <p:txBody>
          <a:bodyPr wrap="square" lIns="0" rIns="0" tIns="0" bIns="0">
            <a:spAutoFit/>
          </a:bodyPr>
          <a:lstStyle/>
          <a:p>
            <a:pPr algn="l">
              <a:lnSpc>
                <a:spcPct val="115000"/>
              </a:lnSpc>
            </a:pPr>
            <a:r>
              <a:rPr sz="1300" b="0">
                <a:solidFill>
                  <a:srgbClr val="0F172A"/>
                </a:solidFill>
                <a:latin typeface="Inter"/>
              </a:rPr>
              <a:t>EU customer data must stay in EU regions</a:t>
            </a:r>
          </a:p>
        </p:txBody>
      </p:sp>
      <p:sp>
        <p:nvSpPr>
          <p:cNvPr id="15" name="Rounded Rectangle 14"/>
          <p:cNvSpPr/>
          <p:nvPr/>
        </p:nvSpPr>
        <p:spPr>
          <a:xfrm>
            <a:off x="548640" y="2770632"/>
            <a:ext cx="2468880" cy="59436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935224"/>
            <a:ext cx="2468880" cy="365760"/>
          </a:xfrm>
          <a:prstGeom prst="rect">
            <a:avLst/>
          </a:prstGeom>
          <a:noFill/>
        </p:spPr>
        <p:txBody>
          <a:bodyPr wrap="square" lIns="0" rIns="0" tIns="0" bIns="0">
            <a:spAutoFit/>
          </a:bodyPr>
          <a:lstStyle/>
          <a:p>
            <a:pPr algn="ctr">
              <a:lnSpc>
                <a:spcPct val="115000"/>
              </a:lnSpc>
            </a:pPr>
            <a:r>
              <a:rPr sz="1300" b="1">
                <a:solidFill>
                  <a:srgbClr val="FFFFFF"/>
                </a:solidFill>
                <a:latin typeface="Inter"/>
              </a:rPr>
              <a:t>MAS (SG)</a:t>
            </a:r>
          </a:p>
        </p:txBody>
      </p:sp>
      <p:sp>
        <p:nvSpPr>
          <p:cNvPr id="17" name="Rounded Rectangle 16"/>
          <p:cNvSpPr/>
          <p:nvPr/>
        </p:nvSpPr>
        <p:spPr>
          <a:xfrm>
            <a:off x="3154680" y="2770632"/>
            <a:ext cx="8458200" cy="59436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3280" y="2935224"/>
            <a:ext cx="8183879" cy="365760"/>
          </a:xfrm>
          <a:prstGeom prst="rect">
            <a:avLst/>
          </a:prstGeom>
          <a:noFill/>
        </p:spPr>
        <p:txBody>
          <a:bodyPr wrap="square" lIns="0" rIns="0" tIns="0" bIns="0">
            <a:spAutoFit/>
          </a:bodyPr>
          <a:lstStyle/>
          <a:p>
            <a:pPr algn="l">
              <a:lnSpc>
                <a:spcPct val="115000"/>
              </a:lnSpc>
            </a:pPr>
            <a:r>
              <a:rPr sz="1300" b="0">
                <a:solidFill>
                  <a:srgbClr val="0F172A"/>
                </a:solidFill>
                <a:latin typeface="Inter"/>
              </a:rPr>
              <a:t>Singapore Monetary Authority — data residency</a:t>
            </a:r>
          </a:p>
        </p:txBody>
      </p:sp>
      <p:sp>
        <p:nvSpPr>
          <p:cNvPr id="19" name="Rounded Rectangle 18"/>
          <p:cNvSpPr/>
          <p:nvPr/>
        </p:nvSpPr>
        <p:spPr>
          <a:xfrm>
            <a:off x="548640" y="3438144"/>
            <a:ext cx="2468880" cy="59436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602736"/>
            <a:ext cx="2468880" cy="365760"/>
          </a:xfrm>
          <a:prstGeom prst="rect">
            <a:avLst/>
          </a:prstGeom>
          <a:noFill/>
        </p:spPr>
        <p:txBody>
          <a:bodyPr wrap="square" lIns="0" rIns="0" tIns="0" bIns="0">
            <a:spAutoFit/>
          </a:bodyPr>
          <a:lstStyle/>
          <a:p>
            <a:pPr algn="ctr">
              <a:lnSpc>
                <a:spcPct val="115000"/>
              </a:lnSpc>
            </a:pPr>
            <a:r>
              <a:rPr sz="1300" b="1">
                <a:solidFill>
                  <a:srgbClr val="FFFFFF"/>
                </a:solidFill>
                <a:latin typeface="Inter"/>
              </a:rPr>
              <a:t>RBI (IN)</a:t>
            </a:r>
          </a:p>
        </p:txBody>
      </p:sp>
      <p:sp>
        <p:nvSpPr>
          <p:cNvPr id="21" name="Rounded Rectangle 20"/>
          <p:cNvSpPr/>
          <p:nvPr/>
        </p:nvSpPr>
        <p:spPr>
          <a:xfrm>
            <a:off x="3154680" y="3438144"/>
            <a:ext cx="8458200" cy="59436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83280" y="3602736"/>
            <a:ext cx="8183879" cy="365760"/>
          </a:xfrm>
          <a:prstGeom prst="rect">
            <a:avLst/>
          </a:prstGeom>
          <a:noFill/>
        </p:spPr>
        <p:txBody>
          <a:bodyPr wrap="square" lIns="0" rIns="0" tIns="0" bIns="0">
            <a:spAutoFit/>
          </a:bodyPr>
          <a:lstStyle/>
          <a:p>
            <a:pPr algn="l">
              <a:lnSpc>
                <a:spcPct val="115000"/>
              </a:lnSpc>
            </a:pPr>
            <a:r>
              <a:rPr sz="1300" b="0">
                <a:solidFill>
                  <a:srgbClr val="0F172A"/>
                </a:solidFill>
                <a:latin typeface="Inter"/>
              </a:rPr>
              <a:t>India payment-data localization</a:t>
            </a:r>
          </a:p>
        </p:txBody>
      </p:sp>
      <p:sp>
        <p:nvSpPr>
          <p:cNvPr id="23" name="Rounded Rectangle 22"/>
          <p:cNvSpPr/>
          <p:nvPr/>
        </p:nvSpPr>
        <p:spPr>
          <a:xfrm>
            <a:off x="548640" y="4105656"/>
            <a:ext cx="2468880" cy="594360"/>
          </a:xfrm>
          <a:prstGeom prst="roundRect">
            <a:avLst>
              <a:gd name="adj" fmla="val 10000"/>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270248"/>
            <a:ext cx="2468880" cy="365760"/>
          </a:xfrm>
          <a:prstGeom prst="rect">
            <a:avLst/>
          </a:prstGeom>
          <a:noFill/>
        </p:spPr>
        <p:txBody>
          <a:bodyPr wrap="square" lIns="0" rIns="0" tIns="0" bIns="0">
            <a:spAutoFit/>
          </a:bodyPr>
          <a:lstStyle/>
          <a:p>
            <a:pPr algn="ctr">
              <a:lnSpc>
                <a:spcPct val="115000"/>
              </a:lnSpc>
            </a:pPr>
            <a:r>
              <a:rPr sz="1300" b="1">
                <a:solidFill>
                  <a:srgbClr val="FFFFFF"/>
                </a:solidFill>
                <a:latin typeface="Inter"/>
              </a:rPr>
              <a:t>PIPL (CN)</a:t>
            </a:r>
          </a:p>
        </p:txBody>
      </p:sp>
      <p:sp>
        <p:nvSpPr>
          <p:cNvPr id="25" name="Rounded Rectangle 24"/>
          <p:cNvSpPr/>
          <p:nvPr/>
        </p:nvSpPr>
        <p:spPr>
          <a:xfrm>
            <a:off x="3154680" y="4105656"/>
            <a:ext cx="8458200" cy="59436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83280" y="4270248"/>
            <a:ext cx="8183879" cy="365760"/>
          </a:xfrm>
          <a:prstGeom prst="rect">
            <a:avLst/>
          </a:prstGeom>
          <a:noFill/>
        </p:spPr>
        <p:txBody>
          <a:bodyPr wrap="square" lIns="0" rIns="0" tIns="0" bIns="0">
            <a:spAutoFit/>
          </a:bodyPr>
          <a:lstStyle/>
          <a:p>
            <a:pPr algn="l">
              <a:lnSpc>
                <a:spcPct val="115000"/>
              </a:lnSpc>
            </a:pPr>
            <a:r>
              <a:rPr sz="1300" b="0">
                <a:solidFill>
                  <a:srgbClr val="0F172A"/>
                </a:solidFill>
                <a:latin typeface="Inter"/>
              </a:rPr>
              <a:t>China cross-border transfer restrictions</a:t>
            </a:r>
          </a:p>
        </p:txBody>
      </p:sp>
      <p:sp>
        <p:nvSpPr>
          <p:cNvPr id="27" name="Rounded Rectangle 26"/>
          <p:cNvSpPr/>
          <p:nvPr/>
        </p:nvSpPr>
        <p:spPr>
          <a:xfrm>
            <a:off x="548640" y="4773168"/>
            <a:ext cx="2468880" cy="594360"/>
          </a:xfrm>
          <a:prstGeom prst="roundRect">
            <a:avLst>
              <a:gd name="adj" fmla="val 10000"/>
            </a:avLst>
          </a:prstGeom>
          <a:solidFill>
            <a:srgbClr val="312E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937760"/>
            <a:ext cx="2468880" cy="365760"/>
          </a:xfrm>
          <a:prstGeom prst="rect">
            <a:avLst/>
          </a:prstGeom>
          <a:noFill/>
        </p:spPr>
        <p:txBody>
          <a:bodyPr wrap="square" lIns="0" rIns="0" tIns="0" bIns="0">
            <a:spAutoFit/>
          </a:bodyPr>
          <a:lstStyle/>
          <a:p>
            <a:pPr algn="ctr">
              <a:lnSpc>
                <a:spcPct val="115000"/>
              </a:lnSpc>
            </a:pPr>
            <a:r>
              <a:rPr sz="1300" b="1">
                <a:solidFill>
                  <a:srgbClr val="FFFFFF"/>
                </a:solidFill>
                <a:latin typeface="Inter"/>
              </a:rPr>
              <a:t>Industry NDAs</a:t>
            </a:r>
          </a:p>
        </p:txBody>
      </p:sp>
      <p:sp>
        <p:nvSpPr>
          <p:cNvPr id="29" name="Rounded Rectangle 28"/>
          <p:cNvSpPr/>
          <p:nvPr/>
        </p:nvSpPr>
        <p:spPr>
          <a:xfrm>
            <a:off x="3154680" y="4773168"/>
            <a:ext cx="8458200" cy="59436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83280" y="4937760"/>
            <a:ext cx="8183879" cy="365760"/>
          </a:xfrm>
          <a:prstGeom prst="rect">
            <a:avLst/>
          </a:prstGeom>
          <a:noFill/>
        </p:spPr>
        <p:txBody>
          <a:bodyPr wrap="square" lIns="0" rIns="0" tIns="0" bIns="0">
            <a:spAutoFit/>
          </a:bodyPr>
          <a:lstStyle/>
          <a:p>
            <a:pPr algn="l">
              <a:lnSpc>
                <a:spcPct val="115000"/>
              </a:lnSpc>
            </a:pPr>
            <a:r>
              <a:rPr sz="1300" b="0">
                <a:solidFill>
                  <a:srgbClr val="0F172A"/>
                </a:solidFill>
                <a:latin typeface="Inter"/>
              </a:rPr>
              <a:t>Customer contracts pinning data to regions</a:t>
            </a:r>
          </a:p>
        </p:txBody>
      </p:sp>
      <p:sp>
        <p:nvSpPr>
          <p:cNvPr id="31" name="TextBox 30"/>
          <p:cNvSpPr txBox="1"/>
          <p:nvPr/>
        </p:nvSpPr>
        <p:spPr>
          <a:xfrm>
            <a:off x="548640" y="6080760"/>
            <a:ext cx="11064240" cy="365760"/>
          </a:xfrm>
          <a:prstGeom prst="rect">
            <a:avLst/>
          </a:prstGeom>
          <a:noFill/>
        </p:spPr>
        <p:txBody>
          <a:bodyPr wrap="square" lIns="0" rIns="0" tIns="0" bIns="0">
            <a:spAutoFit/>
          </a:bodyPr>
          <a:lstStyle/>
          <a:p>
            <a:pPr algn="ctr">
              <a:lnSpc>
                <a:spcPct val="115000"/>
              </a:lnSpc>
            </a:pPr>
            <a:r>
              <a:rPr sz="1200" b="1">
                <a:solidFill>
                  <a:srgbClr val="0F2A5C"/>
                </a:solidFill>
                <a:latin typeface="Inter"/>
              </a:rPr>
              <a:t>Cross-region UI federates queries — it does not move data. Compliance unchanged.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17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WHY IT MATTERS · ECONOMICS</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Inter-region egress · the silent budget killer</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5440680" cy="40233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011680"/>
            <a:ext cx="91440" cy="402336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194560"/>
            <a:ext cx="5029200" cy="365760"/>
          </a:xfrm>
          <a:prstGeom prst="rect">
            <a:avLst/>
          </a:prstGeom>
          <a:noFill/>
        </p:spPr>
        <p:txBody>
          <a:bodyPr wrap="square" lIns="0" rIns="0" tIns="0" bIns="0">
            <a:spAutoFit/>
          </a:bodyPr>
          <a:lstStyle/>
          <a:p>
            <a:pPr algn="l">
              <a:lnSpc>
                <a:spcPct val="115000"/>
              </a:lnSpc>
            </a:pPr>
            <a:r>
              <a:rPr sz="1100" b="1">
                <a:solidFill>
                  <a:srgbClr val="F43F5E"/>
                </a:solidFill>
                <a:latin typeface="Inter"/>
              </a:rPr>
              <a:t>BEFORE · CROSS-CLUSTER REPLICATION</a:t>
            </a:r>
          </a:p>
        </p:txBody>
      </p:sp>
      <p:sp>
        <p:nvSpPr>
          <p:cNvPr id="14" name="TextBox 13"/>
          <p:cNvSpPr txBox="1"/>
          <p:nvPr/>
        </p:nvSpPr>
        <p:spPr>
          <a:xfrm>
            <a:off x="868680" y="2514600"/>
            <a:ext cx="5029200" cy="457200"/>
          </a:xfrm>
          <a:prstGeom prst="rect">
            <a:avLst/>
          </a:prstGeom>
          <a:noFill/>
        </p:spPr>
        <p:txBody>
          <a:bodyPr wrap="square" lIns="0" rIns="0" tIns="0" bIns="0">
            <a:spAutoFit/>
          </a:bodyPr>
          <a:lstStyle/>
          <a:p>
            <a:pPr algn="l">
              <a:lnSpc>
                <a:spcPct val="115000"/>
              </a:lnSpc>
            </a:pPr>
            <a:r>
              <a:rPr sz="1600" b="1">
                <a:solidFill>
                  <a:srgbClr val="0F172A"/>
                </a:solidFill>
                <a:latin typeface="Inter"/>
              </a:rPr>
              <a:t>You pay for every byte that crosses regions</a:t>
            </a:r>
          </a:p>
        </p:txBody>
      </p:sp>
      <p:sp>
        <p:nvSpPr>
          <p:cNvPr id="15" name="TextBox 14"/>
          <p:cNvSpPr txBox="1"/>
          <p:nvPr/>
        </p:nvSpPr>
        <p:spPr>
          <a:xfrm>
            <a:off x="868680" y="3154680"/>
            <a:ext cx="4937760" cy="2743200"/>
          </a:xfrm>
          <a:prstGeom prst="rect">
            <a:avLst/>
          </a:prstGeom>
          <a:noFill/>
        </p:spPr>
        <p:txBody>
          <a:bodyPr wrap="square" lIns="0" rIns="0" tIns="0" bIns="0">
            <a:spAutoFit/>
          </a:bodyPr>
          <a:lstStyle/>
          <a:p>
            <a:pPr>
              <a:lnSpc>
                <a:spcPct val="140000"/>
              </a:lnSpc>
              <a:spcAft>
                <a:spcPts val="800"/>
              </a:spcAft>
            </a:pPr>
            <a:r>
              <a:rPr sz="1300">
                <a:solidFill>
                  <a:srgbClr val="F43F5E"/>
                </a:solidFill>
                <a:latin typeface="Inter"/>
              </a:rPr>
              <a:t>●  </a:t>
            </a:r>
            <a:r>
              <a:rPr sz="1300">
                <a:solidFill>
                  <a:srgbClr val="334155"/>
                </a:solidFill>
                <a:latin typeface="Inter"/>
              </a:rPr>
              <a:t>~$0.02 / GB inter-region egress</a:t>
            </a:r>
          </a:p>
          <a:p>
            <a:pPr>
              <a:lnSpc>
                <a:spcPct val="140000"/>
              </a:lnSpc>
              <a:spcAft>
                <a:spcPts val="800"/>
              </a:spcAft>
            </a:pPr>
            <a:r>
              <a:rPr sz="1300">
                <a:solidFill>
                  <a:srgbClr val="F43F5E"/>
                </a:solidFill>
                <a:latin typeface="Inter"/>
              </a:rPr>
              <a:t>●  </a:t>
            </a:r>
            <a:r>
              <a:rPr sz="1300">
                <a:solidFill>
                  <a:srgbClr val="334155"/>
                </a:solidFill>
                <a:latin typeface="Inter"/>
              </a:rPr>
              <a:t>High-write workloads = thousands per month</a:t>
            </a:r>
          </a:p>
          <a:p>
            <a:pPr>
              <a:lnSpc>
                <a:spcPct val="140000"/>
              </a:lnSpc>
              <a:spcAft>
                <a:spcPts val="800"/>
              </a:spcAft>
            </a:pPr>
            <a:r>
              <a:rPr sz="1300">
                <a:solidFill>
                  <a:srgbClr val="F43F5E"/>
                </a:solidFill>
                <a:latin typeface="Inter"/>
              </a:rPr>
              <a:t>●  </a:t>
            </a:r>
            <a:r>
              <a:rPr sz="1300">
                <a:solidFill>
                  <a:srgbClr val="334155"/>
                </a:solidFill>
                <a:latin typeface="Inter"/>
              </a:rPr>
              <a:t>Plus extra storage on the central region</a:t>
            </a:r>
          </a:p>
          <a:p>
            <a:pPr>
              <a:lnSpc>
                <a:spcPct val="140000"/>
              </a:lnSpc>
              <a:spcAft>
                <a:spcPts val="800"/>
              </a:spcAft>
            </a:pPr>
            <a:r>
              <a:rPr sz="1300">
                <a:solidFill>
                  <a:srgbClr val="F43F5E"/>
                </a:solidFill>
                <a:latin typeface="Inter"/>
              </a:rPr>
              <a:t>●  </a:t>
            </a:r>
            <a:r>
              <a:rPr sz="1300">
                <a:solidFill>
                  <a:srgbClr val="334155"/>
                </a:solidFill>
                <a:latin typeface="Inter"/>
              </a:rPr>
              <a:t>Plus replication lag to manage</a:t>
            </a:r>
          </a:p>
        </p:txBody>
      </p:sp>
      <p:sp>
        <p:nvSpPr>
          <p:cNvPr id="16" name="Rounded Rectangle 15"/>
          <p:cNvSpPr/>
          <p:nvPr/>
        </p:nvSpPr>
        <p:spPr>
          <a:xfrm>
            <a:off x="6263640" y="2011680"/>
            <a:ext cx="5440680" cy="40233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2011680"/>
            <a:ext cx="91440" cy="4023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2194560"/>
            <a:ext cx="5029200" cy="365760"/>
          </a:xfrm>
          <a:prstGeom prst="rect">
            <a:avLst/>
          </a:prstGeom>
          <a:noFill/>
        </p:spPr>
        <p:txBody>
          <a:bodyPr wrap="square" lIns="0" rIns="0" tIns="0" bIns="0">
            <a:spAutoFit/>
          </a:bodyPr>
          <a:lstStyle/>
          <a:p>
            <a:pPr algn="l">
              <a:lnSpc>
                <a:spcPct val="115000"/>
              </a:lnSpc>
            </a:pPr>
            <a:r>
              <a:rPr sz="1100" b="1">
                <a:solidFill>
                  <a:srgbClr val="10B981"/>
                </a:solidFill>
                <a:latin typeface="Inter"/>
              </a:rPr>
              <a:t>AFTER · CROSS-REGION UI</a:t>
            </a:r>
          </a:p>
        </p:txBody>
      </p:sp>
      <p:sp>
        <p:nvSpPr>
          <p:cNvPr id="19" name="TextBox 18"/>
          <p:cNvSpPr txBox="1"/>
          <p:nvPr/>
        </p:nvSpPr>
        <p:spPr>
          <a:xfrm>
            <a:off x="6583680" y="2514600"/>
            <a:ext cx="5029200" cy="457200"/>
          </a:xfrm>
          <a:prstGeom prst="rect">
            <a:avLst/>
          </a:prstGeom>
          <a:noFill/>
        </p:spPr>
        <p:txBody>
          <a:bodyPr wrap="square" lIns="0" rIns="0" tIns="0" bIns="0">
            <a:spAutoFit/>
          </a:bodyPr>
          <a:lstStyle/>
          <a:p>
            <a:pPr algn="l">
              <a:lnSpc>
                <a:spcPct val="115000"/>
              </a:lnSpc>
            </a:pPr>
            <a:r>
              <a:rPr sz="1600" b="1">
                <a:solidFill>
                  <a:srgbClr val="0F172A"/>
                </a:solidFill>
                <a:latin typeface="Inter"/>
              </a:rPr>
              <a:t>You only pay for query result bytes</a:t>
            </a:r>
          </a:p>
        </p:txBody>
      </p:sp>
      <p:sp>
        <p:nvSpPr>
          <p:cNvPr id="20" name="TextBox 19"/>
          <p:cNvSpPr txBox="1"/>
          <p:nvPr/>
        </p:nvSpPr>
        <p:spPr>
          <a:xfrm>
            <a:off x="6583680" y="3154680"/>
            <a:ext cx="4937760" cy="2743200"/>
          </a:xfrm>
          <a:prstGeom prst="rect">
            <a:avLst/>
          </a:prstGeom>
          <a:noFill/>
        </p:spPr>
        <p:txBody>
          <a:bodyPr wrap="square" lIns="0" rIns="0" tIns="0" bIns="0">
            <a:spAutoFit/>
          </a:bodyPr>
          <a:lstStyle/>
          <a:p>
            <a:pPr>
              <a:lnSpc>
                <a:spcPct val="140000"/>
              </a:lnSpc>
              <a:spcAft>
                <a:spcPts val="800"/>
              </a:spcAft>
            </a:pPr>
            <a:r>
              <a:rPr sz="1300">
                <a:solidFill>
                  <a:srgbClr val="10B981"/>
                </a:solidFill>
                <a:latin typeface="Inter"/>
              </a:rPr>
              <a:t>●  </a:t>
            </a:r>
            <a:r>
              <a:rPr sz="1300">
                <a:solidFill>
                  <a:srgbClr val="334155"/>
                </a:solidFill>
                <a:latin typeface="Inter"/>
              </a:rPr>
              <a:t>Storage stays in origin Region</a:t>
            </a:r>
          </a:p>
          <a:p>
            <a:pPr>
              <a:lnSpc>
                <a:spcPct val="140000"/>
              </a:lnSpc>
              <a:spcAft>
                <a:spcPts val="800"/>
              </a:spcAft>
            </a:pPr>
            <a:r>
              <a:rPr sz="1300">
                <a:solidFill>
                  <a:srgbClr val="10B981"/>
                </a:solidFill>
                <a:latin typeface="Inter"/>
              </a:rPr>
              <a:t>●  </a:t>
            </a:r>
            <a:r>
              <a:rPr sz="1300">
                <a:solidFill>
                  <a:srgbClr val="334155"/>
                </a:solidFill>
                <a:latin typeface="Inter"/>
              </a:rPr>
              <a:t>Egress = small result payloads only</a:t>
            </a:r>
          </a:p>
          <a:p>
            <a:pPr>
              <a:lnSpc>
                <a:spcPct val="140000"/>
              </a:lnSpc>
              <a:spcAft>
                <a:spcPts val="800"/>
              </a:spcAft>
            </a:pPr>
            <a:r>
              <a:rPr sz="1300">
                <a:solidFill>
                  <a:srgbClr val="10B981"/>
                </a:solidFill>
                <a:latin typeface="Inter"/>
              </a:rPr>
              <a:t>●  </a:t>
            </a:r>
            <a:r>
              <a:rPr sz="1300">
                <a:solidFill>
                  <a:srgbClr val="334155"/>
                </a:solidFill>
                <a:latin typeface="Inter"/>
              </a:rPr>
              <a:t>No replication infra to manage</a:t>
            </a:r>
          </a:p>
          <a:p>
            <a:pPr>
              <a:lnSpc>
                <a:spcPct val="140000"/>
              </a:lnSpc>
              <a:spcAft>
                <a:spcPts val="800"/>
              </a:spcAft>
            </a:pPr>
            <a:r>
              <a:rPr sz="1300">
                <a:solidFill>
                  <a:srgbClr val="10B981"/>
                </a:solidFill>
                <a:latin typeface="Inter"/>
              </a:rPr>
              <a:t>●  </a:t>
            </a:r>
            <a:r>
              <a:rPr sz="1300">
                <a:solidFill>
                  <a:srgbClr val="334155"/>
                </a:solidFill>
                <a:latin typeface="Inter"/>
              </a:rPr>
              <a:t>Cost scales with USE, not data size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18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TRY IT YOURSELF</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Get hands-on in 30 minutes</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103120"/>
            <a:ext cx="10972800" cy="4023360"/>
          </a:xfrm>
          <a:prstGeom prst="rect">
            <a:avLst/>
          </a:prstGeom>
          <a:noFill/>
        </p:spPr>
        <p:txBody>
          <a:bodyPr wrap="square" lIns="0" rIns="0" tIns="0" bIns="0">
            <a:spAutoFit/>
          </a:bodyPr>
          <a:lstStyle/>
          <a:p>
            <a:pPr>
              <a:lnSpc>
                <a:spcPct val="140000"/>
              </a:lnSpc>
              <a:spcAft>
                <a:spcPts val="1600"/>
              </a:spcAft>
            </a:pPr>
            <a:r>
              <a:rPr sz="1800">
                <a:solidFill>
                  <a:srgbClr val="FF9900"/>
                </a:solidFill>
                <a:latin typeface="Inter"/>
              </a:rPr>
              <a:t>●  </a:t>
            </a:r>
            <a:r>
              <a:rPr sz="1800">
                <a:solidFill>
                  <a:srgbClr val="0F172A"/>
                </a:solidFill>
                <a:latin typeface="Inter"/>
              </a:rPr>
              <a:t>1. Spin up the FX project locally — one npm command (link in description)</a:t>
            </a:r>
          </a:p>
          <a:p>
            <a:pPr>
              <a:lnSpc>
                <a:spcPct val="140000"/>
              </a:lnSpc>
              <a:spcAft>
                <a:spcPts val="1600"/>
              </a:spcAft>
            </a:pPr>
            <a:r>
              <a:rPr sz="1800">
                <a:solidFill>
                  <a:srgbClr val="FF9900"/>
                </a:solidFill>
                <a:latin typeface="Inter"/>
              </a:rPr>
              <a:t>●  </a:t>
            </a:r>
            <a:r>
              <a:rPr sz="1800">
                <a:solidFill>
                  <a:srgbClr val="0F172A"/>
                </a:solidFill>
                <a:latin typeface="Inter"/>
              </a:rPr>
              <a:t>2. Deploy the included GitHub Actions workflows to your AWS account</a:t>
            </a:r>
          </a:p>
          <a:p>
            <a:pPr>
              <a:lnSpc>
                <a:spcPct val="140000"/>
              </a:lnSpc>
              <a:spcAft>
                <a:spcPts val="1600"/>
              </a:spcAft>
            </a:pPr>
            <a:r>
              <a:rPr sz="1800">
                <a:solidFill>
                  <a:srgbClr val="FF9900"/>
                </a:solidFill>
                <a:latin typeface="Inter"/>
              </a:rPr>
              <a:t>●  </a:t>
            </a:r>
            <a:r>
              <a:rPr sz="1800">
                <a:solidFill>
                  <a:srgbClr val="0F172A"/>
                </a:solidFill>
                <a:latin typeface="Inter"/>
              </a:rPr>
              <a:t>3. Replace local OpenSearch with managed in 2 regions</a:t>
            </a:r>
          </a:p>
          <a:p>
            <a:pPr>
              <a:lnSpc>
                <a:spcPct val="140000"/>
              </a:lnSpc>
              <a:spcAft>
                <a:spcPts val="1600"/>
              </a:spcAft>
            </a:pPr>
            <a:r>
              <a:rPr sz="1800">
                <a:solidFill>
                  <a:srgbClr val="FF9900"/>
                </a:solidFill>
                <a:latin typeface="Inter"/>
              </a:rPr>
              <a:t>●  </a:t>
            </a:r>
            <a:r>
              <a:rPr sz="1800">
                <a:solidFill>
                  <a:srgbClr val="0F172A"/>
                </a:solidFill>
                <a:latin typeface="Inter"/>
              </a:rPr>
              <a:t>4. Wire OpenSearch UI to both domains following the AWS doc link</a:t>
            </a:r>
          </a:p>
          <a:p>
            <a:pPr>
              <a:lnSpc>
                <a:spcPct val="140000"/>
              </a:lnSpc>
              <a:spcAft>
                <a:spcPts val="1600"/>
              </a:spcAft>
            </a:pPr>
            <a:r>
              <a:rPr sz="1800">
                <a:solidFill>
                  <a:srgbClr val="FF9900"/>
                </a:solidFill>
                <a:latin typeface="Inter"/>
              </a:rPr>
              <a:t>●  </a:t>
            </a:r>
            <a:r>
              <a:rPr sz="1800">
                <a:solidFill>
                  <a:srgbClr val="0F172A"/>
                </a:solidFill>
                <a:latin typeface="Inter"/>
              </a:rPr>
              <a:t>5. Run the demo query — fx-trades-* — and watch the federation happen</a:t>
            </a:r>
          </a:p>
        </p:txBody>
      </p:sp>
      <p:sp>
        <p:nvSpPr>
          <p:cNvPr id="12" name="Rounded Rectangle 11"/>
          <p:cNvSpPr/>
          <p:nvPr/>
        </p:nvSpPr>
        <p:spPr>
          <a:xfrm>
            <a:off x="548640" y="5532120"/>
            <a:ext cx="11064240" cy="640080"/>
          </a:xfrm>
          <a:prstGeom prst="roundRect">
            <a:avLst>
              <a:gd name="adj" fmla="val 1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669280"/>
            <a:ext cx="10515600" cy="365760"/>
          </a:xfrm>
          <a:prstGeom prst="rect">
            <a:avLst/>
          </a:prstGeom>
          <a:noFill/>
        </p:spPr>
        <p:txBody>
          <a:bodyPr wrap="square" lIns="0" rIns="0" tIns="0" bIns="0">
            <a:spAutoFit/>
          </a:bodyPr>
          <a:lstStyle/>
          <a:p>
            <a:pPr algn="ctr">
              <a:lnSpc>
                <a:spcPct val="115000"/>
              </a:lnSpc>
            </a:pPr>
            <a:r>
              <a:rPr sz="1400" b="1">
                <a:solidFill>
                  <a:srgbClr val="FF9900"/>
                </a:solidFill>
                <a:latin typeface="Inter"/>
              </a:rPr>
              <a:t>Repo + AWS doc link on the outro slide.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AWS What's New · OpenSearch UI Cross-Region</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19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FF9900"/>
                </a:solidFill>
                <a:latin typeface="Inter"/>
              </a:rPr>
              <a:t>WHAT'S NEXT ON THE CHANNEL</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Coming up</a:t>
            </a:r>
          </a:p>
        </p:txBody>
      </p:sp>
      <p:sp>
        <p:nvSpPr>
          <p:cNvPr id="10" name="Rectangle 9"/>
          <p:cNvSpPr/>
          <p:nvPr/>
        </p:nvSpPr>
        <p:spPr>
          <a:xfrm>
            <a:off x="548640" y="1627632"/>
            <a:ext cx="457200" cy="5486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194560"/>
            <a:ext cx="11064240" cy="77724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2377440"/>
            <a:ext cx="1463040" cy="411480"/>
          </a:xfrm>
          <a:prstGeom prst="roundRect">
            <a:avLst>
              <a:gd name="adj" fmla="val 10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414016"/>
            <a:ext cx="1463040" cy="365760"/>
          </a:xfrm>
          <a:prstGeom prst="rect">
            <a:avLst/>
          </a:prstGeom>
          <a:noFill/>
        </p:spPr>
        <p:txBody>
          <a:bodyPr wrap="square" lIns="0" rIns="0" tIns="0" bIns="0">
            <a:spAutoFit/>
          </a:bodyPr>
          <a:lstStyle/>
          <a:p>
            <a:pPr algn="ctr">
              <a:lnSpc>
                <a:spcPct val="115000"/>
              </a:lnSpc>
            </a:pPr>
            <a:r>
              <a:rPr sz="1200" b="1">
                <a:solidFill>
                  <a:srgbClr val="FFFFFF"/>
                </a:solidFill>
                <a:latin typeface="Inter"/>
              </a:rPr>
              <a:t>NEXT</a:t>
            </a:r>
          </a:p>
        </p:txBody>
      </p:sp>
      <p:sp>
        <p:nvSpPr>
          <p:cNvPr id="14" name="TextBox 13"/>
          <p:cNvSpPr txBox="1"/>
          <p:nvPr/>
        </p:nvSpPr>
        <p:spPr>
          <a:xfrm>
            <a:off x="2423160" y="2423160"/>
            <a:ext cx="8961120" cy="411480"/>
          </a:xfrm>
          <a:prstGeom prst="rect">
            <a:avLst/>
          </a:prstGeom>
          <a:noFill/>
        </p:spPr>
        <p:txBody>
          <a:bodyPr wrap="square" lIns="0" rIns="0" tIns="0" bIns="0">
            <a:spAutoFit/>
          </a:bodyPr>
          <a:lstStyle/>
          <a:p>
            <a:pPr algn="l">
              <a:lnSpc>
                <a:spcPct val="115000"/>
              </a:lnSpc>
            </a:pPr>
            <a:r>
              <a:rPr sz="1500" b="0">
                <a:solidFill>
                  <a:srgbClr val="0F172A"/>
                </a:solidFill>
                <a:latin typeface="Inter"/>
              </a:rPr>
              <a:t>Walking through the OpenSearch UI cross-region setup live</a:t>
            </a:r>
          </a:p>
        </p:txBody>
      </p:sp>
      <p:sp>
        <p:nvSpPr>
          <p:cNvPr id="15" name="Rounded Rectangle 14"/>
          <p:cNvSpPr/>
          <p:nvPr/>
        </p:nvSpPr>
        <p:spPr>
          <a:xfrm>
            <a:off x="548640" y="3081528"/>
            <a:ext cx="11064240" cy="77724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7240" y="3264408"/>
            <a:ext cx="1463040" cy="411480"/>
          </a:xfrm>
          <a:prstGeom prst="roundRect">
            <a:avLst>
              <a:gd name="adj" fmla="val 10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300984"/>
            <a:ext cx="1463040" cy="365760"/>
          </a:xfrm>
          <a:prstGeom prst="rect">
            <a:avLst/>
          </a:prstGeom>
          <a:noFill/>
        </p:spPr>
        <p:txBody>
          <a:bodyPr wrap="square" lIns="0" rIns="0" tIns="0" bIns="0">
            <a:spAutoFit/>
          </a:bodyPr>
          <a:lstStyle/>
          <a:p>
            <a:pPr algn="ctr">
              <a:lnSpc>
                <a:spcPct val="115000"/>
              </a:lnSpc>
            </a:pPr>
            <a:r>
              <a:rPr sz="1200" b="1">
                <a:solidFill>
                  <a:srgbClr val="FFFFFF"/>
                </a:solidFill>
                <a:latin typeface="Inter"/>
              </a:rPr>
              <a:t>THEN</a:t>
            </a:r>
          </a:p>
        </p:txBody>
      </p:sp>
      <p:sp>
        <p:nvSpPr>
          <p:cNvPr id="18" name="TextBox 17"/>
          <p:cNvSpPr txBox="1"/>
          <p:nvPr/>
        </p:nvSpPr>
        <p:spPr>
          <a:xfrm>
            <a:off x="2423160" y="3310128"/>
            <a:ext cx="8961120" cy="411480"/>
          </a:xfrm>
          <a:prstGeom prst="rect">
            <a:avLst/>
          </a:prstGeom>
          <a:noFill/>
        </p:spPr>
        <p:txBody>
          <a:bodyPr wrap="square" lIns="0" rIns="0" tIns="0" bIns="0">
            <a:spAutoFit/>
          </a:bodyPr>
          <a:lstStyle/>
          <a:p>
            <a:pPr algn="l">
              <a:lnSpc>
                <a:spcPct val="115000"/>
              </a:lnSpc>
            </a:pPr>
            <a:r>
              <a:rPr sz="1500" b="0">
                <a:solidFill>
                  <a:srgbClr val="0F172A"/>
                </a:solidFill>
                <a:latin typeface="Inter"/>
              </a:rPr>
              <a:t>Deploying the FX project to AWS — full GitHub Actions tour</a:t>
            </a:r>
          </a:p>
        </p:txBody>
      </p:sp>
      <p:sp>
        <p:nvSpPr>
          <p:cNvPr id="19" name="Rounded Rectangle 18"/>
          <p:cNvSpPr/>
          <p:nvPr/>
        </p:nvSpPr>
        <p:spPr>
          <a:xfrm>
            <a:off x="548640" y="3968496"/>
            <a:ext cx="11064240" cy="77724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 y="4151376"/>
            <a:ext cx="1463040" cy="41148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187952"/>
            <a:ext cx="1463040" cy="365760"/>
          </a:xfrm>
          <a:prstGeom prst="rect">
            <a:avLst/>
          </a:prstGeom>
          <a:noFill/>
        </p:spPr>
        <p:txBody>
          <a:bodyPr wrap="square" lIns="0" rIns="0" tIns="0" bIns="0">
            <a:spAutoFit/>
          </a:bodyPr>
          <a:lstStyle/>
          <a:p>
            <a:pPr algn="ctr">
              <a:lnSpc>
                <a:spcPct val="115000"/>
              </a:lnSpc>
            </a:pPr>
            <a:r>
              <a:rPr sz="1200" b="1">
                <a:solidFill>
                  <a:srgbClr val="FFFFFF"/>
                </a:solidFill>
                <a:latin typeface="Inter"/>
              </a:rPr>
              <a:t>THEN</a:t>
            </a:r>
          </a:p>
        </p:txBody>
      </p:sp>
      <p:sp>
        <p:nvSpPr>
          <p:cNvPr id="22" name="TextBox 21"/>
          <p:cNvSpPr txBox="1"/>
          <p:nvPr/>
        </p:nvSpPr>
        <p:spPr>
          <a:xfrm>
            <a:off x="2423160" y="4197096"/>
            <a:ext cx="8961120" cy="411480"/>
          </a:xfrm>
          <a:prstGeom prst="rect">
            <a:avLst/>
          </a:prstGeom>
          <a:noFill/>
        </p:spPr>
        <p:txBody>
          <a:bodyPr wrap="square" lIns="0" rIns="0" tIns="0" bIns="0">
            <a:spAutoFit/>
          </a:bodyPr>
          <a:lstStyle/>
          <a:p>
            <a:pPr algn="l">
              <a:lnSpc>
                <a:spcPct val="115000"/>
              </a:lnSpc>
            </a:pPr>
            <a:r>
              <a:rPr sz="1500" b="0">
                <a:solidFill>
                  <a:srgbClr val="0F172A"/>
                </a:solidFill>
                <a:latin typeface="Inter"/>
              </a:rPr>
              <a:t>Cross-account demo — multi-account organization setup</a:t>
            </a:r>
          </a:p>
        </p:txBody>
      </p:sp>
      <p:sp>
        <p:nvSpPr>
          <p:cNvPr id="23" name="Rounded Rectangle 22"/>
          <p:cNvSpPr/>
          <p:nvPr/>
        </p:nvSpPr>
        <p:spPr>
          <a:xfrm>
            <a:off x="548640" y="4855464"/>
            <a:ext cx="11064240" cy="77724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77240" y="5038344"/>
            <a:ext cx="1463040" cy="41148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074920"/>
            <a:ext cx="1463040" cy="365760"/>
          </a:xfrm>
          <a:prstGeom prst="rect">
            <a:avLst/>
          </a:prstGeom>
          <a:noFill/>
        </p:spPr>
        <p:txBody>
          <a:bodyPr wrap="square" lIns="0" rIns="0" tIns="0" bIns="0">
            <a:spAutoFit/>
          </a:bodyPr>
          <a:lstStyle/>
          <a:p>
            <a:pPr algn="ctr">
              <a:lnSpc>
                <a:spcPct val="115000"/>
              </a:lnSpc>
            </a:pPr>
            <a:r>
              <a:rPr sz="1200" b="1">
                <a:solidFill>
                  <a:srgbClr val="FFFFFF"/>
                </a:solidFill>
                <a:latin typeface="Inter"/>
              </a:rPr>
              <a:t>THEN</a:t>
            </a:r>
          </a:p>
        </p:txBody>
      </p:sp>
      <p:sp>
        <p:nvSpPr>
          <p:cNvPr id="26" name="TextBox 25"/>
          <p:cNvSpPr txBox="1"/>
          <p:nvPr/>
        </p:nvSpPr>
        <p:spPr>
          <a:xfrm>
            <a:off x="2423160" y="5084064"/>
            <a:ext cx="8961120" cy="411480"/>
          </a:xfrm>
          <a:prstGeom prst="rect">
            <a:avLst/>
          </a:prstGeom>
          <a:noFill/>
        </p:spPr>
        <p:txBody>
          <a:bodyPr wrap="square" lIns="0" rIns="0" tIns="0" bIns="0">
            <a:spAutoFit/>
          </a:bodyPr>
          <a:lstStyle/>
          <a:p>
            <a:pPr algn="l">
              <a:lnSpc>
                <a:spcPct val="115000"/>
              </a:lnSpc>
            </a:pPr>
            <a:r>
              <a:rPr sz="1500" b="0">
                <a:solidFill>
                  <a:srgbClr val="0F172A"/>
                </a:solidFill>
                <a:latin typeface="Inter"/>
              </a:rPr>
              <a:t>Querying across regions for compliance + observability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00" cy="6858000"/>
          </a:xfrm>
          <a:prstGeom prst="rect">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75120"/>
            <a:ext cx="12191695" cy="18288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83680"/>
            <a:ext cx="4572000" cy="9144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10058400" cy="457200"/>
          </a:xfrm>
          <a:prstGeom prst="rect">
            <a:avLst/>
          </a:prstGeom>
          <a:noFill/>
        </p:spPr>
        <p:txBody>
          <a:bodyPr wrap="square" lIns="0" rIns="0" tIns="0" bIns="0">
            <a:spAutoFit/>
          </a:bodyPr>
          <a:lstStyle/>
          <a:p>
            <a:pPr algn="l">
              <a:lnSpc>
                <a:spcPct val="115000"/>
              </a:lnSpc>
            </a:pPr>
            <a:r>
              <a:rPr sz="1400" b="1">
                <a:solidFill>
                  <a:srgbClr val="FF9900"/>
                </a:solidFill>
                <a:latin typeface="Inter"/>
              </a:rPr>
              <a:t>THANKS FOR WATCHING</a:t>
            </a:r>
          </a:p>
        </p:txBody>
      </p:sp>
      <p:sp>
        <p:nvSpPr>
          <p:cNvPr id="7" name="TextBox 6"/>
          <p:cNvSpPr txBox="1"/>
          <p:nvPr/>
        </p:nvSpPr>
        <p:spPr>
          <a:xfrm>
            <a:off x="731520" y="1828800"/>
            <a:ext cx="10058400" cy="1280160"/>
          </a:xfrm>
          <a:prstGeom prst="rect">
            <a:avLst/>
          </a:prstGeom>
          <a:noFill/>
        </p:spPr>
        <p:txBody>
          <a:bodyPr wrap="square" lIns="0" rIns="0" tIns="0" bIns="0">
            <a:spAutoFit/>
          </a:bodyPr>
          <a:lstStyle/>
          <a:p>
            <a:pPr algn="l">
              <a:lnSpc>
                <a:spcPct val="115000"/>
              </a:lnSpc>
            </a:pPr>
            <a:r>
              <a:rPr sz="4600" b="1">
                <a:solidFill>
                  <a:srgbClr val="FFFFFF"/>
                </a:solidFill>
                <a:latin typeface="Inter"/>
              </a:rPr>
              <a:t>Like · Subscribe · Comment</a:t>
            </a:r>
          </a:p>
        </p:txBody>
      </p:sp>
      <p:sp>
        <p:nvSpPr>
          <p:cNvPr id="8" name="TextBox 7"/>
          <p:cNvSpPr txBox="1"/>
          <p:nvPr/>
        </p:nvSpPr>
        <p:spPr>
          <a:xfrm>
            <a:off x="731520" y="3200400"/>
            <a:ext cx="10058400" cy="548640"/>
          </a:xfrm>
          <a:prstGeom prst="rect">
            <a:avLst/>
          </a:prstGeom>
          <a:noFill/>
        </p:spPr>
        <p:txBody>
          <a:bodyPr wrap="square" lIns="0" rIns="0" tIns="0" bIns="0">
            <a:spAutoFit/>
          </a:bodyPr>
          <a:lstStyle/>
          <a:p>
            <a:pPr algn="l">
              <a:lnSpc>
                <a:spcPct val="115000"/>
              </a:lnSpc>
            </a:pPr>
            <a:r>
              <a:rPr sz="1800" b="0">
                <a:solidFill>
                  <a:srgbClr val="CFFAFE"/>
                </a:solidFill>
                <a:latin typeface="Inter"/>
              </a:rPr>
              <a:t>Tell me what you want me to build live next — drop it in the comments.</a:t>
            </a:r>
          </a:p>
        </p:txBody>
      </p:sp>
      <p:sp>
        <p:nvSpPr>
          <p:cNvPr id="9" name="Rounded Rectangle 8"/>
          <p:cNvSpPr/>
          <p:nvPr/>
        </p:nvSpPr>
        <p:spPr>
          <a:xfrm>
            <a:off x="731520" y="4114800"/>
            <a:ext cx="10515600" cy="777240"/>
          </a:xfrm>
          <a:prstGeom prst="roundRect">
            <a:avLst>
              <a:gd name="adj" fmla="val 10000"/>
            </a:avLst>
          </a:prstGeom>
          <a:solidFill>
            <a:srgbClr val="0F2A5C"/>
          </a:solidFill>
          <a:ln w="1270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06240"/>
            <a:ext cx="10058400" cy="365760"/>
          </a:xfrm>
          <a:prstGeom prst="rect">
            <a:avLst/>
          </a:prstGeom>
          <a:noFill/>
        </p:spPr>
        <p:txBody>
          <a:bodyPr wrap="square" lIns="0" rIns="0" tIns="0" bIns="0">
            <a:spAutoFit/>
          </a:bodyPr>
          <a:lstStyle/>
          <a:p>
            <a:pPr algn="l">
              <a:lnSpc>
                <a:spcPct val="115000"/>
              </a:lnSpc>
            </a:pPr>
            <a:r>
              <a:rPr sz="1000" b="1">
                <a:solidFill>
                  <a:srgbClr val="FF9900"/>
                </a:solidFill>
                <a:latin typeface="Inter"/>
              </a:rPr>
              <a:t>AWS WHAT’S NEW · OFFICIAL ANNOUNCEMENT</a:t>
            </a:r>
          </a:p>
        </p:txBody>
      </p:sp>
      <p:sp>
        <p:nvSpPr>
          <p:cNvPr id="11" name="TextBox 10"/>
          <p:cNvSpPr txBox="1"/>
          <p:nvPr/>
        </p:nvSpPr>
        <p:spPr>
          <a:xfrm>
            <a:off x="914400" y="4434840"/>
            <a:ext cx="10058400" cy="457200"/>
          </a:xfrm>
          <a:prstGeom prst="rect">
            <a:avLst/>
          </a:prstGeom>
          <a:noFill/>
        </p:spPr>
        <p:txBody>
          <a:bodyPr wrap="square" lIns="0" rIns="0" tIns="0" bIns="0">
            <a:spAutoFit/>
          </a:bodyPr>
          <a:lstStyle/>
          <a:p>
            <a:pPr algn="l">
              <a:lnSpc>
                <a:spcPct val="115000"/>
              </a:lnSpc>
            </a:pPr>
            <a:r>
              <a:rPr sz="1200" b="0">
                <a:solidFill>
                  <a:srgbClr val="FFFFFF"/>
                </a:solidFill>
                <a:latin typeface="Menlo"/>
              </a:rPr>
              <a:t>aws.amazon.com/about-aws/whats-new/2026/05/opensearch-ui-cross-region-data-access-domains</a:t>
            </a:r>
          </a:p>
        </p:txBody>
      </p:sp>
      <p:sp>
        <p:nvSpPr>
          <p:cNvPr id="12" name="Rounded Rectangle 11"/>
          <p:cNvSpPr/>
          <p:nvPr/>
        </p:nvSpPr>
        <p:spPr>
          <a:xfrm>
            <a:off x="731520" y="5029200"/>
            <a:ext cx="10515600" cy="777240"/>
          </a:xfrm>
          <a:prstGeom prst="roundRect">
            <a:avLst>
              <a:gd name="adj" fmla="val 10000"/>
            </a:avLst>
          </a:prstGeom>
          <a:solidFill>
            <a:srgbClr val="0F2A5C"/>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120640"/>
            <a:ext cx="10058400" cy="365760"/>
          </a:xfrm>
          <a:prstGeom prst="rect">
            <a:avLst/>
          </a:prstGeom>
          <a:noFill/>
        </p:spPr>
        <p:txBody>
          <a:bodyPr wrap="square" lIns="0" rIns="0" tIns="0" bIns="0">
            <a:spAutoFit/>
          </a:bodyPr>
          <a:lstStyle/>
          <a:p>
            <a:pPr algn="l">
              <a:lnSpc>
                <a:spcPct val="115000"/>
              </a:lnSpc>
            </a:pPr>
            <a:r>
              <a:rPr sz="1000" b="1">
                <a:solidFill>
                  <a:srgbClr val="06B6D4"/>
                </a:solidFill>
                <a:latin typeface="Inter"/>
              </a:rPr>
              <a:t>WORKED EXAMPLE · SOURCE CODE</a:t>
            </a:r>
          </a:p>
        </p:txBody>
      </p:sp>
      <p:sp>
        <p:nvSpPr>
          <p:cNvPr id="14" name="TextBox 13"/>
          <p:cNvSpPr txBox="1"/>
          <p:nvPr/>
        </p:nvSpPr>
        <p:spPr>
          <a:xfrm>
            <a:off x="914400" y="5349240"/>
            <a:ext cx="10058400" cy="457200"/>
          </a:xfrm>
          <a:prstGeom prst="rect">
            <a:avLst/>
          </a:prstGeom>
          <a:noFill/>
        </p:spPr>
        <p:txBody>
          <a:bodyPr wrap="square" lIns="0" rIns="0" tIns="0" bIns="0">
            <a:spAutoFit/>
          </a:bodyPr>
          <a:lstStyle/>
          <a:p>
            <a:pPr algn="l">
              <a:lnSpc>
                <a:spcPct val="115000"/>
              </a:lnSpc>
            </a:pPr>
            <a:r>
              <a:rPr sz="1200" b="0">
                <a:solidFill>
                  <a:srgbClr val="FFFFFF"/>
                </a:solidFill>
                <a:latin typeface="Menlo"/>
              </a:rPr>
              <a:t>github.com/javakishore-veleti/FX-Trade-Analytics-AWs-OpenSearch</a:t>
            </a:r>
          </a:p>
        </p:txBody>
      </p:sp>
      <p:sp>
        <p:nvSpPr>
          <p:cNvPr id="15" name="TextBox 14"/>
          <p:cNvSpPr txBox="1"/>
          <p:nvPr/>
        </p:nvSpPr>
        <p:spPr>
          <a:xfrm>
            <a:off x="731520" y="6263640"/>
            <a:ext cx="10058400" cy="365760"/>
          </a:xfrm>
          <a:prstGeom prst="rect">
            <a:avLst/>
          </a:prstGeom>
          <a:noFill/>
        </p:spPr>
        <p:txBody>
          <a:bodyPr wrap="square" lIns="0" rIns="0" tIns="0" bIns="0">
            <a:spAutoFit/>
          </a:bodyPr>
          <a:lstStyle/>
          <a:p>
            <a:pPr algn="l">
              <a:lnSpc>
                <a:spcPct val="115000"/>
              </a:lnSpc>
            </a:pPr>
            <a:r>
              <a:rPr sz="1100" b="0">
                <a:solidFill>
                  <a:srgbClr val="94A3B8"/>
                </a:solidFill>
                <a:latin typeface="Inter"/>
              </a:rPr>
              <a:t>Channel: Training My Hobby · Series: AWS What's New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