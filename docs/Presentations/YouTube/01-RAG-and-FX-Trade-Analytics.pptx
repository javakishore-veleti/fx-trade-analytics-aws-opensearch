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RAG Mastery, episode one. I'm Kishore, and over the next fifteen minutes I'm going to give you the clearest possible mental model for Retrieval-Augmented Generation — what it is, why it exists, the moving parts you actually need, and how it lands on a real project. The reason most RAG content feels hand-wavy is that it stops at the toy notebook. We're not going to do that. We'll use a real-time FX trading platform that I built end-to-end as the running example, because real production data has all the messiness — multiple sources, freshness windows, access controls, exact-match requirements — that RAG actually has to deal with. By the end of this video you should be able to explain RAG to a colleague and know exactly what to build first when you start your own.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channel context before we dive in. If you're new here — RAG stands for Retrieval-Augmented Generation. The one-line definition: give the language model the right context at query time, fetched from a knowledge source you trust. No retraining, no fine-tuning, no GPUs. Just smarter prompting at runtime. The reason this whole series exists is that most RAG tutorials online use toy datasets — the same five Wikipedia articles or a folder of PDFs. That's fine for a demo, useless for production. We're going to use real industry data across seven verticals — banking, healthcare, biomed, auto, education, finance, search — and we'll build the same end-to-end pipeline for each: ingestion, chunking, embedding, retrieval, reranking, generation, evaluation, and operations. By the time we're done with the series you'll have a template you can fork for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seven verticals we'll cover across the series. Auto, banking, finance, biomed, healthcare, education, and search. Each one has its own dataset and its own flavour of retrieval challenge. Auto is video and time-series logs — wide rows. Banking is sanctions and AML — exact-match recall matters more than semantic similarity. Finance is long earnings transcripts where summarization quality matters. Biomed is dense scientific abstracts. Healthcare is de-identified clinical notes with strict access controls. Education is structured textbook content. And search uses MS MARCO-style question-passage pairs as a baseline benchmark. Today we're in the banking and finance lane, working with a real FX trading project I built end-to-end. If a different vertical interests you more, drop a comment — I prioritize the next episode based on what people ask for. Now let's actually look at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entire project on one slide — and that's the only infrastructure slide you're going to get, because the channel is about RAG, not about FX trading. Left to right: a customer places a trade through the customer portal on port 4201; the trade service on 8080 validates the currency pair against the master-data allow-list; it drops the validated trade into the Kafka trade-events topic; the risk service consumes that, computes a risk level — LOW, MEDIUM or HIGH — and republishes to trade-events-enriched; the indexer consumes that and writes to OpenSearch — and crucially, partitioned by region, so we have fx-trades-us-east-1, fx-trades-eu-west-1 and so on. The side branches: master data on 8083 backed by Postgres and Liquibase; the admin portal on 4200 for managing reference data; the standard observability stack — OpenSearch dashboards, Grafana, Kafka UI. Stack, streaming, search, deploy in the bottom row. From here on, I'm going to treat this project as the worked example for everything RAG-related — every concept will land on this concrete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FX trade data as the worked example for RAG? Four reasons specifically. One — multi-source. A trade isn't just a row; it has context from master data, sanctions lists, news feeds, internal policy. RAG was literally invented to weave together signals from different sources at query time. Two — real-time. Trades stream in constantly; an answer based on yesterday's data is useless. RAG with a properly indexed live store handles freshness in a way fine-tuning never can. Three — high stakes. If the model hallucinates which trades were high-risk, that's a compliance incident, not a quirky output. Citations and grounded answers are non-negotiable. Four — multi-tenant. Region-partitioned data with access controls is the same shape as enterprise RAG over per-customer knowledge bases, per-team wikis, per-tenant tickets. These four properties together describe nearly every enterprise RAG problem you'll see in the wild.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RAG distilled to one line: retrieve relevant context, stuff it into the prompt, let the model answer using that context. No retraining. No fine-tuning. Just smarter prompting at runtime. Look at the comparison. Without RAG, the model sees only the user's question. It has zero knowledge of your trade book — none of those trades were ever in its training data, and even if they were, they're stale. So it does what models do when they don't know: guesses confidently, paraphrases, sometimes invents trade IDs that don't exist. With RAG, before we call the model, we hit OpenSearch, pull the twelve actual trades that match the filter, drop them into the prompt, and ask the model to summarise WITH CITATIONS. Same question, completely different outcome. The model becomes a reasoning engine over your data, not a guesser. That's the entire idea — everything else in this video is plumbing.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and you should be able to draw this from memory by the end of this video. Step one — query, the user asks a question. Step two — embed, we run that question through an embedding model and get back a vector, typically 1536 numbers. Step three — retrieve, we use that vector to do a nearest-neighbour search in our vector store and get back the top-K most similar known passages. Step four — augment, we build a prompt that includes those passages plus the original question. Step five — generate, the LLM produces an answer grounded in the context we gave it. Step six — cite, we return both the answer and the source IDs we used so the UI can link back to evidence. Cost-wise, steps two and three are sub-100 milliseconds and effectively free. Step five is the only call that pays for tokens. So the optimization rule that drives everything else: smaller, better context beats larger, weaker context every time. We'll come back to this rule throughout the video.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one of five — embeddings. An embedding model takes text and turns it into a dense vector of numbers, where similar meanings produce similar vectors. The single most important rule: use the same embedding model on the document side and the query side. Always. If you embed your trades with OpenAI's ada-3 and then query with sentence-transformers, you'll get garbage results — the vector spaces are simply different. Beyond that — bigger isn't necessarily better. 1536 dimensions from OpenAI is plenty for most workloads. Domain-specific open models like BGE or E5 often beat general-purpose ones on niche corpora — biomedical text, legal contracts, code. And if you swap embedding models later, you have to re-embed every single document; the vectors aren't portable. For our FX example you can see on the right — we embed each trade as a short canonical string of its key fields, and suddenly 'find me trades like this one' becomes a single vector lookup. That's the whole magic.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two — the vector store. Honest take: start with pgvector in the Postgres database you already have. It's free, transactional, indexable, and comfortable up to several million vectors. Most teams never need more than that. Pinecone and the other managed services are great when you genuinely don't want to operate a database, when you need horizontal sharding, or when you're past tens of millions of vectors. Weaviate and Qdrant are open-source middle-grounds — self-host or use the cloud, with hybrid search built in, which we'll discuss in a few slides. FAISS is a library, not a database; great for notebooks and on-disk inference but no auth, no concurrency, no ops story. The default rule: pick the boring one. The Postgres you already run for your application is the right answer eight times out of ten. Move to managed when scale or ops actually forces you, not when a blog post tells you 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three — retrieval. And this is the part that most people underweight. Retrieval is far more than just vector search. Four things to layer in. One — top-K vector search itself; pull the K nearest vectors, where K is typically twenty to fifty, not the three or five you'll see in tutorials. Two — pre-filter by metadata. For our FX example, region, time window, trader-book — apply these filters BEFORE the similarity search, otherwise you waste your K budget on irrelevant rows. Three — rerank with a cross-encoder. Pull a wide candidate set with the fast bi-encoder, then re-score the top fifty with a slower, more accurate cross-encoder model that can attend to query and document jointly. Massive quality gain for a small latency cost. Four — deduplicate near-clones. Otherwise the LLM sees the same fact paraphrased five times and weights it five times. The single biggest lesson I've learned: retriever quality matters more than which LLM you pick. A great retriever with GPT-3.5 beats a weak one with GPT-4. Spend your time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four — augmentation. This is just prompt engineering with discipline. Look at the template on the left. Three things stand out. First — a strict instruction to use ONLY the context provided. Without that, the model will quietly fall back to its training data and you'll have no idea. Second — explicit instruction to cite source IDs. Citations turn answers into something you can audit. Third — explicit permission to say 'I don't know' when the context is empty. Models hate to admit ignorance unless you give them a graceful exit. Five rules to follow on the right. Cite source IDs. Cap your context tokens — runaway context costs real money and actually hurts answer quality past a point. Order retrieved passages best to worst — recency bias matters. Demand the I-don't-know answer. And use the same template every call so when you A/B test, you change one variable at a time. Augmentation isn't glamorous, but discipline here is what separates a demo from a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five — generation. The fun part, but also the most expensive. Five practical rules. One — pick a model that supports structured output, ideally JSON-schema-constrained generation. You want answers AND citations in machine-readable form, not free-text you have to regex-parse. Two — temperature low. Zero to 0.3 for factual RAG; higher only when you're explicitly synthesising or generating creative text. Higher temperature is the enemy of groundedness. Three — stream the answer to the user. Readers tolerate a lot more latency when they can see progress. Four — always emit the source IDs you used. The UI should make these clickable so users can verify the underlying evidence. Five — log EVERYTHING. The full prompt, the retrieved IDs, the answer, the latency, the cost. Debugging RAG without logs is genuinely hopeless. When something goes wrong in production, your logs are the only thing that lets you trace it backwards through retrieval, filtering, and the prompt.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put all five components together with our worked example. User asks: why are we seeing more high-risk USD trades from us-east-1 since Tuesday? Step one — filter. Apply hard filters first: region equals us-east-1, riskLevel equals HIGH, timestamp greater than April thirtieth. This is a basic OpenSearch query and it shrinks the candidate pool from millions to maybe a few thousand. Step two — embed. We embed the user's question and find the fifty trades whose embeddings are closest. Step three — rerank. A cross-encoder picks the eight most QUESTION-relevant trades from those fifty. Step four — generate. The LLM gets those eight trades plus the question, summarises the trend in plain English, and cites trade IDs T-101, T-117, and so on. The user can click any of those IDs and jump to the underlying record. The really nice property here is that OpenSearch is both the retriever AND the data plane. We don't need a separate vector database — pgvector or Pinecone — because OpenSearch supports both keyword filtering and dense vector search natively. One system, one query, one set of access controls.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search. This is where a lot of teams get burned. Pure vector search has a critical weakness — it misses exact identifiers. Trade ID T-12345, sanctions list name 'OFAC SDN', ticker symbol AAPL. The vector for 'T-12345' is essentially noise; semantically meaningless. Pure keyword search has the opposite weakness — it misses paraphrase. The user types 'large dollar trades' and your BM25 index has nothing matching the literal word 'large'. The answer, almost always, is to run both. Vector for paraphrase and semantic similarity. Keyword for exact matches and proper nouns. Then combine the two ranked lists. The simplest, most robust way to combine is Reciprocal Rank Fusion — RRF — which just sums 1/(k+rank) across the two lists. No hyperparameters, no tuning, and it almost always beats either method alone. If you remember one technique from this video, make it RRF.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This is the most underrated decision in RAG, full stop. The default in every framework is something like 'split into 512-token chunks with 50-token overlap.' That's almost never right for your actual data. Chunk size sets your retrieval granularity — too small and the retriever returns fragments without context; too large and you waste prompt tokens on irrelevance. Overlap of 10-15 percent helps when answers happen to straddle a boundary. Semantic chunking — splitting on headings, paragraph breaks, function definitions, transcript turns — almost always beats naïve fixed-size chunking. And here's the trick most people miss: store the WHOLE document alongside each chunk, as metadata. The chunk drives retrieval; the full document gets passed to the LLM for context. For our FX example chunking is mercifully simple — one chunk per trade is the natural unit. Each trade is small, structured, self-contained. Compare that to chunking a thousand-page legal contract or a four-hour earnings call transcript and you'll see why this slide exists.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The thing nobody wants to do, the thing that separates real RAG systems from demos. Without metrics, you can't tell if yesterday's prompt change made things better or worse. Track four categories. One — retrieval quality. Precision-at-K asks 'of the K passages we retrieved, how many were relevant?' Recall-at-K asks 'of all relevant passages that exist, how many did we find?' MRR — Mean Reciprocal Rank — is great when there's typically one right answer. Two — faithfulness. Does the generated answer actually match the context, or did the model wander off and hallucinate? This is usually scored by another LLM. Three — answer relevance. Does the answer actually address the question, even if it's faithful? Four — latency and cost. P95 milliseconds, tokens per query, dollars per hundred queries. Tools — Ragas, TruLens, DeepEval. Or you can write thirty lines of pytest with a hand-curated test set. The point isn't tooling sophistication — the point is you measure SOMETHING so changes are comparable. If you take one thing from this video, it's: build the eval harness early.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patterns. Four things you absolutely need before going live. One — cache aggressively. The vast majority of user queries repeat with minor variation. Hash the normalized query plus filters, store the answer, return it on hit. You'll cut LLM bills by 70 percent or more. Two — citations always, never optional. Every answer carries the source IDs it used; the UI links each citation back to the underlying record. This single pattern transforms user trust — they go from 'is this right?' to 'let me click and verify.' Three — observability. Log the query, the retrieved IDs, the full prompt, the answer, the latency, the cost — for every single request. Without this you cannot debug RAG in production; the system is too non-deterministic. Four — guardrails. PII redaction before logging, max context token caps, prompt-injection filtering on user input. The injection threat is real — users will try to trick the model into ignoring its instructions. Skip these patterns and you'll have a great demo and a bad production incident.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cheat sheet for the rest of the series. Models — pick OpenAI or Anthropic for the easiest starting point; switch to Llama 3 or Mistral when you need open-weights or on-prem. Embeddings — OpenAI's text-embedding-3 is fine for general purpose; BGE or E5 if you have a domain corpus. Stores — pgvector first, almost always. Move to Pinecone or Weaviate when you actually have to. Orchestration — LangChain has the biggest ecosystem and the most footguns; LlamaIndex is more focused on retrieval; plain Python is honestly fine for most projects and gives you the cleanest debugging story. Evaluation — Ragas to start, TruLens or DeepEval when you need more metrics. The meta-rule: pick one per column and SHIP. Do not spend a week comparing every option before you build your first version. Start simple, ship, measure, then add complexity only when your metrics force you to. Speed of iteration beats sophistication of stack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look at what's coming next. Episode two — embeddings deep dive. We'll compare OpenAI ada-3, the various BGE flavours, and open-source sentence-transformers, and I'll show you the actual quality difference on a real corpus. Episode three — vector stores benchmarked side by side. pgvector versus Pinecone versus Weaviate on the same data, the same queries, with timings and costs. Then we shift into vertical case studies. Episode four — banking sanctions screening with RAG, working with public OFAC data. Episode five — healthcare, querying clinical notes safely with PII redaction and access control. Episode six — the one most channels skip — building the evaluation harness, because if you remember nothing else from this series, remember that you can't improve what you can't measure. Subscribe so you don't miss any of these, and tell me in the comments which one you want me to prioritize.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that's RAG Mastery, episode one. If this gave you a clearer mental model of RAG, smash the like button — it genuinely helps the channel. Subscribe so you don't miss the embeddings deep dive next week. Drop a comment with which vertical you want me to ship first — banking, healthcare, biomed, auto, education, or search. And the full source code for the FX trading worked example I showed today is in the description and on the slide here on screen — go fork it, break it, build something on top of it. Thanks for watching. See you in episode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457200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10058400" cy="365760"/>
          </a:xfrm>
          <a:prstGeom prst="rect">
            <a:avLst/>
          </a:prstGeom>
          <a:noFill/>
        </p:spPr>
        <p:txBody>
          <a:bodyPr wrap="square" lIns="0" rIns="0" tIns="0" bIns="0">
            <a:spAutoFit/>
          </a:bodyPr>
          <a:lstStyle/>
          <a:p>
            <a:pPr algn="l">
              <a:lnSpc>
                <a:spcPct val="115000"/>
              </a:lnSpc>
            </a:pPr>
            <a:r>
              <a:rPr sz="1400" b="1">
                <a:solidFill>
                  <a:srgbClr val="06B6D4"/>
                </a:solidFill>
                <a:latin typeface="Inter"/>
              </a:rPr>
              <a:t>TRAINING MY HOBBY · YOUTUBE · EPISODE 01</a:t>
            </a:r>
          </a:p>
        </p:txBody>
      </p:sp>
      <p:sp>
        <p:nvSpPr>
          <p:cNvPr id="7" name="TextBox 6"/>
          <p:cNvSpPr txBox="1"/>
          <p:nvPr/>
        </p:nvSpPr>
        <p:spPr>
          <a:xfrm>
            <a:off x="731520" y="2468880"/>
            <a:ext cx="10972800" cy="1371600"/>
          </a:xfrm>
          <a:prstGeom prst="rect">
            <a:avLst/>
          </a:prstGeom>
          <a:noFill/>
        </p:spPr>
        <p:txBody>
          <a:bodyPr wrap="square" lIns="0" rIns="0" tIns="0" bIns="0">
            <a:spAutoFit/>
          </a:bodyPr>
          <a:lstStyle/>
          <a:p>
            <a:pPr algn="l">
              <a:lnSpc>
                <a:spcPct val="115000"/>
              </a:lnSpc>
            </a:pPr>
            <a:r>
              <a:rPr sz="7200" b="1">
                <a:solidFill>
                  <a:srgbClr val="FFFFFF"/>
                </a:solidFill>
                <a:latin typeface="Inter"/>
              </a:rPr>
              <a:t>RAG Mastery</a:t>
            </a:r>
          </a:p>
        </p:txBody>
      </p:sp>
      <p:sp>
        <p:nvSpPr>
          <p:cNvPr id="8" name="TextBox 7"/>
          <p:cNvSpPr txBox="1"/>
          <p:nvPr/>
        </p:nvSpPr>
        <p:spPr>
          <a:xfrm>
            <a:off x="731520" y="3749039"/>
            <a:ext cx="10972800" cy="822960"/>
          </a:xfrm>
          <a:prstGeom prst="rect">
            <a:avLst/>
          </a:prstGeom>
          <a:noFill/>
        </p:spPr>
        <p:txBody>
          <a:bodyPr wrap="square" lIns="0" rIns="0" tIns="0" bIns="0">
            <a:spAutoFit/>
          </a:bodyPr>
          <a:lstStyle/>
          <a:p>
            <a:pPr algn="l">
              <a:lnSpc>
                <a:spcPct val="115000"/>
              </a:lnSpc>
            </a:pPr>
            <a:r>
              <a:rPr sz="2600" b="0">
                <a:solidFill>
                  <a:srgbClr val="CFFAFE"/>
                </a:solidFill>
                <a:latin typeface="Inter"/>
              </a:rPr>
              <a:t>Retrieval-Augmented Generation, end to end</a:t>
            </a:r>
          </a:p>
        </p:txBody>
      </p:sp>
      <p:sp>
        <p:nvSpPr>
          <p:cNvPr id="9" name="TextBox 8"/>
          <p:cNvSpPr txBox="1"/>
          <p:nvPr/>
        </p:nvSpPr>
        <p:spPr>
          <a:xfrm>
            <a:off x="731520" y="4572000"/>
            <a:ext cx="10972800" cy="548640"/>
          </a:xfrm>
          <a:prstGeom prst="rect">
            <a:avLst/>
          </a:prstGeom>
          <a:noFill/>
        </p:spPr>
        <p:txBody>
          <a:bodyPr wrap="square" lIns="0" rIns="0" tIns="0" bIns="0">
            <a:spAutoFit/>
          </a:bodyPr>
          <a:lstStyle/>
          <a:p>
            <a:pPr algn="l">
              <a:lnSpc>
                <a:spcPct val="115000"/>
              </a:lnSpc>
            </a:pPr>
            <a:r>
              <a:rPr sz="1800" b="0">
                <a:solidFill>
                  <a:srgbClr val="E2E8F0"/>
                </a:solidFill>
                <a:latin typeface="Inter"/>
              </a:rPr>
              <a:t>Worked example: a real-time FX trading platform · ~15 minutes</a:t>
            </a:r>
          </a:p>
        </p:txBody>
      </p:sp>
      <p:sp>
        <p:nvSpPr>
          <p:cNvPr id="10" name="TextBox 9"/>
          <p:cNvSpPr txBox="1"/>
          <p:nvPr/>
        </p:nvSpPr>
        <p:spPr>
          <a:xfrm>
            <a:off x="731520" y="5943600"/>
            <a:ext cx="10972800" cy="365760"/>
          </a:xfrm>
          <a:prstGeom prst="rect">
            <a:avLst/>
          </a:prstGeom>
          <a:noFill/>
        </p:spPr>
        <p:txBody>
          <a:bodyPr wrap="square" lIns="0" rIns="0" tIns="0" bIns="0">
            <a:spAutoFit/>
          </a:bodyPr>
          <a:lstStyle/>
          <a:p>
            <a:pPr algn="l">
              <a:lnSpc>
                <a:spcPct val="115000"/>
              </a:lnSpc>
            </a:pPr>
            <a:r>
              <a:rPr sz="1200" b="1">
                <a:solidFill>
                  <a:srgbClr val="94A3B8"/>
                </a:solidFill>
                <a:latin typeface="Inter"/>
              </a:rPr>
              <a:t>Hosted by Kishore Veleti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02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MASTERY · CHANNEL SCOPE · 1 OF 2</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What this channel covers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155448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94560"/>
            <a:ext cx="10332720" cy="457200"/>
          </a:xfrm>
          <a:prstGeom prst="rect">
            <a:avLst/>
          </a:prstGeom>
          <a:noFill/>
        </p:spPr>
        <p:txBody>
          <a:bodyPr wrap="square" lIns="0" rIns="0" tIns="0" bIns="0">
            <a:spAutoFit/>
          </a:bodyPr>
          <a:lstStyle/>
          <a:p>
            <a:pPr algn="l">
              <a:lnSpc>
                <a:spcPct val="115000"/>
              </a:lnSpc>
            </a:pPr>
            <a:r>
              <a:rPr sz="2200" b="1">
                <a:solidFill>
                  <a:srgbClr val="0F2A5C"/>
                </a:solidFill>
                <a:latin typeface="Inter"/>
              </a:rPr>
              <a:t>RAG · Retrieval-Augmented Generation</a:t>
            </a:r>
          </a:p>
        </p:txBody>
      </p:sp>
      <p:sp>
        <p:nvSpPr>
          <p:cNvPr id="13" name="TextBox 12"/>
          <p:cNvSpPr txBox="1"/>
          <p:nvPr/>
        </p:nvSpPr>
        <p:spPr>
          <a:xfrm>
            <a:off x="914400" y="2697480"/>
            <a:ext cx="10332720" cy="868680"/>
          </a:xfrm>
          <a:prstGeom prst="rect">
            <a:avLst/>
          </a:prstGeom>
          <a:noFill/>
        </p:spPr>
        <p:txBody>
          <a:bodyPr wrap="square" lIns="0" rIns="0" tIns="0" bIns="0">
            <a:spAutoFit/>
          </a:bodyPr>
          <a:lstStyle/>
          <a:p>
            <a:pPr algn="l">
              <a:lnSpc>
                <a:spcPct val="140000"/>
              </a:lnSpc>
            </a:pPr>
            <a:r>
              <a:rPr sz="1500" b="0">
                <a:solidFill>
                  <a:srgbClr val="334155"/>
                </a:solidFill>
                <a:latin typeface="Inter"/>
              </a:rPr>
              <a:t>Give the LLM the right context at query time — fetched from a knowledge source you trust. No retraining. Just better, grounded answers.</a:t>
            </a:r>
          </a:p>
        </p:txBody>
      </p:sp>
      <p:sp>
        <p:nvSpPr>
          <p:cNvPr id="14" name="Rounded Rectangle 13"/>
          <p:cNvSpPr/>
          <p:nvPr/>
        </p:nvSpPr>
        <p:spPr>
          <a:xfrm>
            <a:off x="548640" y="3840480"/>
            <a:ext cx="11064240" cy="22860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23360"/>
            <a:ext cx="105156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WHY THIS SERIES EXISTS</a:t>
            </a:r>
          </a:p>
        </p:txBody>
      </p:sp>
      <p:sp>
        <p:nvSpPr>
          <p:cNvPr id="16" name="TextBox 15"/>
          <p:cNvSpPr txBox="1"/>
          <p:nvPr/>
        </p:nvSpPr>
        <p:spPr>
          <a:xfrm>
            <a:off x="868680" y="4434840"/>
            <a:ext cx="365760" cy="365760"/>
          </a:xfrm>
          <a:prstGeom prst="rect">
            <a:avLst/>
          </a:prstGeom>
          <a:noFill/>
        </p:spPr>
        <p:txBody>
          <a:bodyPr wrap="square" lIns="0" rIns="0" tIns="0" bIns="0">
            <a:spAutoFit/>
          </a:bodyPr>
          <a:lstStyle/>
          <a:p>
            <a:pPr algn="l">
              <a:lnSpc>
                <a:spcPct val="115000"/>
              </a:lnSpc>
            </a:pPr>
            <a:r>
              <a:rPr sz="1800" b="0">
                <a:solidFill>
                  <a:srgbClr val="06B6D4"/>
                </a:solidFill>
                <a:latin typeface="Inter"/>
              </a:rPr>
              <a:t>●</a:t>
            </a:r>
          </a:p>
        </p:txBody>
      </p:sp>
      <p:sp>
        <p:nvSpPr>
          <p:cNvPr id="17" name="TextBox 16"/>
          <p:cNvSpPr txBox="1"/>
          <p:nvPr/>
        </p:nvSpPr>
        <p:spPr>
          <a:xfrm>
            <a:off x="1188720" y="4434840"/>
            <a:ext cx="10058400" cy="457200"/>
          </a:xfrm>
          <a:prstGeom prst="rect">
            <a:avLst/>
          </a:prstGeom>
          <a:noFill/>
        </p:spPr>
        <p:txBody>
          <a:bodyPr wrap="square" lIns="0" rIns="0" tIns="0" bIns="0">
            <a:spAutoFit/>
          </a:bodyPr>
          <a:lstStyle/>
          <a:p>
            <a:pPr algn="l">
              <a:lnSpc>
                <a:spcPct val="115000"/>
              </a:lnSpc>
            </a:pPr>
            <a:r>
              <a:rPr sz="1500" b="0">
                <a:solidFill>
                  <a:srgbClr val="0F172A"/>
                </a:solidFill>
                <a:latin typeface="Inter"/>
              </a:rPr>
              <a:t>Most RAG content is toy examples — we build for real industry data</a:t>
            </a:r>
          </a:p>
        </p:txBody>
      </p:sp>
      <p:sp>
        <p:nvSpPr>
          <p:cNvPr id="18" name="TextBox 17"/>
          <p:cNvSpPr txBox="1"/>
          <p:nvPr/>
        </p:nvSpPr>
        <p:spPr>
          <a:xfrm>
            <a:off x="868680" y="4937760"/>
            <a:ext cx="365760" cy="365760"/>
          </a:xfrm>
          <a:prstGeom prst="rect">
            <a:avLst/>
          </a:prstGeom>
          <a:noFill/>
        </p:spPr>
        <p:txBody>
          <a:bodyPr wrap="square" lIns="0" rIns="0" tIns="0" bIns="0">
            <a:spAutoFit/>
          </a:bodyPr>
          <a:lstStyle/>
          <a:p>
            <a:pPr algn="l">
              <a:lnSpc>
                <a:spcPct val="115000"/>
              </a:lnSpc>
            </a:pPr>
            <a:r>
              <a:rPr sz="1800" b="0">
                <a:solidFill>
                  <a:srgbClr val="06B6D4"/>
                </a:solidFill>
                <a:latin typeface="Inter"/>
              </a:rPr>
              <a:t>●</a:t>
            </a:r>
          </a:p>
        </p:txBody>
      </p:sp>
      <p:sp>
        <p:nvSpPr>
          <p:cNvPr id="19" name="TextBox 18"/>
          <p:cNvSpPr txBox="1"/>
          <p:nvPr/>
        </p:nvSpPr>
        <p:spPr>
          <a:xfrm>
            <a:off x="1188720" y="4937760"/>
            <a:ext cx="10058400" cy="457200"/>
          </a:xfrm>
          <a:prstGeom prst="rect">
            <a:avLst/>
          </a:prstGeom>
          <a:noFill/>
        </p:spPr>
        <p:txBody>
          <a:bodyPr wrap="square" lIns="0" rIns="0" tIns="0" bIns="0">
            <a:spAutoFit/>
          </a:bodyPr>
          <a:lstStyle/>
          <a:p>
            <a:pPr algn="l">
              <a:lnSpc>
                <a:spcPct val="115000"/>
              </a:lnSpc>
            </a:pPr>
            <a:r>
              <a:rPr sz="1500" b="0">
                <a:solidFill>
                  <a:srgbClr val="0F172A"/>
                </a:solidFill>
                <a:latin typeface="Inter"/>
              </a:rPr>
              <a:t>Same patterns reused across seven verticals (next slide)</a:t>
            </a:r>
          </a:p>
        </p:txBody>
      </p:sp>
      <p:sp>
        <p:nvSpPr>
          <p:cNvPr id="20" name="TextBox 19"/>
          <p:cNvSpPr txBox="1"/>
          <p:nvPr/>
        </p:nvSpPr>
        <p:spPr>
          <a:xfrm>
            <a:off x="868680" y="5440680"/>
            <a:ext cx="365760" cy="365760"/>
          </a:xfrm>
          <a:prstGeom prst="rect">
            <a:avLst/>
          </a:prstGeom>
          <a:noFill/>
        </p:spPr>
        <p:txBody>
          <a:bodyPr wrap="square" lIns="0" rIns="0" tIns="0" bIns="0">
            <a:spAutoFit/>
          </a:bodyPr>
          <a:lstStyle/>
          <a:p>
            <a:pPr algn="l">
              <a:lnSpc>
                <a:spcPct val="115000"/>
              </a:lnSpc>
            </a:pPr>
            <a:r>
              <a:rPr sz="1800" b="0">
                <a:solidFill>
                  <a:srgbClr val="06B6D4"/>
                </a:solidFill>
                <a:latin typeface="Inter"/>
              </a:rPr>
              <a:t>●</a:t>
            </a:r>
          </a:p>
        </p:txBody>
      </p:sp>
      <p:sp>
        <p:nvSpPr>
          <p:cNvPr id="21" name="TextBox 20"/>
          <p:cNvSpPr txBox="1"/>
          <p:nvPr/>
        </p:nvSpPr>
        <p:spPr>
          <a:xfrm>
            <a:off x="1188720" y="5440680"/>
            <a:ext cx="10058400" cy="457200"/>
          </a:xfrm>
          <a:prstGeom prst="rect">
            <a:avLst/>
          </a:prstGeom>
          <a:noFill/>
        </p:spPr>
        <p:txBody>
          <a:bodyPr wrap="square" lIns="0" rIns="0" tIns="0" bIns="0">
            <a:spAutoFit/>
          </a:bodyPr>
          <a:lstStyle/>
          <a:p>
            <a:pPr algn="l">
              <a:lnSpc>
                <a:spcPct val="115000"/>
              </a:lnSpc>
            </a:pPr>
            <a:r>
              <a:rPr sz="1500" b="0">
                <a:solidFill>
                  <a:srgbClr val="0F172A"/>
                </a:solidFill>
                <a:latin typeface="Inter"/>
              </a:rPr>
              <a:t>End-to-end: ingestion, retrieval, generation, evaluation, 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03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MASTERY · CHANNEL SCOPE · 2 OF 2</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Seven verticals · real datasets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2697480" cy="365760"/>
          </a:xfrm>
          <a:prstGeom prst="rect">
            <a:avLst/>
          </a:prstGeom>
          <a:solidFill>
            <a:srgbClr val="31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06654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01</a:t>
            </a:r>
          </a:p>
        </p:txBody>
      </p:sp>
      <p:sp>
        <p:nvSpPr>
          <p:cNvPr id="14" name="TextBox 13"/>
          <p:cNvSpPr txBox="1"/>
          <p:nvPr/>
        </p:nvSpPr>
        <p:spPr>
          <a:xfrm>
            <a:off x="548640" y="251460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Auto</a:t>
            </a:r>
          </a:p>
        </p:txBody>
      </p:sp>
      <p:sp>
        <p:nvSpPr>
          <p:cNvPr id="15" name="TextBox 14"/>
          <p:cNvSpPr txBox="1"/>
          <p:nvPr/>
        </p:nvSpPr>
        <p:spPr>
          <a:xfrm>
            <a:off x="548640" y="297180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Driving logs</a:t>
            </a:r>
          </a:p>
        </p:txBody>
      </p:sp>
      <p:sp>
        <p:nvSpPr>
          <p:cNvPr id="16" name="Rounded Rectangle 15"/>
          <p:cNvSpPr/>
          <p:nvPr/>
        </p:nvSpPr>
        <p:spPr>
          <a:xfrm>
            <a:off x="3429000" y="201168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2011680"/>
            <a:ext cx="2697480" cy="3657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206654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02</a:t>
            </a:r>
          </a:p>
        </p:txBody>
      </p:sp>
      <p:sp>
        <p:nvSpPr>
          <p:cNvPr id="19" name="TextBox 18"/>
          <p:cNvSpPr txBox="1"/>
          <p:nvPr/>
        </p:nvSpPr>
        <p:spPr>
          <a:xfrm>
            <a:off x="3429000" y="251460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Banking</a:t>
            </a:r>
          </a:p>
        </p:txBody>
      </p:sp>
      <p:sp>
        <p:nvSpPr>
          <p:cNvPr id="20" name="TextBox 19"/>
          <p:cNvSpPr txBox="1"/>
          <p:nvPr/>
        </p:nvSpPr>
        <p:spPr>
          <a:xfrm>
            <a:off x="3429000" y="297180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OFAC + AML</a:t>
            </a:r>
          </a:p>
        </p:txBody>
      </p:sp>
      <p:sp>
        <p:nvSpPr>
          <p:cNvPr id="21" name="Rounded Rectangle 20"/>
          <p:cNvSpPr/>
          <p:nvPr/>
        </p:nvSpPr>
        <p:spPr>
          <a:xfrm>
            <a:off x="6309360" y="201168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2011680"/>
            <a:ext cx="269748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206654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03</a:t>
            </a:r>
          </a:p>
        </p:txBody>
      </p:sp>
      <p:sp>
        <p:nvSpPr>
          <p:cNvPr id="24" name="TextBox 23"/>
          <p:cNvSpPr txBox="1"/>
          <p:nvPr/>
        </p:nvSpPr>
        <p:spPr>
          <a:xfrm>
            <a:off x="6309360" y="251460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Finance</a:t>
            </a:r>
          </a:p>
        </p:txBody>
      </p:sp>
      <p:sp>
        <p:nvSpPr>
          <p:cNvPr id="25" name="TextBox 24"/>
          <p:cNvSpPr txBox="1"/>
          <p:nvPr/>
        </p:nvSpPr>
        <p:spPr>
          <a:xfrm>
            <a:off x="6309360" y="297180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Earnings calls</a:t>
            </a:r>
          </a:p>
        </p:txBody>
      </p:sp>
      <p:sp>
        <p:nvSpPr>
          <p:cNvPr id="26" name="Rounded Rectangle 25"/>
          <p:cNvSpPr/>
          <p:nvPr/>
        </p:nvSpPr>
        <p:spPr>
          <a:xfrm>
            <a:off x="9189720" y="201168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89720" y="2011680"/>
            <a:ext cx="269748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206654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04</a:t>
            </a:r>
          </a:p>
        </p:txBody>
      </p:sp>
      <p:sp>
        <p:nvSpPr>
          <p:cNvPr id="29" name="TextBox 28"/>
          <p:cNvSpPr txBox="1"/>
          <p:nvPr/>
        </p:nvSpPr>
        <p:spPr>
          <a:xfrm>
            <a:off x="9189720" y="251460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BioMed</a:t>
            </a:r>
          </a:p>
        </p:txBody>
      </p:sp>
      <p:sp>
        <p:nvSpPr>
          <p:cNvPr id="30" name="TextBox 29"/>
          <p:cNvSpPr txBox="1"/>
          <p:nvPr/>
        </p:nvSpPr>
        <p:spPr>
          <a:xfrm>
            <a:off x="9189720" y="297180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PubMed corpus</a:t>
            </a:r>
          </a:p>
        </p:txBody>
      </p:sp>
      <p:sp>
        <p:nvSpPr>
          <p:cNvPr id="31" name="Rounded Rectangle 30"/>
          <p:cNvSpPr/>
          <p:nvPr/>
        </p:nvSpPr>
        <p:spPr>
          <a:xfrm>
            <a:off x="548640" y="370332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703320"/>
            <a:ext cx="2697480" cy="36576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75818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05</a:t>
            </a:r>
          </a:p>
        </p:txBody>
      </p:sp>
      <p:sp>
        <p:nvSpPr>
          <p:cNvPr id="34" name="TextBox 33"/>
          <p:cNvSpPr txBox="1"/>
          <p:nvPr/>
        </p:nvSpPr>
        <p:spPr>
          <a:xfrm>
            <a:off x="548640" y="420624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Healthcare</a:t>
            </a:r>
          </a:p>
        </p:txBody>
      </p:sp>
      <p:sp>
        <p:nvSpPr>
          <p:cNvPr id="35" name="TextBox 34"/>
          <p:cNvSpPr txBox="1"/>
          <p:nvPr/>
        </p:nvSpPr>
        <p:spPr>
          <a:xfrm>
            <a:off x="548640" y="466344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Clinical notes</a:t>
            </a:r>
          </a:p>
        </p:txBody>
      </p:sp>
      <p:sp>
        <p:nvSpPr>
          <p:cNvPr id="36" name="Rounded Rectangle 35"/>
          <p:cNvSpPr/>
          <p:nvPr/>
        </p:nvSpPr>
        <p:spPr>
          <a:xfrm>
            <a:off x="3429000" y="370332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29000" y="3703320"/>
            <a:ext cx="2697480" cy="36576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0" y="375818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06</a:t>
            </a:r>
          </a:p>
        </p:txBody>
      </p:sp>
      <p:sp>
        <p:nvSpPr>
          <p:cNvPr id="39" name="TextBox 38"/>
          <p:cNvSpPr txBox="1"/>
          <p:nvPr/>
        </p:nvSpPr>
        <p:spPr>
          <a:xfrm>
            <a:off x="3429000" y="420624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Education</a:t>
            </a:r>
          </a:p>
        </p:txBody>
      </p:sp>
      <p:sp>
        <p:nvSpPr>
          <p:cNvPr id="40" name="TextBox 39"/>
          <p:cNvSpPr txBox="1"/>
          <p:nvPr/>
        </p:nvSpPr>
        <p:spPr>
          <a:xfrm>
            <a:off x="3429000" y="466344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Textbook + math</a:t>
            </a:r>
          </a:p>
        </p:txBody>
      </p:sp>
      <p:sp>
        <p:nvSpPr>
          <p:cNvPr id="41" name="Rounded Rectangle 40"/>
          <p:cNvSpPr/>
          <p:nvPr/>
        </p:nvSpPr>
        <p:spPr>
          <a:xfrm>
            <a:off x="6309360" y="3703320"/>
            <a:ext cx="2697480" cy="15087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3703320"/>
            <a:ext cx="2697480" cy="3657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3758184"/>
            <a:ext cx="2240280" cy="292608"/>
          </a:xfrm>
          <a:prstGeom prst="rect">
            <a:avLst/>
          </a:prstGeom>
          <a:noFill/>
        </p:spPr>
        <p:txBody>
          <a:bodyPr wrap="square" lIns="0" rIns="0" tIns="0" bIns="0">
            <a:spAutoFit/>
          </a:bodyPr>
          <a:lstStyle/>
          <a:p>
            <a:pPr algn="l">
              <a:lnSpc>
                <a:spcPct val="115000"/>
              </a:lnSpc>
            </a:pPr>
            <a:r>
              <a:rPr sz="1100" b="1">
                <a:solidFill>
                  <a:srgbClr val="FFFFFF"/>
                </a:solidFill>
                <a:latin typeface="Inter"/>
              </a:rPr>
              <a:t>07</a:t>
            </a:r>
          </a:p>
        </p:txBody>
      </p:sp>
      <p:sp>
        <p:nvSpPr>
          <p:cNvPr id="44" name="TextBox 43"/>
          <p:cNvSpPr txBox="1"/>
          <p:nvPr/>
        </p:nvSpPr>
        <p:spPr>
          <a:xfrm>
            <a:off x="6309360" y="4206240"/>
            <a:ext cx="2697480" cy="457200"/>
          </a:xfrm>
          <a:prstGeom prst="rect">
            <a:avLst/>
          </a:prstGeom>
          <a:noFill/>
        </p:spPr>
        <p:txBody>
          <a:bodyPr wrap="square" lIns="0" rIns="0" tIns="0" bIns="0">
            <a:spAutoFit/>
          </a:bodyPr>
          <a:lstStyle/>
          <a:p>
            <a:pPr algn="ctr">
              <a:lnSpc>
                <a:spcPct val="115000"/>
              </a:lnSpc>
            </a:pPr>
            <a:r>
              <a:rPr sz="2000" b="1">
                <a:solidFill>
                  <a:srgbClr val="0F172A"/>
                </a:solidFill>
                <a:latin typeface="Inter"/>
              </a:rPr>
              <a:t>Search</a:t>
            </a:r>
          </a:p>
        </p:txBody>
      </p:sp>
      <p:sp>
        <p:nvSpPr>
          <p:cNvPr id="45" name="TextBox 44"/>
          <p:cNvSpPr txBox="1"/>
          <p:nvPr/>
        </p:nvSpPr>
        <p:spPr>
          <a:xfrm>
            <a:off x="6309360" y="4663440"/>
            <a:ext cx="2697480" cy="365760"/>
          </a:xfrm>
          <a:prstGeom prst="rect">
            <a:avLst/>
          </a:prstGeom>
          <a:noFill/>
        </p:spPr>
        <p:txBody>
          <a:bodyPr wrap="square" lIns="0" rIns="0" tIns="0" bIns="0">
            <a:spAutoFit/>
          </a:bodyPr>
          <a:lstStyle/>
          <a:p>
            <a:pPr algn="ctr">
              <a:lnSpc>
                <a:spcPct val="115000"/>
              </a:lnSpc>
            </a:pPr>
            <a:r>
              <a:rPr sz="1200" b="0">
                <a:solidFill>
                  <a:srgbClr val="64748B"/>
                </a:solidFill>
                <a:latin typeface="Inter"/>
              </a:rPr>
              <a:t>Q-passage pairs</a:t>
            </a:r>
          </a:p>
        </p:txBody>
      </p:sp>
      <p:sp>
        <p:nvSpPr>
          <p:cNvPr id="46" name="Rounded Rectangle 45"/>
          <p:cNvSpPr/>
          <p:nvPr/>
        </p:nvSpPr>
        <p:spPr>
          <a:xfrm>
            <a:off x="548640" y="5440680"/>
            <a:ext cx="11064240" cy="914400"/>
          </a:xfrm>
          <a:prstGeom prst="roundRect">
            <a:avLst>
              <a:gd name="adj" fmla="val 10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532120"/>
            <a:ext cx="10515600" cy="320040"/>
          </a:xfrm>
          <a:prstGeom prst="rect">
            <a:avLst/>
          </a:prstGeom>
          <a:noFill/>
        </p:spPr>
        <p:txBody>
          <a:bodyPr wrap="square" lIns="0" rIns="0" tIns="0" bIns="0">
            <a:spAutoFit/>
          </a:bodyPr>
          <a:lstStyle/>
          <a:p>
            <a:pPr algn="l">
              <a:lnSpc>
                <a:spcPct val="115000"/>
              </a:lnSpc>
            </a:pPr>
            <a:r>
              <a:rPr sz="1000" b="1">
                <a:solidFill>
                  <a:srgbClr val="06B6D4"/>
                </a:solidFill>
                <a:latin typeface="Inter"/>
              </a:rPr>
              <a:t>TODAY: BANKING / FINANCE — VIA AN FX TRADING PROJECT</a:t>
            </a:r>
          </a:p>
        </p:txBody>
      </p:sp>
      <p:sp>
        <p:nvSpPr>
          <p:cNvPr id="48" name="TextBox 47"/>
          <p:cNvSpPr txBox="1"/>
          <p:nvPr/>
        </p:nvSpPr>
        <p:spPr>
          <a:xfrm>
            <a:off x="777240" y="5779008"/>
            <a:ext cx="10515600" cy="548640"/>
          </a:xfrm>
          <a:prstGeom prst="rect">
            <a:avLst/>
          </a:prstGeom>
          <a:noFill/>
        </p:spPr>
        <p:txBody>
          <a:bodyPr wrap="square" lIns="0" rIns="0" tIns="0" bIns="0">
            <a:spAutoFit/>
          </a:bodyPr>
          <a:lstStyle/>
          <a:p>
            <a:pPr algn="l">
              <a:lnSpc>
                <a:spcPct val="140000"/>
              </a:lnSpc>
            </a:pPr>
            <a:r>
              <a:rPr sz="1200" b="0">
                <a:solidFill>
                  <a:srgbClr val="334155"/>
                </a:solidFill>
                <a:latin typeface="Inter"/>
              </a:rPr>
              <a:t>Comment which vertical I should ship next. Code + datasets in the description.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04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PROJECT A · THE WORKED EXAMPLE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FX Trade Analytics — architecture</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6587" y="2194560"/>
            <a:ext cx="1417320" cy="1325880"/>
          </a:xfrm>
          <a:prstGeom prst="roundRect">
            <a:avLst>
              <a:gd name="adj" fmla="val 10000"/>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3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Customer
Portal</a:t>
            </a:r>
          </a:p>
        </p:txBody>
      </p:sp>
      <p:sp>
        <p:nvSpPr>
          <p:cNvPr id="13" name="TextBox 12"/>
          <p:cNvSpPr txBox="1"/>
          <p:nvPr/>
        </p:nvSpPr>
        <p:spPr>
          <a:xfrm>
            <a:off x="6323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4201</a:t>
            </a:r>
          </a:p>
        </p:txBody>
      </p:sp>
      <p:sp>
        <p:nvSpPr>
          <p:cNvPr id="14" name="Right Arrow 13"/>
          <p:cNvSpPr/>
          <p:nvPr/>
        </p:nvSpPr>
        <p:spPr>
          <a:xfrm>
            <a:off x="20130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867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325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Trade
Service</a:t>
            </a:r>
          </a:p>
        </p:txBody>
      </p:sp>
      <p:sp>
        <p:nvSpPr>
          <p:cNvPr id="17" name="TextBox 16"/>
          <p:cNvSpPr txBox="1"/>
          <p:nvPr/>
        </p:nvSpPr>
        <p:spPr>
          <a:xfrm>
            <a:off x="22325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8080</a:t>
            </a:r>
          </a:p>
        </p:txBody>
      </p:sp>
      <p:sp>
        <p:nvSpPr>
          <p:cNvPr id="18" name="Right Arrow 17"/>
          <p:cNvSpPr/>
          <p:nvPr/>
        </p:nvSpPr>
        <p:spPr>
          <a:xfrm>
            <a:off x="36132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786987" y="2194560"/>
            <a:ext cx="1417320" cy="132588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27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Kafka
trade-events</a:t>
            </a:r>
          </a:p>
        </p:txBody>
      </p:sp>
      <p:sp>
        <p:nvSpPr>
          <p:cNvPr id="21" name="TextBox 20"/>
          <p:cNvSpPr txBox="1"/>
          <p:nvPr/>
        </p:nvSpPr>
        <p:spPr>
          <a:xfrm>
            <a:off x="38327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Confluent</a:t>
            </a:r>
          </a:p>
        </p:txBody>
      </p:sp>
      <p:sp>
        <p:nvSpPr>
          <p:cNvPr id="22" name="Right Arrow 21"/>
          <p:cNvSpPr/>
          <p:nvPr/>
        </p:nvSpPr>
        <p:spPr>
          <a:xfrm>
            <a:off x="52134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871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329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Risk
Service</a:t>
            </a:r>
          </a:p>
        </p:txBody>
      </p:sp>
      <p:sp>
        <p:nvSpPr>
          <p:cNvPr id="25" name="TextBox 24"/>
          <p:cNvSpPr txBox="1"/>
          <p:nvPr/>
        </p:nvSpPr>
        <p:spPr>
          <a:xfrm>
            <a:off x="54329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8081</a:t>
            </a:r>
          </a:p>
        </p:txBody>
      </p:sp>
      <p:sp>
        <p:nvSpPr>
          <p:cNvPr id="26" name="Right Arrow 25"/>
          <p:cNvSpPr/>
          <p:nvPr/>
        </p:nvSpPr>
        <p:spPr>
          <a:xfrm>
            <a:off x="68136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87387" y="2194560"/>
            <a:ext cx="1417320" cy="132588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331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Kafka
enriched</a:t>
            </a:r>
          </a:p>
        </p:txBody>
      </p:sp>
      <p:sp>
        <p:nvSpPr>
          <p:cNvPr id="29" name="TextBox 28"/>
          <p:cNvSpPr txBox="1"/>
          <p:nvPr/>
        </p:nvSpPr>
        <p:spPr>
          <a:xfrm>
            <a:off x="70331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
            </a:r>
          </a:p>
        </p:txBody>
      </p:sp>
      <p:sp>
        <p:nvSpPr>
          <p:cNvPr id="30" name="Right Arrow 29"/>
          <p:cNvSpPr/>
          <p:nvPr/>
        </p:nvSpPr>
        <p:spPr>
          <a:xfrm>
            <a:off x="84138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87587" y="2194560"/>
            <a:ext cx="1417320" cy="132588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333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Indexer</a:t>
            </a:r>
          </a:p>
        </p:txBody>
      </p:sp>
      <p:sp>
        <p:nvSpPr>
          <p:cNvPr id="33" name="TextBox 32"/>
          <p:cNvSpPr txBox="1"/>
          <p:nvPr/>
        </p:nvSpPr>
        <p:spPr>
          <a:xfrm>
            <a:off x="86333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8082</a:t>
            </a:r>
          </a:p>
        </p:txBody>
      </p:sp>
      <p:sp>
        <p:nvSpPr>
          <p:cNvPr id="34" name="Right Arrow 33"/>
          <p:cNvSpPr/>
          <p:nvPr/>
        </p:nvSpPr>
        <p:spPr>
          <a:xfrm>
            <a:off x="10014051" y="2697480"/>
            <a:ext cx="164592"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187787" y="2194560"/>
            <a:ext cx="1417320" cy="1325880"/>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33507" y="2377440"/>
            <a:ext cx="1325880" cy="640080"/>
          </a:xfrm>
          <a:prstGeom prst="rect">
            <a:avLst/>
          </a:prstGeom>
          <a:noFill/>
        </p:spPr>
        <p:txBody>
          <a:bodyPr wrap="square" lIns="0" rIns="0" tIns="0" bIns="0">
            <a:spAutoFit/>
          </a:bodyPr>
          <a:lstStyle/>
          <a:p>
            <a:pPr algn="ctr">
              <a:lnSpc>
                <a:spcPct val="120000"/>
              </a:lnSpc>
            </a:pPr>
            <a:r>
              <a:rPr sz="1100" b="1">
                <a:solidFill>
                  <a:srgbClr val="0F172A"/>
                </a:solidFill>
                <a:latin typeface="Inter"/>
              </a:rPr>
              <a:t>OpenSearch
fx-trades-{region}</a:t>
            </a:r>
          </a:p>
        </p:txBody>
      </p:sp>
      <p:sp>
        <p:nvSpPr>
          <p:cNvPr id="37" name="TextBox 36"/>
          <p:cNvSpPr txBox="1"/>
          <p:nvPr/>
        </p:nvSpPr>
        <p:spPr>
          <a:xfrm>
            <a:off x="10233507" y="3108960"/>
            <a:ext cx="1325880" cy="365760"/>
          </a:xfrm>
          <a:prstGeom prst="rect">
            <a:avLst/>
          </a:prstGeom>
          <a:noFill/>
        </p:spPr>
        <p:txBody>
          <a:bodyPr wrap="square" lIns="0" rIns="0" tIns="0" bIns="0">
            <a:spAutoFit/>
          </a:bodyPr>
          <a:lstStyle/>
          <a:p>
            <a:pPr algn="ctr">
              <a:lnSpc>
                <a:spcPct val="115000"/>
              </a:lnSpc>
            </a:pPr>
            <a:r>
              <a:rPr sz="1000" b="0">
                <a:solidFill>
                  <a:srgbClr val="64748B"/>
                </a:solidFill>
                <a:latin typeface="Inter"/>
              </a:rPr>
              <a:t>Per-region</a:t>
            </a:r>
          </a:p>
        </p:txBody>
      </p:sp>
      <p:sp>
        <p:nvSpPr>
          <p:cNvPr id="38" name="Rounded Rectangle 37"/>
          <p:cNvSpPr/>
          <p:nvPr/>
        </p:nvSpPr>
        <p:spPr>
          <a:xfrm>
            <a:off x="640080" y="3840480"/>
            <a:ext cx="3657600" cy="77724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3931920"/>
            <a:ext cx="3291840" cy="320040"/>
          </a:xfrm>
          <a:prstGeom prst="rect">
            <a:avLst/>
          </a:prstGeom>
          <a:noFill/>
        </p:spPr>
        <p:txBody>
          <a:bodyPr wrap="square" lIns="0" rIns="0" tIns="0" bIns="0">
            <a:spAutoFit/>
          </a:bodyPr>
          <a:lstStyle/>
          <a:p>
            <a:pPr algn="l">
              <a:lnSpc>
                <a:spcPct val="115000"/>
              </a:lnSpc>
            </a:pPr>
            <a:r>
              <a:rPr sz="1000" b="1">
                <a:solidFill>
                  <a:srgbClr val="0F2A5C"/>
                </a:solidFill>
                <a:latin typeface="Inter"/>
              </a:rPr>
              <a:t>MASTER DATA · 8083</a:t>
            </a:r>
          </a:p>
        </p:txBody>
      </p:sp>
      <p:sp>
        <p:nvSpPr>
          <p:cNvPr id="40" name="TextBox 39"/>
          <p:cNvSpPr txBox="1"/>
          <p:nvPr/>
        </p:nvSpPr>
        <p:spPr>
          <a:xfrm>
            <a:off x="868680" y="4160520"/>
            <a:ext cx="3291840" cy="411480"/>
          </a:xfrm>
          <a:prstGeom prst="rect">
            <a:avLst/>
          </a:prstGeom>
          <a:noFill/>
        </p:spPr>
        <p:txBody>
          <a:bodyPr wrap="square" lIns="0" rIns="0" tIns="0" bIns="0">
            <a:spAutoFit/>
          </a:bodyPr>
          <a:lstStyle/>
          <a:p>
            <a:pPr algn="l">
              <a:lnSpc>
                <a:spcPct val="115000"/>
              </a:lnSpc>
            </a:pPr>
            <a:r>
              <a:rPr sz="1100" b="0">
                <a:solidFill>
                  <a:srgbClr val="0F2A5C"/>
                </a:solidFill>
                <a:latin typeface="Inter"/>
              </a:rPr>
              <a:t>Postgres + Liquibase · pair allow-list</a:t>
            </a:r>
          </a:p>
        </p:txBody>
      </p:sp>
      <p:sp>
        <p:nvSpPr>
          <p:cNvPr id="41" name="Rounded Rectangle 40"/>
          <p:cNvSpPr/>
          <p:nvPr/>
        </p:nvSpPr>
        <p:spPr>
          <a:xfrm>
            <a:off x="4434840" y="3840480"/>
            <a:ext cx="3657600" cy="77724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63440" y="3931920"/>
            <a:ext cx="3291840" cy="320040"/>
          </a:xfrm>
          <a:prstGeom prst="rect">
            <a:avLst/>
          </a:prstGeom>
          <a:noFill/>
        </p:spPr>
        <p:txBody>
          <a:bodyPr wrap="square" lIns="0" rIns="0" tIns="0" bIns="0">
            <a:spAutoFit/>
          </a:bodyPr>
          <a:lstStyle/>
          <a:p>
            <a:pPr algn="l">
              <a:lnSpc>
                <a:spcPct val="115000"/>
              </a:lnSpc>
            </a:pPr>
            <a:r>
              <a:rPr sz="1000" b="1">
                <a:solidFill>
                  <a:srgbClr val="0F2A5C"/>
                </a:solidFill>
                <a:latin typeface="Inter"/>
              </a:rPr>
              <a:t>ADMIN PORTAL · 4200</a:t>
            </a:r>
          </a:p>
        </p:txBody>
      </p:sp>
      <p:sp>
        <p:nvSpPr>
          <p:cNvPr id="43" name="TextBox 42"/>
          <p:cNvSpPr txBox="1"/>
          <p:nvPr/>
        </p:nvSpPr>
        <p:spPr>
          <a:xfrm>
            <a:off x="4663440" y="4160520"/>
            <a:ext cx="3291840" cy="411480"/>
          </a:xfrm>
          <a:prstGeom prst="rect">
            <a:avLst/>
          </a:prstGeom>
          <a:noFill/>
        </p:spPr>
        <p:txBody>
          <a:bodyPr wrap="square" lIns="0" rIns="0" tIns="0" bIns="0">
            <a:spAutoFit/>
          </a:bodyPr>
          <a:lstStyle/>
          <a:p>
            <a:pPr algn="l">
              <a:lnSpc>
                <a:spcPct val="115000"/>
              </a:lnSpc>
            </a:pPr>
            <a:r>
              <a:rPr sz="1100" b="0">
                <a:solidFill>
                  <a:srgbClr val="0F2A5C"/>
                </a:solidFill>
                <a:latin typeface="Inter"/>
              </a:rPr>
              <a:t>Currencies · pairs · trade books</a:t>
            </a:r>
          </a:p>
        </p:txBody>
      </p:sp>
      <p:sp>
        <p:nvSpPr>
          <p:cNvPr id="44" name="Rounded Rectangle 43"/>
          <p:cNvSpPr/>
          <p:nvPr/>
        </p:nvSpPr>
        <p:spPr>
          <a:xfrm>
            <a:off x="8229600" y="3840480"/>
            <a:ext cx="3383280" cy="77724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58200" y="3931920"/>
            <a:ext cx="3017520" cy="320040"/>
          </a:xfrm>
          <a:prstGeom prst="rect">
            <a:avLst/>
          </a:prstGeom>
          <a:noFill/>
        </p:spPr>
        <p:txBody>
          <a:bodyPr wrap="square" lIns="0" rIns="0" tIns="0" bIns="0">
            <a:spAutoFit/>
          </a:bodyPr>
          <a:lstStyle/>
          <a:p>
            <a:pPr algn="l">
              <a:lnSpc>
                <a:spcPct val="115000"/>
              </a:lnSpc>
            </a:pPr>
            <a:r>
              <a:rPr sz="1000" b="1">
                <a:solidFill>
                  <a:srgbClr val="0F2A5C"/>
                </a:solidFill>
                <a:latin typeface="Inter"/>
              </a:rPr>
              <a:t>OBS · 5601 / 3000 / 8085</a:t>
            </a:r>
          </a:p>
        </p:txBody>
      </p:sp>
      <p:sp>
        <p:nvSpPr>
          <p:cNvPr id="46" name="TextBox 45"/>
          <p:cNvSpPr txBox="1"/>
          <p:nvPr/>
        </p:nvSpPr>
        <p:spPr>
          <a:xfrm>
            <a:off x="8458200" y="4160520"/>
            <a:ext cx="3017520" cy="411480"/>
          </a:xfrm>
          <a:prstGeom prst="rect">
            <a:avLst/>
          </a:prstGeom>
          <a:noFill/>
        </p:spPr>
        <p:txBody>
          <a:bodyPr wrap="square" lIns="0" rIns="0" tIns="0" bIns="0">
            <a:spAutoFit/>
          </a:bodyPr>
          <a:lstStyle/>
          <a:p>
            <a:pPr algn="l">
              <a:lnSpc>
                <a:spcPct val="115000"/>
              </a:lnSpc>
            </a:pPr>
            <a:r>
              <a:rPr sz="1100" b="0">
                <a:solidFill>
                  <a:srgbClr val="0F2A5C"/>
                </a:solidFill>
                <a:latin typeface="Inter"/>
              </a:rPr>
              <a:t>OpenSearch / Grafana / Kafka UI</a:t>
            </a:r>
          </a:p>
        </p:txBody>
      </p:sp>
      <p:sp>
        <p:nvSpPr>
          <p:cNvPr id="47" name="Rounded Rectangle 46"/>
          <p:cNvSpPr/>
          <p:nvPr/>
        </p:nvSpPr>
        <p:spPr>
          <a:xfrm>
            <a:off x="640080" y="493776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029200"/>
            <a:ext cx="2331720" cy="274320"/>
          </a:xfrm>
          <a:prstGeom prst="rect">
            <a:avLst/>
          </a:prstGeom>
          <a:noFill/>
        </p:spPr>
        <p:txBody>
          <a:bodyPr wrap="square" lIns="0" rIns="0" tIns="0" bIns="0">
            <a:spAutoFit/>
          </a:bodyPr>
          <a:lstStyle/>
          <a:p>
            <a:pPr algn="l">
              <a:lnSpc>
                <a:spcPct val="115000"/>
              </a:lnSpc>
            </a:pPr>
            <a:r>
              <a:rPr sz="1000" b="1">
                <a:solidFill>
                  <a:srgbClr val="06B6D4"/>
                </a:solidFill>
                <a:latin typeface="Inter"/>
              </a:rPr>
              <a:t>STACK</a:t>
            </a:r>
          </a:p>
        </p:txBody>
      </p:sp>
      <p:sp>
        <p:nvSpPr>
          <p:cNvPr id="49" name="TextBox 48"/>
          <p:cNvSpPr txBox="1"/>
          <p:nvPr/>
        </p:nvSpPr>
        <p:spPr>
          <a:xfrm>
            <a:off x="822960" y="5303520"/>
            <a:ext cx="2331720" cy="502920"/>
          </a:xfrm>
          <a:prstGeom prst="rect">
            <a:avLst/>
          </a:prstGeom>
          <a:noFill/>
        </p:spPr>
        <p:txBody>
          <a:bodyPr wrap="square" lIns="0" rIns="0" tIns="0" bIns="0">
            <a:spAutoFit/>
          </a:bodyPr>
          <a:lstStyle/>
          <a:p>
            <a:pPr algn="l">
              <a:lnSpc>
                <a:spcPct val="130000"/>
              </a:lnSpc>
            </a:pPr>
            <a:r>
              <a:rPr sz="1200" b="0">
                <a:solidFill>
                  <a:srgbClr val="0F172A"/>
                </a:solidFill>
                <a:latin typeface="Inter"/>
              </a:rPr>
              <a:t>Spring Boot 3.4 · Angular 21</a:t>
            </a:r>
          </a:p>
        </p:txBody>
      </p:sp>
      <p:sp>
        <p:nvSpPr>
          <p:cNvPr id="50" name="Rounded Rectangle 49"/>
          <p:cNvSpPr/>
          <p:nvPr/>
        </p:nvSpPr>
        <p:spPr>
          <a:xfrm>
            <a:off x="3429000" y="493776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11880" y="5029200"/>
            <a:ext cx="2331720" cy="274320"/>
          </a:xfrm>
          <a:prstGeom prst="rect">
            <a:avLst/>
          </a:prstGeom>
          <a:noFill/>
        </p:spPr>
        <p:txBody>
          <a:bodyPr wrap="square" lIns="0" rIns="0" tIns="0" bIns="0">
            <a:spAutoFit/>
          </a:bodyPr>
          <a:lstStyle/>
          <a:p>
            <a:pPr algn="l">
              <a:lnSpc>
                <a:spcPct val="115000"/>
              </a:lnSpc>
            </a:pPr>
            <a:r>
              <a:rPr sz="1000" b="1">
                <a:solidFill>
                  <a:srgbClr val="06B6D4"/>
                </a:solidFill>
                <a:latin typeface="Inter"/>
              </a:rPr>
              <a:t>STREAMING</a:t>
            </a:r>
          </a:p>
        </p:txBody>
      </p:sp>
      <p:sp>
        <p:nvSpPr>
          <p:cNvPr id="52" name="TextBox 51"/>
          <p:cNvSpPr txBox="1"/>
          <p:nvPr/>
        </p:nvSpPr>
        <p:spPr>
          <a:xfrm>
            <a:off x="3611880" y="5303520"/>
            <a:ext cx="2331720" cy="502920"/>
          </a:xfrm>
          <a:prstGeom prst="rect">
            <a:avLst/>
          </a:prstGeom>
          <a:noFill/>
        </p:spPr>
        <p:txBody>
          <a:bodyPr wrap="square" lIns="0" rIns="0" tIns="0" bIns="0">
            <a:spAutoFit/>
          </a:bodyPr>
          <a:lstStyle/>
          <a:p>
            <a:pPr algn="l">
              <a:lnSpc>
                <a:spcPct val="130000"/>
              </a:lnSpc>
            </a:pPr>
            <a:r>
              <a:rPr sz="1200" b="0">
                <a:solidFill>
                  <a:srgbClr val="0F172A"/>
                </a:solidFill>
                <a:latin typeface="Inter"/>
              </a:rPr>
              <a:t>Confluent Kafka · KRaft mode</a:t>
            </a:r>
          </a:p>
        </p:txBody>
      </p:sp>
      <p:sp>
        <p:nvSpPr>
          <p:cNvPr id="53" name="Rounded Rectangle 52"/>
          <p:cNvSpPr/>
          <p:nvPr/>
        </p:nvSpPr>
        <p:spPr>
          <a:xfrm>
            <a:off x="6217920" y="493776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5029200"/>
            <a:ext cx="2331720" cy="274320"/>
          </a:xfrm>
          <a:prstGeom prst="rect">
            <a:avLst/>
          </a:prstGeom>
          <a:noFill/>
        </p:spPr>
        <p:txBody>
          <a:bodyPr wrap="square" lIns="0" rIns="0" tIns="0" bIns="0">
            <a:spAutoFit/>
          </a:bodyPr>
          <a:lstStyle/>
          <a:p>
            <a:pPr algn="l">
              <a:lnSpc>
                <a:spcPct val="115000"/>
              </a:lnSpc>
            </a:pPr>
            <a:r>
              <a:rPr sz="1000" b="1">
                <a:solidFill>
                  <a:srgbClr val="06B6D4"/>
                </a:solidFill>
                <a:latin typeface="Inter"/>
              </a:rPr>
              <a:t>SEARCH</a:t>
            </a:r>
          </a:p>
        </p:txBody>
      </p:sp>
      <p:sp>
        <p:nvSpPr>
          <p:cNvPr id="55" name="TextBox 54"/>
          <p:cNvSpPr txBox="1"/>
          <p:nvPr/>
        </p:nvSpPr>
        <p:spPr>
          <a:xfrm>
            <a:off x="6400800" y="5303520"/>
            <a:ext cx="2331720" cy="502920"/>
          </a:xfrm>
          <a:prstGeom prst="rect">
            <a:avLst/>
          </a:prstGeom>
          <a:noFill/>
        </p:spPr>
        <p:txBody>
          <a:bodyPr wrap="square" lIns="0" rIns="0" tIns="0" bIns="0">
            <a:spAutoFit/>
          </a:bodyPr>
          <a:lstStyle/>
          <a:p>
            <a:pPr algn="l">
              <a:lnSpc>
                <a:spcPct val="130000"/>
              </a:lnSpc>
            </a:pPr>
            <a:r>
              <a:rPr sz="1200" b="0">
                <a:solidFill>
                  <a:srgbClr val="0F172A"/>
                </a:solidFill>
                <a:latin typeface="Inter"/>
              </a:rPr>
              <a:t>OpenSearch · region-partitioned indices</a:t>
            </a:r>
          </a:p>
        </p:txBody>
      </p:sp>
      <p:sp>
        <p:nvSpPr>
          <p:cNvPr id="56" name="Rounded Rectangle 55"/>
          <p:cNvSpPr/>
          <p:nvPr/>
        </p:nvSpPr>
        <p:spPr>
          <a:xfrm>
            <a:off x="9006840" y="4937760"/>
            <a:ext cx="2697480" cy="914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89720" y="5029200"/>
            <a:ext cx="2331720" cy="274320"/>
          </a:xfrm>
          <a:prstGeom prst="rect">
            <a:avLst/>
          </a:prstGeom>
          <a:noFill/>
        </p:spPr>
        <p:txBody>
          <a:bodyPr wrap="square" lIns="0" rIns="0" tIns="0" bIns="0">
            <a:spAutoFit/>
          </a:bodyPr>
          <a:lstStyle/>
          <a:p>
            <a:pPr algn="l">
              <a:lnSpc>
                <a:spcPct val="115000"/>
              </a:lnSpc>
            </a:pPr>
            <a:r>
              <a:rPr sz="1000" b="1">
                <a:solidFill>
                  <a:srgbClr val="06B6D4"/>
                </a:solidFill>
                <a:latin typeface="Inter"/>
              </a:rPr>
              <a:t>DEPLOY</a:t>
            </a:r>
          </a:p>
        </p:txBody>
      </p:sp>
      <p:sp>
        <p:nvSpPr>
          <p:cNvPr id="58" name="TextBox 57"/>
          <p:cNvSpPr txBox="1"/>
          <p:nvPr/>
        </p:nvSpPr>
        <p:spPr>
          <a:xfrm>
            <a:off x="9189720" y="5303520"/>
            <a:ext cx="2331720" cy="502920"/>
          </a:xfrm>
          <a:prstGeom prst="rect">
            <a:avLst/>
          </a:prstGeom>
          <a:noFill/>
        </p:spPr>
        <p:txBody>
          <a:bodyPr wrap="square" lIns="0" rIns="0" tIns="0" bIns="0">
            <a:spAutoFit/>
          </a:bodyPr>
          <a:lstStyle/>
          <a:p>
            <a:pPr algn="l">
              <a:lnSpc>
                <a:spcPct val="130000"/>
              </a:lnSpc>
            </a:pPr>
            <a:r>
              <a:rPr sz="1200" b="0">
                <a:solidFill>
                  <a:srgbClr val="0F172A"/>
                </a:solidFill>
                <a:latin typeface="Inter"/>
              </a:rPr>
              <a:t>GitHub Actions + OIDC + CloudFormation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05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FROM PROJECT A TO RAG</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Why FX trade data is a great RAG worked example</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86400" cy="17830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17830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4028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Multi-source</a:t>
            </a:r>
          </a:p>
        </p:txBody>
      </p:sp>
      <p:sp>
        <p:nvSpPr>
          <p:cNvPr id="14" name="TextBox 13"/>
          <p:cNvSpPr txBox="1"/>
          <p:nvPr/>
        </p:nvSpPr>
        <p:spPr>
          <a:xfrm>
            <a:off x="868680" y="2697480"/>
            <a:ext cx="5029200" cy="1005840"/>
          </a:xfrm>
          <a:prstGeom prst="rect">
            <a:avLst/>
          </a:prstGeom>
          <a:noFill/>
        </p:spPr>
        <p:txBody>
          <a:bodyPr wrap="square" lIns="0" rIns="0" tIns="0" bIns="0">
            <a:spAutoFit/>
          </a:bodyPr>
          <a:lstStyle/>
          <a:p>
            <a:pPr algn="l">
              <a:lnSpc>
                <a:spcPct val="140000"/>
              </a:lnSpc>
            </a:pPr>
            <a:r>
              <a:rPr sz="1300" b="0">
                <a:solidFill>
                  <a:srgbClr val="334155"/>
                </a:solidFill>
                <a:latin typeface="Inter"/>
              </a:rPr>
              <a:t>Trades, master data, news, sanctions — exactly the messy mix RAG handles</a:t>
            </a:r>
          </a:p>
        </p:txBody>
      </p:sp>
      <p:sp>
        <p:nvSpPr>
          <p:cNvPr id="15" name="Rounded Rectangle 14"/>
          <p:cNvSpPr/>
          <p:nvPr/>
        </p:nvSpPr>
        <p:spPr>
          <a:xfrm>
            <a:off x="6126480" y="2011680"/>
            <a:ext cx="5486400" cy="17830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011680"/>
            <a:ext cx="91440"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24028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Real-time</a:t>
            </a:r>
          </a:p>
        </p:txBody>
      </p:sp>
      <p:sp>
        <p:nvSpPr>
          <p:cNvPr id="18" name="TextBox 17"/>
          <p:cNvSpPr txBox="1"/>
          <p:nvPr/>
        </p:nvSpPr>
        <p:spPr>
          <a:xfrm>
            <a:off x="6446520" y="2697480"/>
            <a:ext cx="5029200" cy="1005840"/>
          </a:xfrm>
          <a:prstGeom prst="rect">
            <a:avLst/>
          </a:prstGeom>
          <a:noFill/>
        </p:spPr>
        <p:txBody>
          <a:bodyPr wrap="square" lIns="0" rIns="0" tIns="0" bIns="0">
            <a:spAutoFit/>
          </a:bodyPr>
          <a:lstStyle/>
          <a:p>
            <a:pPr algn="l">
              <a:lnSpc>
                <a:spcPct val="140000"/>
              </a:lnSpc>
            </a:pPr>
            <a:r>
              <a:rPr sz="1300" b="0">
                <a:solidFill>
                  <a:srgbClr val="334155"/>
                </a:solidFill>
                <a:latin typeface="Inter"/>
              </a:rPr>
              <a:t>Streaming events with strict freshness windows — context goes stale fast</a:t>
            </a:r>
          </a:p>
        </p:txBody>
      </p:sp>
      <p:sp>
        <p:nvSpPr>
          <p:cNvPr id="19" name="Rounded Rectangle 18"/>
          <p:cNvSpPr/>
          <p:nvPr/>
        </p:nvSpPr>
        <p:spPr>
          <a:xfrm>
            <a:off x="548640" y="3886200"/>
            <a:ext cx="5486400" cy="17830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91440" cy="178308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1480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High stakes</a:t>
            </a:r>
          </a:p>
        </p:txBody>
      </p:sp>
      <p:sp>
        <p:nvSpPr>
          <p:cNvPr id="22" name="TextBox 21"/>
          <p:cNvSpPr txBox="1"/>
          <p:nvPr/>
        </p:nvSpPr>
        <p:spPr>
          <a:xfrm>
            <a:off x="868680" y="4572000"/>
            <a:ext cx="5029200" cy="1005840"/>
          </a:xfrm>
          <a:prstGeom prst="rect">
            <a:avLst/>
          </a:prstGeom>
          <a:noFill/>
        </p:spPr>
        <p:txBody>
          <a:bodyPr wrap="square" lIns="0" rIns="0" tIns="0" bIns="0">
            <a:spAutoFit/>
          </a:bodyPr>
          <a:lstStyle/>
          <a:p>
            <a:pPr algn="l">
              <a:lnSpc>
                <a:spcPct val="140000"/>
              </a:lnSpc>
            </a:pPr>
            <a:r>
              <a:rPr sz="1300" b="0">
                <a:solidFill>
                  <a:srgbClr val="334155"/>
                </a:solidFill>
                <a:latin typeface="Inter"/>
              </a:rPr>
              <a:t>Wrong answer = financial or compliance impact — citations matter</a:t>
            </a:r>
          </a:p>
        </p:txBody>
      </p:sp>
      <p:sp>
        <p:nvSpPr>
          <p:cNvPr id="23" name="Rounded Rectangle 22"/>
          <p:cNvSpPr/>
          <p:nvPr/>
        </p:nvSpPr>
        <p:spPr>
          <a:xfrm>
            <a:off x="6126480" y="3886200"/>
            <a:ext cx="5486400" cy="17830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3886200"/>
            <a:ext cx="91440"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1480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Multi-tenant</a:t>
            </a:r>
          </a:p>
        </p:txBody>
      </p:sp>
      <p:sp>
        <p:nvSpPr>
          <p:cNvPr id="26" name="TextBox 25"/>
          <p:cNvSpPr txBox="1"/>
          <p:nvPr/>
        </p:nvSpPr>
        <p:spPr>
          <a:xfrm>
            <a:off x="6446520" y="4572000"/>
            <a:ext cx="5029200" cy="1005840"/>
          </a:xfrm>
          <a:prstGeom prst="rect">
            <a:avLst/>
          </a:prstGeom>
          <a:noFill/>
        </p:spPr>
        <p:txBody>
          <a:bodyPr wrap="square" lIns="0" rIns="0" tIns="0" bIns="0">
            <a:spAutoFit/>
          </a:bodyPr>
          <a:lstStyle/>
          <a:p>
            <a:pPr algn="l">
              <a:lnSpc>
                <a:spcPct val="140000"/>
              </a:lnSpc>
            </a:pPr>
            <a:r>
              <a:rPr sz="1300" b="0">
                <a:solidFill>
                  <a:srgbClr val="334155"/>
                </a:solidFill>
                <a:latin typeface="Inter"/>
              </a:rPr>
              <a:t>Region-partitioned data with access controls — same shape as enterprise RAG</a:t>
            </a:r>
          </a:p>
        </p:txBody>
      </p:sp>
      <p:sp>
        <p:nvSpPr>
          <p:cNvPr id="27" name="TextBox 26"/>
          <p:cNvSpPr txBox="1"/>
          <p:nvPr/>
        </p:nvSpPr>
        <p:spPr>
          <a:xfrm>
            <a:off x="548640" y="5852160"/>
            <a:ext cx="11064240" cy="365760"/>
          </a:xfrm>
          <a:prstGeom prst="rect">
            <a:avLst/>
          </a:prstGeom>
          <a:noFill/>
        </p:spPr>
        <p:txBody>
          <a:bodyPr wrap="square" lIns="0" rIns="0" tIns="0" bIns="0">
            <a:spAutoFit/>
          </a:bodyPr>
          <a:lstStyle/>
          <a:p>
            <a:pPr algn="ctr">
              <a:lnSpc>
                <a:spcPct val="115000"/>
              </a:lnSpc>
            </a:pPr>
            <a:r>
              <a:rPr sz="1300" b="1">
                <a:solidFill>
                  <a:srgbClr val="64748B"/>
                </a:solidFill>
                <a:latin typeface="Inter"/>
              </a:rPr>
              <a:t>These four properties show up in nearly every enterprise RAG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06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CORE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What is RAG — in 30 seconds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137160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10332720" cy="548640"/>
          </a:xfrm>
          <a:prstGeom prst="rect">
            <a:avLst/>
          </a:prstGeom>
          <a:noFill/>
        </p:spPr>
        <p:txBody>
          <a:bodyPr wrap="square" lIns="0" rIns="0" tIns="0" bIns="0">
            <a:spAutoFit/>
          </a:bodyPr>
          <a:lstStyle/>
          <a:p>
            <a:pPr algn="l">
              <a:lnSpc>
                <a:spcPct val="115000"/>
              </a:lnSpc>
            </a:pPr>
            <a:r>
              <a:rPr sz="2200" b="1">
                <a:solidFill>
                  <a:srgbClr val="0F2A5C"/>
                </a:solidFill>
                <a:latin typeface="Inter"/>
              </a:rPr>
              <a:t>Retrieve relevant context · stuff it into the prompt · let the LLM answer.</a:t>
            </a:r>
          </a:p>
        </p:txBody>
      </p:sp>
      <p:sp>
        <p:nvSpPr>
          <p:cNvPr id="13" name="TextBox 12"/>
          <p:cNvSpPr txBox="1"/>
          <p:nvPr/>
        </p:nvSpPr>
        <p:spPr>
          <a:xfrm>
            <a:off x="914400" y="2788920"/>
            <a:ext cx="10332720" cy="502920"/>
          </a:xfrm>
          <a:prstGeom prst="rect">
            <a:avLst/>
          </a:prstGeom>
          <a:noFill/>
        </p:spPr>
        <p:txBody>
          <a:bodyPr wrap="square" lIns="0" rIns="0" tIns="0" bIns="0">
            <a:spAutoFit/>
          </a:bodyPr>
          <a:lstStyle/>
          <a:p>
            <a:pPr algn="l">
              <a:lnSpc>
                <a:spcPct val="115000"/>
              </a:lnSpc>
            </a:pPr>
            <a:r>
              <a:rPr sz="1500" b="0">
                <a:solidFill>
                  <a:srgbClr val="334155"/>
                </a:solidFill>
                <a:latin typeface="Inter"/>
              </a:rPr>
              <a:t>No retraining. No fine-tuning. Just smarter prompting at runtime.</a:t>
            </a:r>
          </a:p>
        </p:txBody>
      </p:sp>
      <p:sp>
        <p:nvSpPr>
          <p:cNvPr id="14" name="Rounded Rectangle 13"/>
          <p:cNvSpPr/>
          <p:nvPr/>
        </p:nvSpPr>
        <p:spPr>
          <a:xfrm>
            <a:off x="548640" y="3657600"/>
            <a:ext cx="5440680" cy="23774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57600"/>
            <a:ext cx="91440" cy="237744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86200"/>
            <a:ext cx="5029200" cy="365760"/>
          </a:xfrm>
          <a:prstGeom prst="rect">
            <a:avLst/>
          </a:prstGeom>
          <a:noFill/>
        </p:spPr>
        <p:txBody>
          <a:bodyPr wrap="square" lIns="0" rIns="0" tIns="0" bIns="0">
            <a:spAutoFit/>
          </a:bodyPr>
          <a:lstStyle/>
          <a:p>
            <a:pPr algn="l">
              <a:lnSpc>
                <a:spcPct val="115000"/>
              </a:lnSpc>
            </a:pPr>
            <a:r>
              <a:rPr sz="1100" b="1">
                <a:solidFill>
                  <a:srgbClr val="F43F5E"/>
                </a:solidFill>
                <a:latin typeface="Inter"/>
              </a:rPr>
              <a:t>WITHOUT RAG</a:t>
            </a:r>
          </a:p>
        </p:txBody>
      </p:sp>
      <p:sp>
        <p:nvSpPr>
          <p:cNvPr id="17" name="TextBox 16"/>
          <p:cNvSpPr txBox="1"/>
          <p:nvPr/>
        </p:nvSpPr>
        <p:spPr>
          <a:xfrm>
            <a:off x="868680" y="4251960"/>
            <a:ext cx="5029200" cy="457200"/>
          </a:xfrm>
          <a:prstGeom prst="rect">
            <a:avLst/>
          </a:prstGeom>
          <a:noFill/>
        </p:spPr>
        <p:txBody>
          <a:bodyPr wrap="square" lIns="0" rIns="0" tIns="0" bIns="0">
            <a:spAutoFit/>
          </a:bodyPr>
          <a:lstStyle/>
          <a:p>
            <a:pPr algn="l">
              <a:lnSpc>
                <a:spcPct val="115000"/>
              </a:lnSpc>
            </a:pPr>
            <a:r>
              <a:rPr sz="1400" b="1">
                <a:solidFill>
                  <a:srgbClr val="0F172A"/>
                </a:solidFill>
                <a:latin typeface="Inter"/>
              </a:rPr>
              <a:t>“Show me high-risk USD/INR trades from last hour.”</a:t>
            </a:r>
          </a:p>
        </p:txBody>
      </p:sp>
      <p:sp>
        <p:nvSpPr>
          <p:cNvPr id="18" name="TextBox 17"/>
          <p:cNvSpPr txBox="1"/>
          <p:nvPr/>
        </p:nvSpPr>
        <p:spPr>
          <a:xfrm>
            <a:off x="868680" y="4800600"/>
            <a:ext cx="5029200" cy="1097280"/>
          </a:xfrm>
          <a:prstGeom prst="rect">
            <a:avLst/>
          </a:prstGeom>
          <a:noFill/>
        </p:spPr>
        <p:txBody>
          <a:bodyPr wrap="square" lIns="0" rIns="0" tIns="0" bIns="0">
            <a:spAutoFit/>
          </a:bodyPr>
          <a:lstStyle/>
          <a:p>
            <a:pPr algn="l">
              <a:lnSpc>
                <a:spcPct val="140000"/>
              </a:lnSpc>
            </a:pPr>
            <a:r>
              <a:rPr sz="1300" b="0">
                <a:solidFill>
                  <a:srgbClr val="64748B"/>
                </a:solidFill>
                <a:latin typeface="Inter"/>
              </a:rPr>
              <a:t>Model has no idea what trades exist. It guesses, paraphrases, fabricates.</a:t>
            </a:r>
          </a:p>
        </p:txBody>
      </p:sp>
      <p:sp>
        <p:nvSpPr>
          <p:cNvPr id="19" name="Rounded Rectangle 18"/>
          <p:cNvSpPr/>
          <p:nvPr/>
        </p:nvSpPr>
        <p:spPr>
          <a:xfrm>
            <a:off x="6263640" y="3657600"/>
            <a:ext cx="5440680" cy="23774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657600"/>
            <a:ext cx="91440" cy="2377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886200"/>
            <a:ext cx="5029200" cy="365760"/>
          </a:xfrm>
          <a:prstGeom prst="rect">
            <a:avLst/>
          </a:prstGeom>
          <a:noFill/>
        </p:spPr>
        <p:txBody>
          <a:bodyPr wrap="square" lIns="0" rIns="0" tIns="0" bIns="0">
            <a:spAutoFit/>
          </a:bodyPr>
          <a:lstStyle/>
          <a:p>
            <a:pPr algn="l">
              <a:lnSpc>
                <a:spcPct val="115000"/>
              </a:lnSpc>
            </a:pPr>
            <a:r>
              <a:rPr sz="1100" b="1">
                <a:solidFill>
                  <a:srgbClr val="10B981"/>
                </a:solidFill>
                <a:latin typeface="Inter"/>
              </a:rPr>
              <a:t>WITH RAG</a:t>
            </a:r>
          </a:p>
        </p:txBody>
      </p:sp>
      <p:sp>
        <p:nvSpPr>
          <p:cNvPr id="22" name="TextBox 21"/>
          <p:cNvSpPr txBox="1"/>
          <p:nvPr/>
        </p:nvSpPr>
        <p:spPr>
          <a:xfrm>
            <a:off x="6583680" y="4251960"/>
            <a:ext cx="5029200" cy="457200"/>
          </a:xfrm>
          <a:prstGeom prst="rect">
            <a:avLst/>
          </a:prstGeom>
          <a:noFill/>
        </p:spPr>
        <p:txBody>
          <a:bodyPr wrap="square" lIns="0" rIns="0" tIns="0" bIns="0">
            <a:spAutoFit/>
          </a:bodyPr>
          <a:lstStyle/>
          <a:p>
            <a:pPr algn="l">
              <a:lnSpc>
                <a:spcPct val="115000"/>
              </a:lnSpc>
            </a:pPr>
            <a:r>
              <a:rPr sz="1400" b="1">
                <a:solidFill>
                  <a:srgbClr val="0F172A"/>
                </a:solidFill>
                <a:latin typeface="Inter"/>
              </a:rPr>
              <a:t>“Show me high-risk USD/INR trades from last hour.”</a:t>
            </a:r>
          </a:p>
        </p:txBody>
      </p:sp>
      <p:sp>
        <p:nvSpPr>
          <p:cNvPr id="23" name="TextBox 22"/>
          <p:cNvSpPr txBox="1"/>
          <p:nvPr/>
        </p:nvSpPr>
        <p:spPr>
          <a:xfrm>
            <a:off x="6583680" y="4800600"/>
            <a:ext cx="5029200" cy="1097280"/>
          </a:xfrm>
          <a:prstGeom prst="rect">
            <a:avLst/>
          </a:prstGeom>
          <a:noFill/>
        </p:spPr>
        <p:txBody>
          <a:bodyPr wrap="square" lIns="0" rIns="0" tIns="0" bIns="0">
            <a:spAutoFit/>
          </a:bodyPr>
          <a:lstStyle/>
          <a:p>
            <a:pPr algn="l">
              <a:lnSpc>
                <a:spcPct val="140000"/>
              </a:lnSpc>
            </a:pPr>
            <a:r>
              <a:rPr sz="1300" b="0">
                <a:solidFill>
                  <a:srgbClr val="64748B"/>
                </a:solidFill>
                <a:latin typeface="Inter"/>
              </a:rPr>
              <a:t>Retrieve 12 matching trades from OpenSearch → cite each → grounded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07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CORE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The pipeline</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427" y="2560320"/>
            <a:ext cx="1691640" cy="146304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427" y="2697480"/>
            <a:ext cx="1691640" cy="274320"/>
          </a:xfrm>
          <a:prstGeom prst="rect">
            <a:avLst/>
          </a:prstGeom>
          <a:noFill/>
        </p:spPr>
        <p:txBody>
          <a:bodyPr wrap="square" lIns="0" rIns="0" tIns="0" bIns="0">
            <a:spAutoFit/>
          </a:bodyPr>
          <a:lstStyle/>
          <a:p>
            <a:pPr algn="ctr">
              <a:lnSpc>
                <a:spcPct val="115000"/>
              </a:lnSpc>
            </a:pPr>
            <a:r>
              <a:rPr sz="1100" b="1">
                <a:solidFill>
                  <a:srgbClr val="1E3A8A"/>
                </a:solidFill>
                <a:latin typeface="Inter"/>
              </a:rPr>
              <a:t>01</a:t>
            </a:r>
          </a:p>
        </p:txBody>
      </p:sp>
      <p:sp>
        <p:nvSpPr>
          <p:cNvPr id="13" name="TextBox 12"/>
          <p:cNvSpPr txBox="1"/>
          <p:nvPr/>
        </p:nvSpPr>
        <p:spPr>
          <a:xfrm>
            <a:off x="44942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Query</a:t>
            </a:r>
          </a:p>
        </p:txBody>
      </p:sp>
      <p:sp>
        <p:nvSpPr>
          <p:cNvPr id="14" name="TextBox 13"/>
          <p:cNvSpPr txBox="1"/>
          <p:nvPr/>
        </p:nvSpPr>
        <p:spPr>
          <a:xfrm>
            <a:off x="54086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User question</a:t>
            </a:r>
          </a:p>
        </p:txBody>
      </p:sp>
      <p:sp>
        <p:nvSpPr>
          <p:cNvPr id="15" name="Right Arrow 14"/>
          <p:cNvSpPr/>
          <p:nvPr/>
        </p:nvSpPr>
        <p:spPr>
          <a:xfrm>
            <a:off x="2159355" y="3154680"/>
            <a:ext cx="192024" cy="274320"/>
          </a:xfrm>
          <a:prstGeom prst="rightArrow">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69667" y="2560320"/>
            <a:ext cx="1691640" cy="1463040"/>
          </a:xfrm>
          <a:prstGeom prst="roundRect">
            <a:avLst>
              <a:gd name="adj" fmla="val 10000"/>
            </a:avLst>
          </a:prstGeom>
          <a:solidFill>
            <a:srgbClr val="FFFFFF"/>
          </a:solidFill>
          <a:ln w="1905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9667" y="2697480"/>
            <a:ext cx="1691640" cy="274320"/>
          </a:xfrm>
          <a:prstGeom prst="rect">
            <a:avLst/>
          </a:prstGeom>
          <a:noFill/>
        </p:spPr>
        <p:txBody>
          <a:bodyPr wrap="square" lIns="0" rIns="0" tIns="0" bIns="0">
            <a:spAutoFit/>
          </a:bodyPr>
          <a:lstStyle/>
          <a:p>
            <a:pPr algn="ctr">
              <a:lnSpc>
                <a:spcPct val="115000"/>
              </a:lnSpc>
            </a:pPr>
            <a:r>
              <a:rPr sz="1100" b="1">
                <a:solidFill>
                  <a:srgbClr val="1E3A8A"/>
                </a:solidFill>
                <a:latin typeface="Inter"/>
              </a:rPr>
              <a:t>02</a:t>
            </a:r>
          </a:p>
        </p:txBody>
      </p:sp>
      <p:sp>
        <p:nvSpPr>
          <p:cNvPr id="18" name="TextBox 17"/>
          <p:cNvSpPr txBox="1"/>
          <p:nvPr/>
        </p:nvSpPr>
        <p:spPr>
          <a:xfrm>
            <a:off x="236966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Embed</a:t>
            </a:r>
          </a:p>
        </p:txBody>
      </p:sp>
      <p:sp>
        <p:nvSpPr>
          <p:cNvPr id="19" name="TextBox 18"/>
          <p:cNvSpPr txBox="1"/>
          <p:nvPr/>
        </p:nvSpPr>
        <p:spPr>
          <a:xfrm>
            <a:off x="246110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Text → vector</a:t>
            </a:r>
          </a:p>
        </p:txBody>
      </p:sp>
      <p:sp>
        <p:nvSpPr>
          <p:cNvPr id="20" name="Right Arrow 19"/>
          <p:cNvSpPr/>
          <p:nvPr/>
        </p:nvSpPr>
        <p:spPr>
          <a:xfrm>
            <a:off x="4079595" y="3154680"/>
            <a:ext cx="192024" cy="274320"/>
          </a:xfrm>
          <a:prstGeom prst="rightArrow">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89907" y="2560320"/>
            <a:ext cx="1691640" cy="1463040"/>
          </a:xfrm>
          <a:prstGeom prst="roundRect">
            <a:avLst>
              <a:gd name="adj" fmla="val 10000"/>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89907" y="2697480"/>
            <a:ext cx="1691640" cy="274320"/>
          </a:xfrm>
          <a:prstGeom prst="rect">
            <a:avLst/>
          </a:prstGeom>
          <a:noFill/>
        </p:spPr>
        <p:txBody>
          <a:bodyPr wrap="square" lIns="0" rIns="0" tIns="0" bIns="0">
            <a:spAutoFit/>
          </a:bodyPr>
          <a:lstStyle/>
          <a:p>
            <a:pPr algn="ctr">
              <a:lnSpc>
                <a:spcPct val="115000"/>
              </a:lnSpc>
            </a:pPr>
            <a:r>
              <a:rPr sz="1100" b="1">
                <a:solidFill>
                  <a:srgbClr val="06B6D4"/>
                </a:solidFill>
                <a:latin typeface="Inter"/>
              </a:rPr>
              <a:t>03</a:t>
            </a:r>
          </a:p>
        </p:txBody>
      </p:sp>
      <p:sp>
        <p:nvSpPr>
          <p:cNvPr id="23" name="TextBox 22"/>
          <p:cNvSpPr txBox="1"/>
          <p:nvPr/>
        </p:nvSpPr>
        <p:spPr>
          <a:xfrm>
            <a:off x="428990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Retrieve</a:t>
            </a:r>
          </a:p>
        </p:txBody>
      </p:sp>
      <p:sp>
        <p:nvSpPr>
          <p:cNvPr id="24" name="TextBox 23"/>
          <p:cNvSpPr txBox="1"/>
          <p:nvPr/>
        </p:nvSpPr>
        <p:spPr>
          <a:xfrm>
            <a:off x="438134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Top-K from store</a:t>
            </a:r>
          </a:p>
        </p:txBody>
      </p:sp>
      <p:sp>
        <p:nvSpPr>
          <p:cNvPr id="25" name="Right Arrow 24"/>
          <p:cNvSpPr/>
          <p:nvPr/>
        </p:nvSpPr>
        <p:spPr>
          <a:xfrm>
            <a:off x="5999835" y="3154680"/>
            <a:ext cx="192024"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0147" y="2560320"/>
            <a:ext cx="1691640" cy="1463040"/>
          </a:xfrm>
          <a:prstGeom prst="roundRect">
            <a:avLst>
              <a:gd name="adj" fmla="val 10000"/>
            </a:avLst>
          </a:prstGeom>
          <a:solidFill>
            <a:srgbClr val="FFFFFF"/>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0147" y="2697480"/>
            <a:ext cx="1691640" cy="274320"/>
          </a:xfrm>
          <a:prstGeom prst="rect">
            <a:avLst/>
          </a:prstGeom>
          <a:noFill/>
        </p:spPr>
        <p:txBody>
          <a:bodyPr wrap="square" lIns="0" rIns="0" tIns="0" bIns="0">
            <a:spAutoFit/>
          </a:bodyPr>
          <a:lstStyle/>
          <a:p>
            <a:pPr algn="ctr">
              <a:lnSpc>
                <a:spcPct val="115000"/>
              </a:lnSpc>
            </a:pPr>
            <a:r>
              <a:rPr sz="1100" b="1">
                <a:solidFill>
                  <a:srgbClr val="06B6D4"/>
                </a:solidFill>
                <a:latin typeface="Inter"/>
              </a:rPr>
              <a:t>04</a:t>
            </a:r>
          </a:p>
        </p:txBody>
      </p:sp>
      <p:sp>
        <p:nvSpPr>
          <p:cNvPr id="28" name="TextBox 27"/>
          <p:cNvSpPr txBox="1"/>
          <p:nvPr/>
        </p:nvSpPr>
        <p:spPr>
          <a:xfrm>
            <a:off x="621014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Augment</a:t>
            </a:r>
          </a:p>
        </p:txBody>
      </p:sp>
      <p:sp>
        <p:nvSpPr>
          <p:cNvPr id="29" name="TextBox 28"/>
          <p:cNvSpPr txBox="1"/>
          <p:nvPr/>
        </p:nvSpPr>
        <p:spPr>
          <a:xfrm>
            <a:off x="630158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Build prompt</a:t>
            </a:r>
          </a:p>
        </p:txBody>
      </p:sp>
      <p:sp>
        <p:nvSpPr>
          <p:cNvPr id="30" name="Right Arrow 29"/>
          <p:cNvSpPr/>
          <p:nvPr/>
        </p:nvSpPr>
        <p:spPr>
          <a:xfrm>
            <a:off x="7920075" y="3154680"/>
            <a:ext cx="192024" cy="274320"/>
          </a:xfrm>
          <a:prstGeom prst="rightArrow">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30387" y="2560320"/>
            <a:ext cx="1691640" cy="1463040"/>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0387" y="2697480"/>
            <a:ext cx="1691640" cy="274320"/>
          </a:xfrm>
          <a:prstGeom prst="rect">
            <a:avLst/>
          </a:prstGeom>
          <a:noFill/>
        </p:spPr>
        <p:txBody>
          <a:bodyPr wrap="square" lIns="0" rIns="0" tIns="0" bIns="0">
            <a:spAutoFit/>
          </a:bodyPr>
          <a:lstStyle/>
          <a:p>
            <a:pPr algn="ctr">
              <a:lnSpc>
                <a:spcPct val="115000"/>
              </a:lnSpc>
            </a:pPr>
            <a:r>
              <a:rPr sz="1100" b="1">
                <a:solidFill>
                  <a:srgbClr val="10B981"/>
                </a:solidFill>
                <a:latin typeface="Inter"/>
              </a:rPr>
              <a:t>05</a:t>
            </a:r>
          </a:p>
        </p:txBody>
      </p:sp>
      <p:sp>
        <p:nvSpPr>
          <p:cNvPr id="33" name="TextBox 32"/>
          <p:cNvSpPr txBox="1"/>
          <p:nvPr/>
        </p:nvSpPr>
        <p:spPr>
          <a:xfrm>
            <a:off x="813038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Generate</a:t>
            </a:r>
          </a:p>
        </p:txBody>
      </p:sp>
      <p:sp>
        <p:nvSpPr>
          <p:cNvPr id="34" name="TextBox 33"/>
          <p:cNvSpPr txBox="1"/>
          <p:nvPr/>
        </p:nvSpPr>
        <p:spPr>
          <a:xfrm>
            <a:off x="822182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LLM answer</a:t>
            </a:r>
          </a:p>
        </p:txBody>
      </p:sp>
      <p:sp>
        <p:nvSpPr>
          <p:cNvPr id="35" name="Right Arrow 34"/>
          <p:cNvSpPr/>
          <p:nvPr/>
        </p:nvSpPr>
        <p:spPr>
          <a:xfrm>
            <a:off x="9840315" y="3154680"/>
            <a:ext cx="192024" cy="27432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50627" y="2560320"/>
            <a:ext cx="1691640" cy="146304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0627" y="2697480"/>
            <a:ext cx="1691640" cy="274320"/>
          </a:xfrm>
          <a:prstGeom prst="rect">
            <a:avLst/>
          </a:prstGeom>
          <a:noFill/>
        </p:spPr>
        <p:txBody>
          <a:bodyPr wrap="square" lIns="0" rIns="0" tIns="0" bIns="0">
            <a:spAutoFit/>
          </a:bodyPr>
          <a:lstStyle/>
          <a:p>
            <a:pPr algn="ctr">
              <a:lnSpc>
                <a:spcPct val="115000"/>
              </a:lnSpc>
            </a:pPr>
            <a:r>
              <a:rPr sz="1100" b="1">
                <a:solidFill>
                  <a:srgbClr val="F59E0B"/>
                </a:solidFill>
                <a:latin typeface="Inter"/>
              </a:rPr>
              <a:t>06</a:t>
            </a:r>
          </a:p>
        </p:txBody>
      </p:sp>
      <p:sp>
        <p:nvSpPr>
          <p:cNvPr id="38" name="TextBox 37"/>
          <p:cNvSpPr txBox="1"/>
          <p:nvPr/>
        </p:nvSpPr>
        <p:spPr>
          <a:xfrm>
            <a:off x="10050627" y="2971800"/>
            <a:ext cx="1691640" cy="411480"/>
          </a:xfrm>
          <a:prstGeom prst="rect">
            <a:avLst/>
          </a:prstGeom>
          <a:noFill/>
        </p:spPr>
        <p:txBody>
          <a:bodyPr wrap="square" lIns="0" rIns="0" tIns="0" bIns="0">
            <a:spAutoFit/>
          </a:bodyPr>
          <a:lstStyle/>
          <a:p>
            <a:pPr algn="ctr">
              <a:lnSpc>
                <a:spcPct val="115000"/>
              </a:lnSpc>
            </a:pPr>
            <a:r>
              <a:rPr sz="1800" b="1">
                <a:solidFill>
                  <a:srgbClr val="0F172A"/>
                </a:solidFill>
                <a:latin typeface="Inter"/>
              </a:rPr>
              <a:t>Cite</a:t>
            </a:r>
          </a:p>
        </p:txBody>
      </p:sp>
      <p:sp>
        <p:nvSpPr>
          <p:cNvPr id="39" name="TextBox 38"/>
          <p:cNvSpPr txBox="1"/>
          <p:nvPr/>
        </p:nvSpPr>
        <p:spPr>
          <a:xfrm>
            <a:off x="10142067" y="3429000"/>
            <a:ext cx="1508760" cy="502920"/>
          </a:xfrm>
          <a:prstGeom prst="rect">
            <a:avLst/>
          </a:prstGeom>
          <a:noFill/>
        </p:spPr>
        <p:txBody>
          <a:bodyPr wrap="square" lIns="0" rIns="0" tIns="0" bIns="0">
            <a:spAutoFit/>
          </a:bodyPr>
          <a:lstStyle/>
          <a:p>
            <a:pPr algn="ctr">
              <a:lnSpc>
                <a:spcPct val="115000"/>
              </a:lnSpc>
            </a:pPr>
            <a:r>
              <a:rPr sz="1200" b="0">
                <a:solidFill>
                  <a:srgbClr val="64748B"/>
                </a:solidFill>
                <a:latin typeface="Inter"/>
              </a:rPr>
              <a:t>Sources back</a:t>
            </a:r>
          </a:p>
        </p:txBody>
      </p:sp>
      <p:sp>
        <p:nvSpPr>
          <p:cNvPr id="40" name="Rounded Rectangle 39"/>
          <p:cNvSpPr/>
          <p:nvPr/>
        </p:nvSpPr>
        <p:spPr>
          <a:xfrm>
            <a:off x="548640" y="4572000"/>
            <a:ext cx="11064240" cy="1554480"/>
          </a:xfrm>
          <a:prstGeom prst="roundRect">
            <a:avLst>
              <a:gd name="adj" fmla="val 10000"/>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709160"/>
            <a:ext cx="105156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WHERE TIME AND COST ACTUALLY GO</a:t>
            </a:r>
          </a:p>
        </p:txBody>
      </p:sp>
      <p:sp>
        <p:nvSpPr>
          <p:cNvPr id="42" name="TextBox 41"/>
          <p:cNvSpPr txBox="1"/>
          <p:nvPr/>
        </p:nvSpPr>
        <p:spPr>
          <a:xfrm>
            <a:off x="777240" y="5029200"/>
            <a:ext cx="10515600" cy="1005840"/>
          </a:xfrm>
          <a:prstGeom prst="rect">
            <a:avLst/>
          </a:prstGeom>
          <a:noFill/>
        </p:spPr>
        <p:txBody>
          <a:bodyPr wrap="square" lIns="0" rIns="0" tIns="0" bIns="0">
            <a:spAutoFit/>
          </a:bodyPr>
          <a:lstStyle/>
          <a:p>
            <a:pPr algn="l">
              <a:lnSpc>
                <a:spcPct val="150000"/>
              </a:lnSpc>
            </a:pPr>
            <a:r>
              <a:rPr sz="1400" b="0">
                <a:solidFill>
                  <a:srgbClr val="334155"/>
                </a:solidFill>
                <a:latin typeface="Inter"/>
              </a:rPr>
              <a:t>Steps 2–3 are sub-100ms. Step 5 is the only call that pays for tokens. Optimise retrieval quality first; smaller good context &gt; larger bad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08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COMPONENT · 1 OF 5</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Embeddings — text into vectors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6858000" cy="3657600"/>
          </a:xfrm>
          <a:prstGeom prst="rect">
            <a:avLst/>
          </a:prstGeom>
          <a:noFill/>
        </p:spPr>
        <p:txBody>
          <a:bodyPr wrap="square" lIns="0" rIns="0" tIns="0" bIns="0">
            <a:spAutoFit/>
          </a:bodyPr>
          <a:lstStyle/>
          <a:p>
            <a:pPr>
              <a:lnSpc>
                <a:spcPct val="140000"/>
              </a:lnSpc>
              <a:spcAft>
                <a:spcPts val="1400"/>
              </a:spcAft>
            </a:pPr>
            <a:r>
              <a:rPr sz="1800">
                <a:solidFill>
                  <a:srgbClr val="06B6D4"/>
                </a:solidFill>
                <a:latin typeface="Inter"/>
              </a:rPr>
              <a:t>●  </a:t>
            </a:r>
            <a:r>
              <a:rPr sz="1800">
                <a:solidFill>
                  <a:srgbClr val="0F172A"/>
                </a:solidFill>
                <a:latin typeface="Inter"/>
              </a:rPr>
              <a:t>Same model on document side AND query side — never mix</a:t>
            </a:r>
          </a:p>
          <a:p>
            <a:pPr>
              <a:lnSpc>
                <a:spcPct val="140000"/>
              </a:lnSpc>
              <a:spcAft>
                <a:spcPts val="1400"/>
              </a:spcAft>
            </a:pPr>
            <a:r>
              <a:rPr sz="1800">
                <a:solidFill>
                  <a:srgbClr val="06B6D4"/>
                </a:solidFill>
                <a:latin typeface="Inter"/>
              </a:rPr>
              <a:t>●  </a:t>
            </a:r>
            <a:r>
              <a:rPr sz="1800">
                <a:solidFill>
                  <a:srgbClr val="0F172A"/>
                </a:solidFill>
                <a:latin typeface="Inter"/>
              </a:rPr>
              <a:t>1536 dims (OpenAI ada-3) is fine; bigger ≠ better for most tasks</a:t>
            </a:r>
          </a:p>
          <a:p>
            <a:pPr>
              <a:lnSpc>
                <a:spcPct val="140000"/>
              </a:lnSpc>
              <a:spcAft>
                <a:spcPts val="1400"/>
              </a:spcAft>
            </a:pPr>
            <a:r>
              <a:rPr sz="1800">
                <a:solidFill>
                  <a:srgbClr val="06B6D4"/>
                </a:solidFill>
                <a:latin typeface="Inter"/>
              </a:rPr>
              <a:t>●  </a:t>
            </a:r>
            <a:r>
              <a:rPr sz="1800">
                <a:solidFill>
                  <a:srgbClr val="0F172A"/>
                </a:solidFill>
                <a:latin typeface="Inter"/>
              </a:rPr>
              <a:t>Domain-specific embeddings (BGE, E5) often beat generic on niche corpora</a:t>
            </a:r>
          </a:p>
          <a:p>
            <a:pPr>
              <a:lnSpc>
                <a:spcPct val="140000"/>
              </a:lnSpc>
              <a:spcAft>
                <a:spcPts val="1400"/>
              </a:spcAft>
            </a:pPr>
            <a:r>
              <a:rPr sz="1800">
                <a:solidFill>
                  <a:srgbClr val="06B6D4"/>
                </a:solidFill>
                <a:latin typeface="Inter"/>
              </a:rPr>
              <a:t>●  </a:t>
            </a:r>
            <a:r>
              <a:rPr sz="1800">
                <a:solidFill>
                  <a:srgbClr val="0F172A"/>
                </a:solidFill>
                <a:latin typeface="Inter"/>
              </a:rPr>
              <a:t>Re-embed if you swap models — vectors aren’t portable</a:t>
            </a:r>
          </a:p>
        </p:txBody>
      </p:sp>
      <p:sp>
        <p:nvSpPr>
          <p:cNvPr id="12" name="Rounded Rectangle 11"/>
          <p:cNvSpPr/>
          <p:nvPr/>
        </p:nvSpPr>
        <p:spPr>
          <a:xfrm>
            <a:off x="7680960" y="2011680"/>
            <a:ext cx="3931920" cy="4023360"/>
          </a:xfrm>
          <a:prstGeom prst="roundRect">
            <a:avLst>
              <a:gd name="adj" fmla="val 10000"/>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194560"/>
            <a:ext cx="356616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FX EXAMPLE</a:t>
            </a:r>
          </a:p>
        </p:txBody>
      </p:sp>
      <p:sp>
        <p:nvSpPr>
          <p:cNvPr id="14" name="TextBox 13"/>
          <p:cNvSpPr txBox="1"/>
          <p:nvPr/>
        </p:nvSpPr>
        <p:spPr>
          <a:xfrm>
            <a:off x="7909560" y="2514600"/>
            <a:ext cx="3566160" cy="548640"/>
          </a:xfrm>
          <a:prstGeom prst="rect">
            <a:avLst/>
          </a:prstGeom>
          <a:noFill/>
        </p:spPr>
        <p:txBody>
          <a:bodyPr wrap="square" lIns="0" rIns="0" tIns="0" bIns="0">
            <a:spAutoFit/>
          </a:bodyPr>
          <a:lstStyle/>
          <a:p>
            <a:pPr algn="l">
              <a:lnSpc>
                <a:spcPct val="115000"/>
              </a:lnSpc>
            </a:pPr>
            <a:r>
              <a:rPr sz="1400" b="1">
                <a:solidFill>
                  <a:srgbClr val="FFFFFF"/>
                </a:solidFill>
                <a:latin typeface="Inter"/>
              </a:rPr>
              <a:t>Embed each trade as:</a:t>
            </a:r>
          </a:p>
        </p:txBody>
      </p:sp>
      <p:sp>
        <p:nvSpPr>
          <p:cNvPr id="15" name="TextBox 14"/>
          <p:cNvSpPr txBox="1"/>
          <p:nvPr/>
        </p:nvSpPr>
        <p:spPr>
          <a:xfrm>
            <a:off x="7909560" y="2971800"/>
            <a:ext cx="3566160" cy="2286000"/>
          </a:xfrm>
          <a:prstGeom prst="rect">
            <a:avLst/>
          </a:prstGeom>
          <a:noFill/>
        </p:spPr>
        <p:txBody>
          <a:bodyPr wrap="square" lIns="0" rIns="0" tIns="0" bIns="0">
            <a:spAutoFit/>
          </a:bodyPr>
          <a:lstStyle/>
          <a:p>
            <a:pPr algn="l">
              <a:lnSpc>
                <a:spcPct val="150000"/>
              </a:lnSpc>
            </a:pPr>
            <a:r>
              <a:rPr sz="1200" b="0">
                <a:solidFill>
                  <a:srgbClr val="CFFAFE"/>
                </a:solidFill>
                <a:latin typeface="Menlo"/>
              </a:rPr>
              <a:t>"USD→INR · 50000 · risk=HIGH · us-east-1 · trader=BOOK1 · 2026-05-02"</a:t>
            </a:r>
          </a:p>
        </p:txBody>
      </p:sp>
      <p:sp>
        <p:nvSpPr>
          <p:cNvPr id="16" name="TextBox 15"/>
          <p:cNvSpPr txBox="1"/>
          <p:nvPr/>
        </p:nvSpPr>
        <p:spPr>
          <a:xfrm>
            <a:off x="7909560" y="4983480"/>
            <a:ext cx="3566160" cy="822960"/>
          </a:xfrm>
          <a:prstGeom prst="rect">
            <a:avLst/>
          </a:prstGeom>
          <a:noFill/>
        </p:spPr>
        <p:txBody>
          <a:bodyPr wrap="square" lIns="0" rIns="0" tIns="0" bIns="0">
            <a:spAutoFit/>
          </a:bodyPr>
          <a:lstStyle/>
          <a:p>
            <a:pPr algn="l">
              <a:lnSpc>
                <a:spcPct val="140000"/>
              </a:lnSpc>
            </a:pPr>
            <a:r>
              <a:rPr sz="1200" b="0">
                <a:solidFill>
                  <a:srgbClr val="E2E8F0"/>
                </a:solidFill>
                <a:latin typeface="Inter"/>
              </a:rPr>
              <a:t>A single dense vector lets you ask:
“trades like this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09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COMPONENT · 2 OF 5</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Vector stores — pick the boring one</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6295" y="2194560"/>
            <a:ext cx="2697480" cy="3200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6295" y="2194560"/>
            <a:ext cx="2697480" cy="4114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6295" y="2286000"/>
            <a:ext cx="2697480" cy="292608"/>
          </a:xfrm>
          <a:prstGeom prst="rect">
            <a:avLst/>
          </a:prstGeom>
          <a:noFill/>
        </p:spPr>
        <p:txBody>
          <a:bodyPr wrap="square" lIns="0" rIns="0" tIns="0" bIns="0">
            <a:spAutoFit/>
          </a:bodyPr>
          <a:lstStyle/>
          <a:p>
            <a:pPr algn="ctr">
              <a:lnSpc>
                <a:spcPct val="115000"/>
              </a:lnSpc>
            </a:pPr>
            <a:r>
              <a:rPr sz="1200" b="1">
                <a:solidFill>
                  <a:srgbClr val="FFFFFF"/>
                </a:solidFill>
                <a:latin typeface="Inter"/>
              </a:rPr>
              <a:t>PGVECTOR</a:t>
            </a:r>
          </a:p>
        </p:txBody>
      </p:sp>
      <p:sp>
        <p:nvSpPr>
          <p:cNvPr id="14" name="TextBox 13"/>
          <p:cNvSpPr txBox="1"/>
          <p:nvPr/>
        </p:nvSpPr>
        <p:spPr>
          <a:xfrm>
            <a:off x="719175" y="2788920"/>
            <a:ext cx="2331720" cy="457200"/>
          </a:xfrm>
          <a:prstGeom prst="rect">
            <a:avLst/>
          </a:prstGeom>
          <a:noFill/>
        </p:spPr>
        <p:txBody>
          <a:bodyPr wrap="square" lIns="0" rIns="0" tIns="0" bIns="0">
            <a:spAutoFit/>
          </a:bodyPr>
          <a:lstStyle/>
          <a:p>
            <a:pPr algn="ctr">
              <a:lnSpc>
                <a:spcPct val="115000"/>
              </a:lnSpc>
            </a:pPr>
            <a:r>
              <a:rPr sz="1300" b="1">
                <a:solidFill>
                  <a:srgbClr val="0F172A"/>
                </a:solidFill>
                <a:latin typeface="Inter"/>
              </a:rPr>
              <a:t>In your existing Postgres</a:t>
            </a:r>
          </a:p>
        </p:txBody>
      </p:sp>
      <p:sp>
        <p:nvSpPr>
          <p:cNvPr id="15" name="TextBox 14"/>
          <p:cNvSpPr txBox="1"/>
          <p:nvPr/>
        </p:nvSpPr>
        <p:spPr>
          <a:xfrm>
            <a:off x="719175" y="3337560"/>
            <a:ext cx="2331720" cy="1828800"/>
          </a:xfrm>
          <a:prstGeom prst="rect">
            <a:avLst/>
          </a:prstGeom>
          <a:noFill/>
        </p:spPr>
        <p:txBody>
          <a:bodyPr wrap="square" lIns="0" rIns="0" tIns="0" bIns="0">
            <a:spAutoFit/>
          </a:bodyPr>
          <a:lstStyle/>
          <a:p>
            <a:pPr algn="ctr">
              <a:lnSpc>
                <a:spcPct val="150000"/>
              </a:lnSpc>
            </a:pPr>
            <a:r>
              <a:rPr sz="1200" b="0">
                <a:solidFill>
                  <a:srgbClr val="64748B"/>
                </a:solidFill>
                <a:latin typeface="Inter"/>
              </a:rPr>
              <a:t>Free · transactional · use until you cant</a:t>
            </a:r>
          </a:p>
        </p:txBody>
      </p:sp>
      <p:sp>
        <p:nvSpPr>
          <p:cNvPr id="16" name="Rounded Rectangle 15"/>
          <p:cNvSpPr/>
          <p:nvPr/>
        </p:nvSpPr>
        <p:spPr>
          <a:xfrm>
            <a:off x="3343503" y="2194560"/>
            <a:ext cx="2697480" cy="3200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3503" y="2194560"/>
            <a:ext cx="2697480" cy="4114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43503" y="2286000"/>
            <a:ext cx="2697480" cy="292608"/>
          </a:xfrm>
          <a:prstGeom prst="rect">
            <a:avLst/>
          </a:prstGeom>
          <a:noFill/>
        </p:spPr>
        <p:txBody>
          <a:bodyPr wrap="square" lIns="0" rIns="0" tIns="0" bIns="0">
            <a:spAutoFit/>
          </a:bodyPr>
          <a:lstStyle/>
          <a:p>
            <a:pPr algn="ctr">
              <a:lnSpc>
                <a:spcPct val="115000"/>
              </a:lnSpc>
            </a:pPr>
            <a:r>
              <a:rPr sz="1200" b="1">
                <a:solidFill>
                  <a:srgbClr val="FFFFFF"/>
                </a:solidFill>
                <a:latin typeface="Inter"/>
              </a:rPr>
              <a:t>PINECONE</a:t>
            </a:r>
          </a:p>
        </p:txBody>
      </p:sp>
      <p:sp>
        <p:nvSpPr>
          <p:cNvPr id="19" name="TextBox 18"/>
          <p:cNvSpPr txBox="1"/>
          <p:nvPr/>
        </p:nvSpPr>
        <p:spPr>
          <a:xfrm>
            <a:off x="3526383" y="2788920"/>
            <a:ext cx="2331720" cy="457200"/>
          </a:xfrm>
          <a:prstGeom prst="rect">
            <a:avLst/>
          </a:prstGeom>
          <a:noFill/>
        </p:spPr>
        <p:txBody>
          <a:bodyPr wrap="square" lIns="0" rIns="0" tIns="0" bIns="0">
            <a:spAutoFit/>
          </a:bodyPr>
          <a:lstStyle/>
          <a:p>
            <a:pPr algn="ctr">
              <a:lnSpc>
                <a:spcPct val="115000"/>
              </a:lnSpc>
            </a:pPr>
            <a:r>
              <a:rPr sz="1300" b="1">
                <a:solidFill>
                  <a:srgbClr val="0F172A"/>
                </a:solidFill>
                <a:latin typeface="Inter"/>
              </a:rPr>
              <a:t>Managed cloud</a:t>
            </a:r>
          </a:p>
        </p:txBody>
      </p:sp>
      <p:sp>
        <p:nvSpPr>
          <p:cNvPr id="20" name="TextBox 19"/>
          <p:cNvSpPr txBox="1"/>
          <p:nvPr/>
        </p:nvSpPr>
        <p:spPr>
          <a:xfrm>
            <a:off x="3526383" y="3337560"/>
            <a:ext cx="2331720" cy="1828800"/>
          </a:xfrm>
          <a:prstGeom prst="rect">
            <a:avLst/>
          </a:prstGeom>
          <a:noFill/>
        </p:spPr>
        <p:txBody>
          <a:bodyPr wrap="square" lIns="0" rIns="0" tIns="0" bIns="0">
            <a:spAutoFit/>
          </a:bodyPr>
          <a:lstStyle/>
          <a:p>
            <a:pPr algn="ctr">
              <a:lnSpc>
                <a:spcPct val="150000"/>
              </a:lnSpc>
            </a:pPr>
            <a:r>
              <a:rPr sz="1200" b="0">
                <a:solidFill>
                  <a:srgbClr val="64748B"/>
                </a:solidFill>
                <a:latin typeface="Inter"/>
              </a:rPr>
              <a:t>Zero ops · pay per million vectors</a:t>
            </a:r>
          </a:p>
        </p:txBody>
      </p:sp>
      <p:sp>
        <p:nvSpPr>
          <p:cNvPr id="21" name="Rounded Rectangle 20"/>
          <p:cNvSpPr/>
          <p:nvPr/>
        </p:nvSpPr>
        <p:spPr>
          <a:xfrm>
            <a:off x="6150711" y="2194560"/>
            <a:ext cx="2697480" cy="3200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0711" y="2194560"/>
            <a:ext cx="2697480" cy="4114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0711" y="2286000"/>
            <a:ext cx="2697480" cy="292608"/>
          </a:xfrm>
          <a:prstGeom prst="rect">
            <a:avLst/>
          </a:prstGeom>
          <a:noFill/>
        </p:spPr>
        <p:txBody>
          <a:bodyPr wrap="square" lIns="0" rIns="0" tIns="0" bIns="0">
            <a:spAutoFit/>
          </a:bodyPr>
          <a:lstStyle/>
          <a:p>
            <a:pPr algn="ctr">
              <a:lnSpc>
                <a:spcPct val="115000"/>
              </a:lnSpc>
            </a:pPr>
            <a:r>
              <a:rPr sz="1200" b="1">
                <a:solidFill>
                  <a:srgbClr val="FFFFFF"/>
                </a:solidFill>
                <a:latin typeface="Inter"/>
              </a:rPr>
              <a:t>WEAVIATE / QDRANT</a:t>
            </a:r>
          </a:p>
        </p:txBody>
      </p:sp>
      <p:sp>
        <p:nvSpPr>
          <p:cNvPr id="24" name="TextBox 23"/>
          <p:cNvSpPr txBox="1"/>
          <p:nvPr/>
        </p:nvSpPr>
        <p:spPr>
          <a:xfrm>
            <a:off x="6333591" y="2788920"/>
            <a:ext cx="2331720" cy="457200"/>
          </a:xfrm>
          <a:prstGeom prst="rect">
            <a:avLst/>
          </a:prstGeom>
          <a:noFill/>
        </p:spPr>
        <p:txBody>
          <a:bodyPr wrap="square" lIns="0" rIns="0" tIns="0" bIns="0">
            <a:spAutoFit/>
          </a:bodyPr>
          <a:lstStyle/>
          <a:p>
            <a:pPr algn="ctr">
              <a:lnSpc>
                <a:spcPct val="115000"/>
              </a:lnSpc>
            </a:pPr>
            <a:r>
              <a:rPr sz="1300" b="1">
                <a:solidFill>
                  <a:srgbClr val="0F172A"/>
                </a:solidFill>
                <a:latin typeface="Inter"/>
              </a:rPr>
              <a:t>Self-host or cloud</a:t>
            </a:r>
          </a:p>
        </p:txBody>
      </p:sp>
      <p:sp>
        <p:nvSpPr>
          <p:cNvPr id="25" name="TextBox 24"/>
          <p:cNvSpPr txBox="1"/>
          <p:nvPr/>
        </p:nvSpPr>
        <p:spPr>
          <a:xfrm>
            <a:off x="6333591" y="3337560"/>
            <a:ext cx="2331720" cy="1828800"/>
          </a:xfrm>
          <a:prstGeom prst="rect">
            <a:avLst/>
          </a:prstGeom>
          <a:noFill/>
        </p:spPr>
        <p:txBody>
          <a:bodyPr wrap="square" lIns="0" rIns="0" tIns="0" bIns="0">
            <a:spAutoFit/>
          </a:bodyPr>
          <a:lstStyle/>
          <a:p>
            <a:pPr algn="ctr">
              <a:lnSpc>
                <a:spcPct val="150000"/>
              </a:lnSpc>
            </a:pPr>
            <a:r>
              <a:rPr sz="1200" b="0">
                <a:solidFill>
                  <a:srgbClr val="64748B"/>
                </a:solidFill>
                <a:latin typeface="Inter"/>
              </a:rPr>
              <a:t>Hybrid search built-in · open</a:t>
            </a:r>
          </a:p>
        </p:txBody>
      </p:sp>
      <p:sp>
        <p:nvSpPr>
          <p:cNvPr id="26" name="Rounded Rectangle 25"/>
          <p:cNvSpPr/>
          <p:nvPr/>
        </p:nvSpPr>
        <p:spPr>
          <a:xfrm>
            <a:off x="8957919" y="2194560"/>
            <a:ext cx="2697480" cy="32004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7919" y="2194560"/>
            <a:ext cx="2697480" cy="41148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57919" y="2286000"/>
            <a:ext cx="2697480" cy="292608"/>
          </a:xfrm>
          <a:prstGeom prst="rect">
            <a:avLst/>
          </a:prstGeom>
          <a:noFill/>
        </p:spPr>
        <p:txBody>
          <a:bodyPr wrap="square" lIns="0" rIns="0" tIns="0" bIns="0">
            <a:spAutoFit/>
          </a:bodyPr>
          <a:lstStyle/>
          <a:p>
            <a:pPr algn="ctr">
              <a:lnSpc>
                <a:spcPct val="115000"/>
              </a:lnSpc>
            </a:pPr>
            <a:r>
              <a:rPr sz="1200" b="1">
                <a:solidFill>
                  <a:srgbClr val="FFFFFF"/>
                </a:solidFill>
                <a:latin typeface="Inter"/>
              </a:rPr>
              <a:t>FAISS</a:t>
            </a:r>
          </a:p>
        </p:txBody>
      </p:sp>
      <p:sp>
        <p:nvSpPr>
          <p:cNvPr id="29" name="TextBox 28"/>
          <p:cNvSpPr txBox="1"/>
          <p:nvPr/>
        </p:nvSpPr>
        <p:spPr>
          <a:xfrm>
            <a:off x="9140799" y="2788920"/>
            <a:ext cx="2331720" cy="457200"/>
          </a:xfrm>
          <a:prstGeom prst="rect">
            <a:avLst/>
          </a:prstGeom>
          <a:noFill/>
        </p:spPr>
        <p:txBody>
          <a:bodyPr wrap="square" lIns="0" rIns="0" tIns="0" bIns="0">
            <a:spAutoFit/>
          </a:bodyPr>
          <a:lstStyle/>
          <a:p>
            <a:pPr algn="ctr">
              <a:lnSpc>
                <a:spcPct val="115000"/>
              </a:lnSpc>
            </a:pPr>
            <a:r>
              <a:rPr sz="1300" b="1">
                <a:solidFill>
                  <a:srgbClr val="0F172A"/>
                </a:solidFill>
                <a:latin typeface="Inter"/>
              </a:rPr>
              <a:t>Library, not a DB</a:t>
            </a:r>
          </a:p>
        </p:txBody>
      </p:sp>
      <p:sp>
        <p:nvSpPr>
          <p:cNvPr id="30" name="TextBox 29"/>
          <p:cNvSpPr txBox="1"/>
          <p:nvPr/>
        </p:nvSpPr>
        <p:spPr>
          <a:xfrm>
            <a:off x="9140799" y="3337560"/>
            <a:ext cx="2331720" cy="1828800"/>
          </a:xfrm>
          <a:prstGeom prst="rect">
            <a:avLst/>
          </a:prstGeom>
          <a:noFill/>
        </p:spPr>
        <p:txBody>
          <a:bodyPr wrap="square" lIns="0" rIns="0" tIns="0" bIns="0">
            <a:spAutoFit/>
          </a:bodyPr>
          <a:lstStyle/>
          <a:p>
            <a:pPr algn="ctr">
              <a:lnSpc>
                <a:spcPct val="150000"/>
              </a:lnSpc>
            </a:pPr>
            <a:r>
              <a:rPr sz="1200" b="0">
                <a:solidFill>
                  <a:srgbClr val="64748B"/>
                </a:solidFill>
                <a:latin typeface="Inter"/>
              </a:rPr>
              <a:t>Notebook / on-disk only · no auth</a:t>
            </a:r>
          </a:p>
        </p:txBody>
      </p:sp>
      <p:sp>
        <p:nvSpPr>
          <p:cNvPr id="31" name="TextBox 30"/>
          <p:cNvSpPr txBox="1"/>
          <p:nvPr/>
        </p:nvSpPr>
        <p:spPr>
          <a:xfrm>
            <a:off x="548640" y="5669280"/>
            <a:ext cx="11064240" cy="457200"/>
          </a:xfrm>
          <a:prstGeom prst="rect">
            <a:avLst/>
          </a:prstGeom>
          <a:noFill/>
        </p:spPr>
        <p:txBody>
          <a:bodyPr wrap="square" lIns="0" rIns="0" tIns="0" bIns="0">
            <a:spAutoFit/>
          </a:bodyPr>
          <a:lstStyle/>
          <a:p>
            <a:pPr algn="ctr">
              <a:lnSpc>
                <a:spcPct val="115000"/>
              </a:lnSpc>
            </a:pPr>
            <a:r>
              <a:rPr sz="1400" b="1">
                <a:solidFill>
                  <a:srgbClr val="0F2A5C"/>
                </a:solidFill>
                <a:latin typeface="Inter"/>
              </a:rPr>
              <a:t>Default to pgvector. The Postgres you already have is the right answer 80% of the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10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COMPONENT · 3 OF 5</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Retrieval — top-K, filters, reranking</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868680" cy="86868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86000"/>
            <a:ext cx="868680" cy="365760"/>
          </a:xfrm>
          <a:prstGeom prst="rect">
            <a:avLst/>
          </a:prstGeom>
          <a:noFill/>
        </p:spPr>
        <p:txBody>
          <a:bodyPr wrap="square" lIns="0" rIns="0" tIns="0" bIns="0">
            <a:spAutoFit/>
          </a:bodyPr>
          <a:lstStyle/>
          <a:p>
            <a:pPr algn="ctr">
              <a:lnSpc>
                <a:spcPct val="115000"/>
              </a:lnSpc>
            </a:pPr>
            <a:r>
              <a:rPr sz="2200" b="1">
                <a:solidFill>
                  <a:srgbClr val="FFFFFF"/>
                </a:solidFill>
                <a:latin typeface="Inter"/>
              </a:rPr>
              <a:t>01</a:t>
            </a:r>
          </a:p>
        </p:txBody>
      </p:sp>
      <p:sp>
        <p:nvSpPr>
          <p:cNvPr id="13" name="Rounded Rectangle 12"/>
          <p:cNvSpPr/>
          <p:nvPr/>
        </p:nvSpPr>
        <p:spPr>
          <a:xfrm>
            <a:off x="1508760" y="2011680"/>
            <a:ext cx="10104120" cy="8686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2176272"/>
            <a:ext cx="9601200" cy="365760"/>
          </a:xfrm>
          <a:prstGeom prst="rect">
            <a:avLst/>
          </a:prstGeom>
          <a:noFill/>
        </p:spPr>
        <p:txBody>
          <a:bodyPr wrap="square" lIns="0" rIns="0" tIns="0" bIns="0">
            <a:spAutoFit/>
          </a:bodyPr>
          <a:lstStyle/>
          <a:p>
            <a:pPr algn="l">
              <a:lnSpc>
                <a:spcPct val="115000"/>
              </a:lnSpc>
            </a:pPr>
            <a:r>
              <a:rPr sz="1600" b="1">
                <a:solidFill>
                  <a:srgbClr val="0F172A"/>
                </a:solidFill>
                <a:latin typeface="Inter"/>
              </a:rPr>
              <a:t>Top-K vector search</a:t>
            </a:r>
          </a:p>
        </p:txBody>
      </p:sp>
      <p:sp>
        <p:nvSpPr>
          <p:cNvPr id="15" name="TextBox 14"/>
          <p:cNvSpPr txBox="1"/>
          <p:nvPr/>
        </p:nvSpPr>
        <p:spPr>
          <a:xfrm>
            <a:off x="1783080" y="2514600"/>
            <a:ext cx="960120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Pull the K nearest vectors. K = 20-50 is the usual band.</a:t>
            </a:r>
          </a:p>
        </p:txBody>
      </p:sp>
      <p:sp>
        <p:nvSpPr>
          <p:cNvPr id="16" name="Rounded Rectangle 15"/>
          <p:cNvSpPr/>
          <p:nvPr/>
        </p:nvSpPr>
        <p:spPr>
          <a:xfrm>
            <a:off x="548640" y="2971800"/>
            <a:ext cx="868680" cy="86868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246120"/>
            <a:ext cx="868680" cy="365760"/>
          </a:xfrm>
          <a:prstGeom prst="rect">
            <a:avLst/>
          </a:prstGeom>
          <a:noFill/>
        </p:spPr>
        <p:txBody>
          <a:bodyPr wrap="square" lIns="0" rIns="0" tIns="0" bIns="0">
            <a:spAutoFit/>
          </a:bodyPr>
          <a:lstStyle/>
          <a:p>
            <a:pPr algn="ctr">
              <a:lnSpc>
                <a:spcPct val="115000"/>
              </a:lnSpc>
            </a:pPr>
            <a:r>
              <a:rPr sz="2200" b="1">
                <a:solidFill>
                  <a:srgbClr val="FFFFFF"/>
                </a:solidFill>
                <a:latin typeface="Inter"/>
              </a:rPr>
              <a:t>02</a:t>
            </a:r>
          </a:p>
        </p:txBody>
      </p:sp>
      <p:sp>
        <p:nvSpPr>
          <p:cNvPr id="18" name="Rounded Rectangle 17"/>
          <p:cNvSpPr/>
          <p:nvPr/>
        </p:nvSpPr>
        <p:spPr>
          <a:xfrm>
            <a:off x="1508760" y="2971800"/>
            <a:ext cx="10104120" cy="8686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83080" y="3136392"/>
            <a:ext cx="9601200" cy="365760"/>
          </a:xfrm>
          <a:prstGeom prst="rect">
            <a:avLst/>
          </a:prstGeom>
          <a:noFill/>
        </p:spPr>
        <p:txBody>
          <a:bodyPr wrap="square" lIns="0" rIns="0" tIns="0" bIns="0">
            <a:spAutoFit/>
          </a:bodyPr>
          <a:lstStyle/>
          <a:p>
            <a:pPr algn="l">
              <a:lnSpc>
                <a:spcPct val="115000"/>
              </a:lnSpc>
            </a:pPr>
            <a:r>
              <a:rPr sz="1600" b="1">
                <a:solidFill>
                  <a:srgbClr val="0F172A"/>
                </a:solidFill>
                <a:latin typeface="Inter"/>
              </a:rPr>
              <a:t>Pre-filter by metadata</a:t>
            </a:r>
          </a:p>
        </p:txBody>
      </p:sp>
      <p:sp>
        <p:nvSpPr>
          <p:cNvPr id="20" name="TextBox 19"/>
          <p:cNvSpPr txBox="1"/>
          <p:nvPr/>
        </p:nvSpPr>
        <p:spPr>
          <a:xfrm>
            <a:off x="1783080" y="3474720"/>
            <a:ext cx="960120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Region, time window, tenant — apply BEFORE the similarity search</a:t>
            </a:r>
          </a:p>
        </p:txBody>
      </p:sp>
      <p:sp>
        <p:nvSpPr>
          <p:cNvPr id="21" name="Rounded Rectangle 20"/>
          <p:cNvSpPr/>
          <p:nvPr/>
        </p:nvSpPr>
        <p:spPr>
          <a:xfrm>
            <a:off x="548640" y="3931920"/>
            <a:ext cx="868680" cy="86868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06240"/>
            <a:ext cx="868680" cy="365760"/>
          </a:xfrm>
          <a:prstGeom prst="rect">
            <a:avLst/>
          </a:prstGeom>
          <a:noFill/>
        </p:spPr>
        <p:txBody>
          <a:bodyPr wrap="square" lIns="0" rIns="0" tIns="0" bIns="0">
            <a:spAutoFit/>
          </a:bodyPr>
          <a:lstStyle/>
          <a:p>
            <a:pPr algn="ctr">
              <a:lnSpc>
                <a:spcPct val="115000"/>
              </a:lnSpc>
            </a:pPr>
            <a:r>
              <a:rPr sz="2200" b="1">
                <a:solidFill>
                  <a:srgbClr val="FFFFFF"/>
                </a:solidFill>
                <a:latin typeface="Inter"/>
              </a:rPr>
              <a:t>03</a:t>
            </a:r>
          </a:p>
        </p:txBody>
      </p:sp>
      <p:sp>
        <p:nvSpPr>
          <p:cNvPr id="23" name="Rounded Rectangle 22"/>
          <p:cNvSpPr/>
          <p:nvPr/>
        </p:nvSpPr>
        <p:spPr>
          <a:xfrm>
            <a:off x="1508760" y="3931920"/>
            <a:ext cx="10104120" cy="8686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4096512"/>
            <a:ext cx="9601200" cy="365760"/>
          </a:xfrm>
          <a:prstGeom prst="rect">
            <a:avLst/>
          </a:prstGeom>
          <a:noFill/>
        </p:spPr>
        <p:txBody>
          <a:bodyPr wrap="square" lIns="0" rIns="0" tIns="0" bIns="0">
            <a:spAutoFit/>
          </a:bodyPr>
          <a:lstStyle/>
          <a:p>
            <a:pPr algn="l">
              <a:lnSpc>
                <a:spcPct val="115000"/>
              </a:lnSpc>
            </a:pPr>
            <a:r>
              <a:rPr sz="1600" b="1">
                <a:solidFill>
                  <a:srgbClr val="0F172A"/>
                </a:solidFill>
                <a:latin typeface="Inter"/>
              </a:rPr>
              <a:t>Rerank with a cross-encoder</a:t>
            </a:r>
          </a:p>
        </p:txBody>
      </p:sp>
      <p:sp>
        <p:nvSpPr>
          <p:cNvPr id="25" name="TextBox 24"/>
          <p:cNvSpPr txBox="1"/>
          <p:nvPr/>
        </p:nvSpPr>
        <p:spPr>
          <a:xfrm>
            <a:off x="1783080" y="4434840"/>
            <a:ext cx="960120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Re-score the K candidates with a slower, more accurate model</a:t>
            </a:r>
          </a:p>
        </p:txBody>
      </p:sp>
      <p:sp>
        <p:nvSpPr>
          <p:cNvPr id="26" name="Rounded Rectangle 25"/>
          <p:cNvSpPr/>
          <p:nvPr/>
        </p:nvSpPr>
        <p:spPr>
          <a:xfrm>
            <a:off x="548640" y="4892040"/>
            <a:ext cx="868680" cy="868680"/>
          </a:xfrm>
          <a:prstGeom prst="roundRect">
            <a:avLst>
              <a:gd name="adj" fmla="val 10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166360"/>
            <a:ext cx="868680" cy="365760"/>
          </a:xfrm>
          <a:prstGeom prst="rect">
            <a:avLst/>
          </a:prstGeom>
          <a:noFill/>
        </p:spPr>
        <p:txBody>
          <a:bodyPr wrap="square" lIns="0" rIns="0" tIns="0" bIns="0">
            <a:spAutoFit/>
          </a:bodyPr>
          <a:lstStyle/>
          <a:p>
            <a:pPr algn="ctr">
              <a:lnSpc>
                <a:spcPct val="115000"/>
              </a:lnSpc>
            </a:pPr>
            <a:r>
              <a:rPr sz="2200" b="1">
                <a:solidFill>
                  <a:srgbClr val="FFFFFF"/>
                </a:solidFill>
                <a:latin typeface="Inter"/>
              </a:rPr>
              <a:t>04</a:t>
            </a:r>
          </a:p>
        </p:txBody>
      </p:sp>
      <p:sp>
        <p:nvSpPr>
          <p:cNvPr id="28" name="Rounded Rectangle 27"/>
          <p:cNvSpPr/>
          <p:nvPr/>
        </p:nvSpPr>
        <p:spPr>
          <a:xfrm>
            <a:off x="1508760" y="4892040"/>
            <a:ext cx="10104120" cy="8686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83080" y="5056632"/>
            <a:ext cx="9601200" cy="365760"/>
          </a:xfrm>
          <a:prstGeom prst="rect">
            <a:avLst/>
          </a:prstGeom>
          <a:noFill/>
        </p:spPr>
        <p:txBody>
          <a:bodyPr wrap="square" lIns="0" rIns="0" tIns="0" bIns="0">
            <a:spAutoFit/>
          </a:bodyPr>
          <a:lstStyle/>
          <a:p>
            <a:pPr algn="l">
              <a:lnSpc>
                <a:spcPct val="115000"/>
              </a:lnSpc>
            </a:pPr>
            <a:r>
              <a:rPr sz="1600" b="1">
                <a:solidFill>
                  <a:srgbClr val="0F172A"/>
                </a:solidFill>
                <a:latin typeface="Inter"/>
              </a:rPr>
              <a:t>Deduplicate near-clones</a:t>
            </a:r>
          </a:p>
        </p:txBody>
      </p:sp>
      <p:sp>
        <p:nvSpPr>
          <p:cNvPr id="30" name="TextBox 29"/>
          <p:cNvSpPr txBox="1"/>
          <p:nvPr/>
        </p:nvSpPr>
        <p:spPr>
          <a:xfrm>
            <a:off x="1783080" y="5394960"/>
            <a:ext cx="9601200" cy="365760"/>
          </a:xfrm>
          <a:prstGeom prst="rect">
            <a:avLst/>
          </a:prstGeom>
          <a:noFill/>
        </p:spPr>
        <p:txBody>
          <a:bodyPr wrap="square" lIns="0" rIns="0" tIns="0" bIns="0">
            <a:spAutoFit/>
          </a:bodyPr>
          <a:lstStyle/>
          <a:p>
            <a:pPr algn="l">
              <a:lnSpc>
                <a:spcPct val="115000"/>
              </a:lnSpc>
            </a:pPr>
            <a:r>
              <a:rPr sz="1300" b="0">
                <a:solidFill>
                  <a:srgbClr val="64748B"/>
                </a:solidFill>
                <a:latin typeface="Inter"/>
              </a:rPr>
              <a:t>Otherwise the LLM sees the same fact 5 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11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COMPONENT · 4 OF 5</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Augment — how you build the prompt</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6949440" cy="4114800"/>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48840"/>
            <a:ext cx="6400800" cy="365760"/>
          </a:xfrm>
          <a:prstGeom prst="rect">
            <a:avLst/>
          </a:prstGeom>
          <a:noFill/>
        </p:spPr>
        <p:txBody>
          <a:bodyPr wrap="square" lIns="0" rIns="0" tIns="0" bIns="0">
            <a:spAutoFit/>
          </a:bodyPr>
          <a:lstStyle/>
          <a:p>
            <a:pPr algn="l">
              <a:lnSpc>
                <a:spcPct val="115000"/>
              </a:lnSpc>
            </a:pPr>
            <a:r>
              <a:rPr sz="1100" b="1">
                <a:solidFill>
                  <a:srgbClr val="06B6D4"/>
                </a:solidFill>
                <a:latin typeface="Menlo"/>
              </a:rPr>
              <a:t>Prompt template</a:t>
            </a:r>
          </a:p>
        </p:txBody>
      </p:sp>
      <p:sp>
        <p:nvSpPr>
          <p:cNvPr id="13" name="TextBox 12"/>
          <p:cNvSpPr txBox="1"/>
          <p:nvPr/>
        </p:nvSpPr>
        <p:spPr>
          <a:xfrm>
            <a:off x="777240" y="2468880"/>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You answer questions about FX trades.</a:t>
            </a:r>
          </a:p>
        </p:txBody>
      </p:sp>
      <p:sp>
        <p:nvSpPr>
          <p:cNvPr id="14" name="TextBox 13"/>
          <p:cNvSpPr txBox="1"/>
          <p:nvPr/>
        </p:nvSpPr>
        <p:spPr>
          <a:xfrm>
            <a:off x="777240" y="2761488"/>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Use ONLY the context below; cite ids.</a:t>
            </a:r>
          </a:p>
        </p:txBody>
      </p:sp>
      <p:sp>
        <p:nvSpPr>
          <p:cNvPr id="15" name="TextBox 14"/>
          <p:cNvSpPr txBox="1"/>
          <p:nvPr/>
        </p:nvSpPr>
        <p:spPr>
          <a:xfrm>
            <a:off x="777240" y="3054096"/>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If the context is empty, say so.</a:t>
            </a:r>
          </a:p>
        </p:txBody>
      </p:sp>
      <p:sp>
        <p:nvSpPr>
          <p:cNvPr id="16" name="TextBox 15"/>
          <p:cNvSpPr txBox="1"/>
          <p:nvPr/>
        </p:nvSpPr>
        <p:spPr>
          <a:xfrm>
            <a:off x="777240" y="3346704"/>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 </a:t>
            </a:r>
          </a:p>
        </p:txBody>
      </p:sp>
      <p:sp>
        <p:nvSpPr>
          <p:cNvPr id="17" name="TextBox 16"/>
          <p:cNvSpPr txBox="1"/>
          <p:nvPr/>
        </p:nvSpPr>
        <p:spPr>
          <a:xfrm>
            <a:off x="777240" y="3639312"/>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&lt;context&gt;</a:t>
            </a:r>
          </a:p>
        </p:txBody>
      </p:sp>
      <p:sp>
        <p:nvSpPr>
          <p:cNvPr id="18" name="TextBox 17"/>
          <p:cNvSpPr txBox="1"/>
          <p:nvPr/>
        </p:nvSpPr>
        <p:spPr>
          <a:xfrm>
            <a:off x="777240" y="3931920"/>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{retrieved_trade_1}</a:t>
            </a:r>
          </a:p>
        </p:txBody>
      </p:sp>
      <p:sp>
        <p:nvSpPr>
          <p:cNvPr id="19" name="TextBox 18"/>
          <p:cNvSpPr txBox="1"/>
          <p:nvPr/>
        </p:nvSpPr>
        <p:spPr>
          <a:xfrm>
            <a:off x="777240" y="4224528"/>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{retrieved_trade_2}</a:t>
            </a:r>
          </a:p>
        </p:txBody>
      </p:sp>
      <p:sp>
        <p:nvSpPr>
          <p:cNvPr id="20" name="TextBox 19"/>
          <p:cNvSpPr txBox="1"/>
          <p:nvPr/>
        </p:nvSpPr>
        <p:spPr>
          <a:xfrm>
            <a:off x="777240" y="4517136"/>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a:t>
            </a:r>
          </a:p>
        </p:txBody>
      </p:sp>
      <p:sp>
        <p:nvSpPr>
          <p:cNvPr id="21" name="TextBox 20"/>
          <p:cNvSpPr txBox="1"/>
          <p:nvPr/>
        </p:nvSpPr>
        <p:spPr>
          <a:xfrm>
            <a:off x="777240" y="4809744"/>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&lt;/context&gt;</a:t>
            </a:r>
          </a:p>
        </p:txBody>
      </p:sp>
      <p:sp>
        <p:nvSpPr>
          <p:cNvPr id="22" name="TextBox 21"/>
          <p:cNvSpPr txBox="1"/>
          <p:nvPr/>
        </p:nvSpPr>
        <p:spPr>
          <a:xfrm>
            <a:off x="777240" y="5102352"/>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 </a:t>
            </a:r>
          </a:p>
        </p:txBody>
      </p:sp>
      <p:sp>
        <p:nvSpPr>
          <p:cNvPr id="23" name="TextBox 22"/>
          <p:cNvSpPr txBox="1"/>
          <p:nvPr/>
        </p:nvSpPr>
        <p:spPr>
          <a:xfrm>
            <a:off x="777240" y="5394960"/>
            <a:ext cx="6583680" cy="274320"/>
          </a:xfrm>
          <a:prstGeom prst="rect">
            <a:avLst/>
          </a:prstGeom>
          <a:noFill/>
        </p:spPr>
        <p:txBody>
          <a:bodyPr wrap="square" lIns="0" rIns="0" tIns="0" bIns="0">
            <a:spAutoFit/>
          </a:bodyPr>
          <a:lstStyle/>
          <a:p>
            <a:pPr algn="l">
              <a:lnSpc>
                <a:spcPct val="115000"/>
              </a:lnSpc>
            </a:pPr>
            <a:r>
              <a:rPr sz="1200" b="0">
                <a:solidFill>
                  <a:srgbClr val="E2E8F0"/>
                </a:solidFill>
                <a:latin typeface="Menlo"/>
              </a:rPr>
              <a:t>Question: {user_question}</a:t>
            </a:r>
          </a:p>
        </p:txBody>
      </p:sp>
      <p:sp>
        <p:nvSpPr>
          <p:cNvPr id="24" name="Rounded Rectangle 23"/>
          <p:cNvSpPr/>
          <p:nvPr/>
        </p:nvSpPr>
        <p:spPr>
          <a:xfrm>
            <a:off x="7772400" y="2011680"/>
            <a:ext cx="3840480" cy="411480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2194560"/>
            <a:ext cx="347472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RULES THAT WORK</a:t>
            </a:r>
          </a:p>
        </p:txBody>
      </p:sp>
      <p:sp>
        <p:nvSpPr>
          <p:cNvPr id="26" name="TextBox 25"/>
          <p:cNvSpPr txBox="1"/>
          <p:nvPr/>
        </p:nvSpPr>
        <p:spPr>
          <a:xfrm>
            <a:off x="8001000" y="2606040"/>
            <a:ext cx="3474720" cy="3291840"/>
          </a:xfrm>
          <a:prstGeom prst="rect">
            <a:avLst/>
          </a:prstGeom>
          <a:noFill/>
        </p:spPr>
        <p:txBody>
          <a:bodyPr wrap="square" lIns="0" rIns="0" tIns="0" bIns="0">
            <a:spAutoFit/>
          </a:bodyPr>
          <a:lstStyle/>
          <a:p>
            <a:pPr>
              <a:lnSpc>
                <a:spcPct val="140000"/>
              </a:lnSpc>
              <a:spcAft>
                <a:spcPts val="800"/>
              </a:spcAft>
            </a:pPr>
            <a:r>
              <a:rPr sz="1300">
                <a:solidFill>
                  <a:srgbClr val="0F2A5C"/>
                </a:solidFill>
                <a:latin typeface="Inter"/>
              </a:rPr>
              <a:t>●  </a:t>
            </a:r>
            <a:r>
              <a:rPr sz="1300">
                <a:solidFill>
                  <a:srgbClr val="0F2A5C"/>
                </a:solidFill>
                <a:latin typeface="Inter"/>
              </a:rPr>
              <a:t>Cite source IDs</a:t>
            </a:r>
          </a:p>
          <a:p>
            <a:pPr>
              <a:lnSpc>
                <a:spcPct val="140000"/>
              </a:lnSpc>
              <a:spcAft>
                <a:spcPts val="800"/>
              </a:spcAft>
            </a:pPr>
            <a:r>
              <a:rPr sz="1300">
                <a:solidFill>
                  <a:srgbClr val="0F2A5C"/>
                </a:solidFill>
                <a:latin typeface="Inter"/>
              </a:rPr>
              <a:t>●  </a:t>
            </a:r>
            <a:r>
              <a:rPr sz="1300">
                <a:solidFill>
                  <a:srgbClr val="0F2A5C"/>
                </a:solidFill>
                <a:latin typeface="Inter"/>
              </a:rPr>
              <a:t>Cap context tokens</a:t>
            </a:r>
          </a:p>
          <a:p>
            <a:pPr>
              <a:lnSpc>
                <a:spcPct val="140000"/>
              </a:lnSpc>
              <a:spcAft>
                <a:spcPts val="800"/>
              </a:spcAft>
            </a:pPr>
            <a:r>
              <a:rPr sz="1300">
                <a:solidFill>
                  <a:srgbClr val="0F2A5C"/>
                </a:solidFill>
                <a:latin typeface="Inter"/>
              </a:rPr>
              <a:t>●  </a:t>
            </a:r>
            <a:r>
              <a:rPr sz="1300">
                <a:solidFill>
                  <a:srgbClr val="0F2A5C"/>
                </a:solidFill>
                <a:latin typeface="Inter"/>
              </a:rPr>
              <a:t>Order best→worst</a:t>
            </a:r>
          </a:p>
          <a:p>
            <a:pPr>
              <a:lnSpc>
                <a:spcPct val="140000"/>
              </a:lnSpc>
              <a:spcAft>
                <a:spcPts val="800"/>
              </a:spcAft>
            </a:pPr>
            <a:r>
              <a:rPr sz="1300">
                <a:solidFill>
                  <a:srgbClr val="0F2A5C"/>
                </a:solidFill>
                <a:latin typeface="Inter"/>
              </a:rPr>
              <a:t>●  </a:t>
            </a:r>
            <a:r>
              <a:rPr sz="1300">
                <a:solidFill>
                  <a:srgbClr val="0F2A5C"/>
                </a:solidFill>
                <a:latin typeface="Inter"/>
              </a:rPr>
              <a:t>Demand “I don’t know”</a:t>
            </a:r>
          </a:p>
          <a:p>
            <a:pPr>
              <a:lnSpc>
                <a:spcPct val="140000"/>
              </a:lnSpc>
              <a:spcAft>
                <a:spcPts val="800"/>
              </a:spcAft>
            </a:pPr>
            <a:r>
              <a:rPr sz="1300">
                <a:solidFill>
                  <a:srgbClr val="0F2A5C"/>
                </a:solidFill>
                <a:latin typeface="Inter"/>
              </a:rPr>
              <a:t>●  </a:t>
            </a:r>
            <a:r>
              <a:rPr sz="1300">
                <a:solidFill>
                  <a:srgbClr val="0F2A5C"/>
                </a:solidFill>
                <a:latin typeface="Inter"/>
              </a:rPr>
              <a:t>Same template every call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12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RAG COMPONENT · 5 OF 5</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Generate — grounded answers + citations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0972800" cy="4114800"/>
          </a:xfrm>
          <a:prstGeom prst="rect">
            <a:avLst/>
          </a:prstGeom>
          <a:noFill/>
        </p:spPr>
        <p:txBody>
          <a:bodyPr wrap="square" lIns="0" rIns="0" tIns="0" bIns="0">
            <a:spAutoFit/>
          </a:bodyPr>
          <a:lstStyle/>
          <a:p>
            <a:pPr>
              <a:lnSpc>
                <a:spcPct val="140000"/>
              </a:lnSpc>
              <a:spcAft>
                <a:spcPts val="1400"/>
              </a:spcAft>
            </a:pPr>
            <a:r>
              <a:rPr sz="1800">
                <a:solidFill>
                  <a:srgbClr val="06B6D4"/>
                </a:solidFill>
                <a:latin typeface="Inter"/>
              </a:rPr>
              <a:t>●  </a:t>
            </a:r>
            <a:r>
              <a:rPr sz="1800">
                <a:solidFill>
                  <a:srgbClr val="0F172A"/>
                </a:solidFill>
                <a:latin typeface="Inter"/>
              </a:rPr>
              <a:t>Pick a model that supports JSON / structured output for citations</a:t>
            </a:r>
          </a:p>
          <a:p>
            <a:pPr>
              <a:lnSpc>
                <a:spcPct val="140000"/>
              </a:lnSpc>
              <a:spcAft>
                <a:spcPts val="1400"/>
              </a:spcAft>
            </a:pPr>
            <a:r>
              <a:rPr sz="1800">
                <a:solidFill>
                  <a:srgbClr val="06B6D4"/>
                </a:solidFill>
                <a:latin typeface="Inter"/>
              </a:rPr>
              <a:t>●  </a:t>
            </a:r>
            <a:r>
              <a:rPr sz="1800">
                <a:solidFill>
                  <a:srgbClr val="0F172A"/>
                </a:solidFill>
                <a:latin typeface="Inter"/>
              </a:rPr>
              <a:t>Lower temperature (0–0.3) for factual RAG; higher only for synthesis</a:t>
            </a:r>
          </a:p>
          <a:p>
            <a:pPr>
              <a:lnSpc>
                <a:spcPct val="140000"/>
              </a:lnSpc>
              <a:spcAft>
                <a:spcPts val="1400"/>
              </a:spcAft>
            </a:pPr>
            <a:r>
              <a:rPr sz="1800">
                <a:solidFill>
                  <a:srgbClr val="06B6D4"/>
                </a:solidFill>
                <a:latin typeface="Inter"/>
              </a:rPr>
              <a:t>●  </a:t>
            </a:r>
            <a:r>
              <a:rPr sz="1800">
                <a:solidFill>
                  <a:srgbClr val="0F172A"/>
                </a:solidFill>
                <a:latin typeface="Inter"/>
              </a:rPr>
              <a:t>Stream the answer; readers tolerate latency they can see</a:t>
            </a:r>
          </a:p>
          <a:p>
            <a:pPr>
              <a:lnSpc>
                <a:spcPct val="140000"/>
              </a:lnSpc>
              <a:spcAft>
                <a:spcPts val="1400"/>
              </a:spcAft>
            </a:pPr>
            <a:r>
              <a:rPr sz="1800">
                <a:solidFill>
                  <a:srgbClr val="06B6D4"/>
                </a:solidFill>
                <a:latin typeface="Inter"/>
              </a:rPr>
              <a:t>●  </a:t>
            </a:r>
            <a:r>
              <a:rPr sz="1800">
                <a:solidFill>
                  <a:srgbClr val="0F172A"/>
                </a:solidFill>
                <a:latin typeface="Inter"/>
              </a:rPr>
              <a:t>Always return the source IDs used — let the UI link back to evidence</a:t>
            </a:r>
          </a:p>
          <a:p>
            <a:pPr>
              <a:lnSpc>
                <a:spcPct val="140000"/>
              </a:lnSpc>
              <a:spcAft>
                <a:spcPts val="1400"/>
              </a:spcAft>
            </a:pPr>
            <a:r>
              <a:rPr sz="1800">
                <a:solidFill>
                  <a:srgbClr val="06B6D4"/>
                </a:solidFill>
                <a:latin typeface="Inter"/>
              </a:rPr>
              <a:t>●  </a:t>
            </a:r>
            <a:r>
              <a:rPr sz="1800">
                <a:solidFill>
                  <a:srgbClr val="0F172A"/>
                </a:solidFill>
                <a:latin typeface="Inter"/>
              </a:rPr>
              <a:t>Log the full prompt and the answer — debugging RAG without this is hopeless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13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WORKED EXAMPLE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RAG over FX trades — concrete walkthrough</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914400"/>
          </a:xfrm>
          <a:prstGeom prst="roundRect">
            <a:avLst>
              <a:gd name="adj" fmla="val 10000"/>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48840"/>
            <a:ext cx="10515600" cy="320040"/>
          </a:xfrm>
          <a:prstGeom prst="rect">
            <a:avLst/>
          </a:prstGeom>
          <a:noFill/>
        </p:spPr>
        <p:txBody>
          <a:bodyPr wrap="square" lIns="0" rIns="0" tIns="0" bIns="0">
            <a:spAutoFit/>
          </a:bodyPr>
          <a:lstStyle/>
          <a:p>
            <a:pPr algn="l">
              <a:lnSpc>
                <a:spcPct val="115000"/>
              </a:lnSpc>
            </a:pPr>
            <a:r>
              <a:rPr sz="1000" b="1">
                <a:solidFill>
                  <a:srgbClr val="06B6D4"/>
                </a:solidFill>
                <a:latin typeface="Inter"/>
              </a:rPr>
              <a:t>USER QUERY</a:t>
            </a:r>
          </a:p>
        </p:txBody>
      </p:sp>
      <p:sp>
        <p:nvSpPr>
          <p:cNvPr id="13" name="TextBox 12"/>
          <p:cNvSpPr txBox="1"/>
          <p:nvPr/>
        </p:nvSpPr>
        <p:spPr>
          <a:xfrm>
            <a:off x="777240" y="2423160"/>
            <a:ext cx="10515600" cy="411480"/>
          </a:xfrm>
          <a:prstGeom prst="rect">
            <a:avLst/>
          </a:prstGeom>
          <a:noFill/>
        </p:spPr>
        <p:txBody>
          <a:bodyPr wrap="square" lIns="0" rIns="0" tIns="0" bIns="0">
            <a:spAutoFit/>
          </a:bodyPr>
          <a:lstStyle/>
          <a:p>
            <a:pPr algn="l">
              <a:lnSpc>
                <a:spcPct val="115000"/>
              </a:lnSpc>
            </a:pPr>
            <a:r>
              <a:rPr sz="1600" b="0">
                <a:solidFill>
                  <a:srgbClr val="FFFFFF"/>
                </a:solidFill>
                <a:latin typeface="Menlo"/>
              </a:rPr>
              <a:t>“Why are we seeing more high-risk USD trades from us-east-1 since Tuesday?”</a:t>
            </a:r>
          </a:p>
        </p:txBody>
      </p:sp>
      <p:sp>
        <p:nvSpPr>
          <p:cNvPr id="14" name="Rounded Rectangle 13"/>
          <p:cNvSpPr/>
          <p:nvPr/>
        </p:nvSpPr>
        <p:spPr>
          <a:xfrm>
            <a:off x="548640" y="3246120"/>
            <a:ext cx="1828800" cy="594360"/>
          </a:xfrm>
          <a:prstGeom prst="roundRect">
            <a:avLst>
              <a:gd name="adj" fmla="val 10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410712"/>
            <a:ext cx="182880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FILTER</a:t>
            </a:r>
          </a:p>
        </p:txBody>
      </p:sp>
      <p:sp>
        <p:nvSpPr>
          <p:cNvPr id="16" name="Rounded Rectangle 15"/>
          <p:cNvSpPr/>
          <p:nvPr/>
        </p:nvSpPr>
        <p:spPr>
          <a:xfrm>
            <a:off x="2514600" y="3246120"/>
            <a:ext cx="9098280" cy="594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3410712"/>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Menlo"/>
              </a:rPr>
              <a:t>WHERE region=us-east-1 AND riskLevel=HIGH AND ts &gt; 2026-04-30</a:t>
            </a:r>
          </a:p>
        </p:txBody>
      </p:sp>
      <p:sp>
        <p:nvSpPr>
          <p:cNvPr id="18" name="Rounded Rectangle 17"/>
          <p:cNvSpPr/>
          <p:nvPr/>
        </p:nvSpPr>
        <p:spPr>
          <a:xfrm>
            <a:off x="548640" y="3913632"/>
            <a:ext cx="1828800" cy="594360"/>
          </a:xfrm>
          <a:prstGeom prst="roundRect">
            <a:avLst>
              <a:gd name="adj" fmla="val 10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078224"/>
            <a:ext cx="182880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EMBED</a:t>
            </a:r>
          </a:p>
        </p:txBody>
      </p:sp>
      <p:sp>
        <p:nvSpPr>
          <p:cNvPr id="20" name="Rounded Rectangle 19"/>
          <p:cNvSpPr/>
          <p:nvPr/>
        </p:nvSpPr>
        <p:spPr>
          <a:xfrm>
            <a:off x="2514600" y="3913632"/>
            <a:ext cx="9098280" cy="594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4078224"/>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Embed the question; nearest 50 trade summaries</a:t>
            </a:r>
          </a:p>
        </p:txBody>
      </p:sp>
      <p:sp>
        <p:nvSpPr>
          <p:cNvPr id="22" name="Rounded Rectangle 21"/>
          <p:cNvSpPr/>
          <p:nvPr/>
        </p:nvSpPr>
        <p:spPr>
          <a:xfrm>
            <a:off x="548640" y="4581144"/>
            <a:ext cx="1828800" cy="594360"/>
          </a:xfrm>
          <a:prstGeom prst="roundRect">
            <a:avLst>
              <a:gd name="adj" fmla="val 10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745736"/>
            <a:ext cx="182880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RERANK</a:t>
            </a:r>
          </a:p>
        </p:txBody>
      </p:sp>
      <p:sp>
        <p:nvSpPr>
          <p:cNvPr id="24" name="Rounded Rectangle 23"/>
          <p:cNvSpPr/>
          <p:nvPr/>
        </p:nvSpPr>
        <p:spPr>
          <a:xfrm>
            <a:off x="2514600" y="4581144"/>
            <a:ext cx="9098280" cy="594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0" y="4745736"/>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Cross-encoder picks the 8 most question-relevant</a:t>
            </a:r>
          </a:p>
        </p:txBody>
      </p:sp>
      <p:sp>
        <p:nvSpPr>
          <p:cNvPr id="26" name="Rounded Rectangle 25"/>
          <p:cNvSpPr/>
          <p:nvPr/>
        </p:nvSpPr>
        <p:spPr>
          <a:xfrm>
            <a:off x="548640" y="5248656"/>
            <a:ext cx="1828800" cy="594360"/>
          </a:xfrm>
          <a:prstGeom prst="roundRect">
            <a:avLst>
              <a:gd name="adj" fmla="val 10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13248"/>
            <a:ext cx="182880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GENERATE</a:t>
            </a:r>
          </a:p>
        </p:txBody>
      </p:sp>
      <p:sp>
        <p:nvSpPr>
          <p:cNvPr id="28" name="Rounded Rectangle 27"/>
          <p:cNvSpPr/>
          <p:nvPr/>
        </p:nvSpPr>
        <p:spPr>
          <a:xfrm>
            <a:off x="2514600" y="5248656"/>
            <a:ext cx="9098280" cy="59436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0" y="5413248"/>
            <a:ext cx="8686800" cy="365760"/>
          </a:xfrm>
          <a:prstGeom prst="rect">
            <a:avLst/>
          </a:prstGeom>
          <a:noFill/>
        </p:spPr>
        <p:txBody>
          <a:bodyPr wrap="square" lIns="0" rIns="0" tIns="0" bIns="0">
            <a:spAutoFit/>
          </a:bodyPr>
          <a:lstStyle/>
          <a:p>
            <a:pPr algn="l">
              <a:lnSpc>
                <a:spcPct val="115000"/>
              </a:lnSpc>
            </a:pPr>
            <a:r>
              <a:rPr sz="1300" b="0">
                <a:solidFill>
                  <a:srgbClr val="0F172A"/>
                </a:solidFill>
                <a:latin typeface="Inter"/>
              </a:rPr>
              <a:t>LLM summarises trends + cites trade IDs T-101, T-117, …</a:t>
            </a:r>
          </a:p>
        </p:txBody>
      </p:sp>
      <p:sp>
        <p:nvSpPr>
          <p:cNvPr id="30" name="TextBox 29"/>
          <p:cNvSpPr txBox="1"/>
          <p:nvPr/>
        </p:nvSpPr>
        <p:spPr>
          <a:xfrm>
            <a:off x="548640" y="6263640"/>
            <a:ext cx="11064240" cy="365760"/>
          </a:xfrm>
          <a:prstGeom prst="rect">
            <a:avLst/>
          </a:prstGeom>
          <a:noFill/>
        </p:spPr>
        <p:txBody>
          <a:bodyPr wrap="square" lIns="0" rIns="0" tIns="0" bIns="0">
            <a:spAutoFit/>
          </a:bodyPr>
          <a:lstStyle/>
          <a:p>
            <a:pPr algn="ctr">
              <a:lnSpc>
                <a:spcPct val="115000"/>
              </a:lnSpc>
            </a:pPr>
            <a:r>
              <a:rPr sz="1200" b="1">
                <a:solidFill>
                  <a:srgbClr val="0F2A5C"/>
                </a:solidFill>
                <a:latin typeface="Inter"/>
              </a:rPr>
              <a:t>OpenSearch is both retriever AND data plane — no separate vector DB needed.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14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TECHNIQUE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Hybrid search — keyword + vector</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11064240" cy="128016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94560"/>
            <a:ext cx="10515600" cy="365760"/>
          </a:xfrm>
          <a:prstGeom prst="rect">
            <a:avLst/>
          </a:prstGeom>
          <a:noFill/>
        </p:spPr>
        <p:txBody>
          <a:bodyPr wrap="square" lIns="0" rIns="0" tIns="0" bIns="0">
            <a:spAutoFit/>
          </a:bodyPr>
          <a:lstStyle/>
          <a:p>
            <a:pPr algn="l">
              <a:lnSpc>
                <a:spcPct val="115000"/>
              </a:lnSpc>
            </a:pPr>
            <a:r>
              <a:rPr sz="1100" b="1">
                <a:solidFill>
                  <a:srgbClr val="0F2A5C"/>
                </a:solidFill>
                <a:latin typeface="Inter"/>
              </a:rPr>
              <a:t>WHY YOU NEED BOTH</a:t>
            </a:r>
          </a:p>
        </p:txBody>
      </p:sp>
      <p:sp>
        <p:nvSpPr>
          <p:cNvPr id="13" name="TextBox 12"/>
          <p:cNvSpPr txBox="1"/>
          <p:nvPr/>
        </p:nvSpPr>
        <p:spPr>
          <a:xfrm>
            <a:off x="868680" y="2514600"/>
            <a:ext cx="10515600" cy="777240"/>
          </a:xfrm>
          <a:prstGeom prst="rect">
            <a:avLst/>
          </a:prstGeom>
          <a:noFill/>
        </p:spPr>
        <p:txBody>
          <a:bodyPr wrap="square" lIns="0" rIns="0" tIns="0" bIns="0">
            <a:spAutoFit/>
          </a:bodyPr>
          <a:lstStyle/>
          <a:p>
            <a:pPr algn="l">
              <a:lnSpc>
                <a:spcPct val="150000"/>
              </a:lnSpc>
            </a:pPr>
            <a:r>
              <a:rPr sz="1400" b="0">
                <a:solidFill>
                  <a:srgbClr val="0F2A5C"/>
                </a:solidFill>
                <a:latin typeface="Inter"/>
              </a:rPr>
              <a:t>Vector search misses exact identifiers (trade IDs, sanctions list names, ticker symbols). Keyword search misses paraphrase. Combine them.</a:t>
            </a:r>
          </a:p>
        </p:txBody>
      </p:sp>
      <p:sp>
        <p:nvSpPr>
          <p:cNvPr id="14" name="Rounded Rectangle 13"/>
          <p:cNvSpPr/>
          <p:nvPr/>
        </p:nvSpPr>
        <p:spPr>
          <a:xfrm>
            <a:off x="548640" y="3611880"/>
            <a:ext cx="3657600" cy="24688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3657600" cy="38404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85032"/>
            <a:ext cx="3657600" cy="292608"/>
          </a:xfrm>
          <a:prstGeom prst="rect">
            <a:avLst/>
          </a:prstGeom>
          <a:noFill/>
        </p:spPr>
        <p:txBody>
          <a:bodyPr wrap="square" lIns="0" rIns="0" tIns="0" bIns="0">
            <a:spAutoFit/>
          </a:bodyPr>
          <a:lstStyle/>
          <a:p>
            <a:pPr algn="ctr">
              <a:lnSpc>
                <a:spcPct val="115000"/>
              </a:lnSpc>
            </a:pPr>
            <a:r>
              <a:rPr sz="1100" b="1">
                <a:solidFill>
                  <a:srgbClr val="FFFFFF"/>
                </a:solidFill>
                <a:latin typeface="Inter"/>
              </a:rPr>
              <a:t>VECTOR (BM25 MISSES THESE)</a:t>
            </a:r>
          </a:p>
        </p:txBody>
      </p:sp>
      <p:sp>
        <p:nvSpPr>
          <p:cNvPr id="17" name="TextBox 16"/>
          <p:cNvSpPr txBox="1"/>
          <p:nvPr/>
        </p:nvSpPr>
        <p:spPr>
          <a:xfrm>
            <a:off x="822960" y="4206240"/>
            <a:ext cx="3108960" cy="1828800"/>
          </a:xfrm>
          <a:prstGeom prst="rect">
            <a:avLst/>
          </a:prstGeom>
          <a:noFill/>
        </p:spPr>
        <p:txBody>
          <a:bodyPr wrap="square" lIns="0" rIns="0" tIns="0" bIns="0">
            <a:spAutoFit/>
          </a:bodyPr>
          <a:lstStyle/>
          <a:p>
            <a:pPr algn="l">
              <a:lnSpc>
                <a:spcPct val="150000"/>
              </a:lnSpc>
            </a:pPr>
            <a:r>
              <a:rPr sz="1300" b="0">
                <a:solidFill>
                  <a:srgbClr val="334155"/>
                </a:solidFill>
                <a:latin typeface="Inter"/>
              </a:rPr>
              <a:t>Paraphrase · semantic similarity · "trades like this one"</a:t>
            </a:r>
          </a:p>
        </p:txBody>
      </p:sp>
      <p:sp>
        <p:nvSpPr>
          <p:cNvPr id="18" name="Rounded Rectangle 17"/>
          <p:cNvSpPr/>
          <p:nvPr/>
        </p:nvSpPr>
        <p:spPr>
          <a:xfrm>
            <a:off x="4297680" y="3611880"/>
            <a:ext cx="3657600" cy="24688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611880"/>
            <a:ext cx="3657600"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3685032"/>
            <a:ext cx="3657600" cy="292608"/>
          </a:xfrm>
          <a:prstGeom prst="rect">
            <a:avLst/>
          </a:prstGeom>
          <a:noFill/>
        </p:spPr>
        <p:txBody>
          <a:bodyPr wrap="square" lIns="0" rIns="0" tIns="0" bIns="0">
            <a:spAutoFit/>
          </a:bodyPr>
          <a:lstStyle/>
          <a:p>
            <a:pPr algn="ctr">
              <a:lnSpc>
                <a:spcPct val="115000"/>
              </a:lnSpc>
            </a:pPr>
            <a:r>
              <a:rPr sz="1100" b="1">
                <a:solidFill>
                  <a:srgbClr val="FFFFFF"/>
                </a:solidFill>
                <a:latin typeface="Inter"/>
              </a:rPr>
              <a:t>KEYWORD (VECTOR MISSES THESE)</a:t>
            </a:r>
          </a:p>
        </p:txBody>
      </p:sp>
      <p:sp>
        <p:nvSpPr>
          <p:cNvPr id="21" name="TextBox 20"/>
          <p:cNvSpPr txBox="1"/>
          <p:nvPr/>
        </p:nvSpPr>
        <p:spPr>
          <a:xfrm>
            <a:off x="4572000" y="4206240"/>
            <a:ext cx="3108960" cy="1828800"/>
          </a:xfrm>
          <a:prstGeom prst="rect">
            <a:avLst/>
          </a:prstGeom>
          <a:noFill/>
        </p:spPr>
        <p:txBody>
          <a:bodyPr wrap="square" lIns="0" rIns="0" tIns="0" bIns="0">
            <a:spAutoFit/>
          </a:bodyPr>
          <a:lstStyle/>
          <a:p>
            <a:pPr algn="l">
              <a:lnSpc>
                <a:spcPct val="150000"/>
              </a:lnSpc>
            </a:pPr>
            <a:r>
              <a:rPr sz="1300" b="0">
                <a:solidFill>
                  <a:srgbClr val="334155"/>
                </a:solidFill>
                <a:latin typeface="Inter"/>
              </a:rPr>
              <a:t>Exact matches · IDs · OFAC names · ticker symbols</a:t>
            </a:r>
          </a:p>
        </p:txBody>
      </p:sp>
      <p:sp>
        <p:nvSpPr>
          <p:cNvPr id="22" name="Rounded Rectangle 21"/>
          <p:cNvSpPr/>
          <p:nvPr/>
        </p:nvSpPr>
        <p:spPr>
          <a:xfrm>
            <a:off x="8046720" y="3611880"/>
            <a:ext cx="3657600" cy="24688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3611880"/>
            <a:ext cx="365760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3685032"/>
            <a:ext cx="3657600" cy="292608"/>
          </a:xfrm>
          <a:prstGeom prst="rect">
            <a:avLst/>
          </a:prstGeom>
          <a:noFill/>
        </p:spPr>
        <p:txBody>
          <a:bodyPr wrap="square" lIns="0" rIns="0" tIns="0" bIns="0">
            <a:spAutoFit/>
          </a:bodyPr>
          <a:lstStyle/>
          <a:p>
            <a:pPr algn="ctr">
              <a:lnSpc>
                <a:spcPct val="115000"/>
              </a:lnSpc>
            </a:pPr>
            <a:r>
              <a:rPr sz="1100" b="1">
                <a:solidFill>
                  <a:srgbClr val="FFFFFF"/>
                </a:solidFill>
                <a:latin typeface="Inter"/>
              </a:rPr>
              <a:t>RECIPROCAL RANK FUSION</a:t>
            </a:r>
          </a:p>
        </p:txBody>
      </p:sp>
      <p:sp>
        <p:nvSpPr>
          <p:cNvPr id="25" name="TextBox 24"/>
          <p:cNvSpPr txBox="1"/>
          <p:nvPr/>
        </p:nvSpPr>
        <p:spPr>
          <a:xfrm>
            <a:off x="8321040" y="4206240"/>
            <a:ext cx="3108960" cy="1828800"/>
          </a:xfrm>
          <a:prstGeom prst="rect">
            <a:avLst/>
          </a:prstGeom>
          <a:noFill/>
        </p:spPr>
        <p:txBody>
          <a:bodyPr wrap="square" lIns="0" rIns="0" tIns="0" bIns="0">
            <a:spAutoFit/>
          </a:bodyPr>
          <a:lstStyle/>
          <a:p>
            <a:pPr algn="l">
              <a:lnSpc>
                <a:spcPct val="150000"/>
              </a:lnSpc>
            </a:pPr>
            <a:r>
              <a:rPr sz="1300" b="0">
                <a:solidFill>
                  <a:srgbClr val="334155"/>
                </a:solidFill>
                <a:latin typeface="Inter"/>
              </a:rPr>
              <a:t>Combine ranks · simple, robust, no hyperparameter tuning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15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PITFALL</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Chunking — the most underrated decision</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11680"/>
            <a:ext cx="10972800" cy="4114800"/>
          </a:xfrm>
          <a:prstGeom prst="rect">
            <a:avLst/>
          </a:prstGeom>
          <a:noFill/>
        </p:spPr>
        <p:txBody>
          <a:bodyPr wrap="square" lIns="0" rIns="0" tIns="0" bIns="0">
            <a:spAutoFit/>
          </a:bodyPr>
          <a:lstStyle/>
          <a:p>
            <a:pPr>
              <a:lnSpc>
                <a:spcPct val="140000"/>
              </a:lnSpc>
              <a:spcAft>
                <a:spcPts val="1400"/>
              </a:spcAft>
            </a:pPr>
            <a:r>
              <a:rPr sz="1700">
                <a:solidFill>
                  <a:srgbClr val="06B6D4"/>
                </a:solidFill>
                <a:latin typeface="Inter"/>
              </a:rPr>
              <a:t>●  </a:t>
            </a:r>
            <a:r>
              <a:rPr sz="1700">
                <a:solidFill>
                  <a:srgbClr val="0F172A"/>
                </a:solidFill>
                <a:latin typeface="Inter"/>
              </a:rPr>
              <a:t>Chunk size sets retrieval granularity — fixed 512 tokens is rarely right</a:t>
            </a:r>
          </a:p>
          <a:p>
            <a:pPr>
              <a:lnSpc>
                <a:spcPct val="140000"/>
              </a:lnSpc>
              <a:spcAft>
                <a:spcPts val="1400"/>
              </a:spcAft>
            </a:pPr>
            <a:r>
              <a:rPr sz="1700">
                <a:solidFill>
                  <a:srgbClr val="06B6D4"/>
                </a:solidFill>
                <a:latin typeface="Inter"/>
              </a:rPr>
              <a:t>●  </a:t>
            </a:r>
            <a:r>
              <a:rPr sz="1700">
                <a:solidFill>
                  <a:srgbClr val="0F172A"/>
                </a:solidFill>
                <a:latin typeface="Inter"/>
              </a:rPr>
              <a:t>Overlap (10–15%) helps when answers straddle boundaries</a:t>
            </a:r>
          </a:p>
          <a:p>
            <a:pPr>
              <a:lnSpc>
                <a:spcPct val="140000"/>
              </a:lnSpc>
              <a:spcAft>
                <a:spcPts val="1400"/>
              </a:spcAft>
            </a:pPr>
            <a:r>
              <a:rPr sz="1700">
                <a:solidFill>
                  <a:srgbClr val="06B6D4"/>
                </a:solidFill>
                <a:latin typeface="Inter"/>
              </a:rPr>
              <a:t>●  </a:t>
            </a:r>
            <a:r>
              <a:rPr sz="1700">
                <a:solidFill>
                  <a:srgbClr val="0F172A"/>
                </a:solidFill>
                <a:latin typeface="Inter"/>
              </a:rPr>
              <a:t>Semantic chunking (split on headings, paragraphs, function defs) &gt; naïve</a:t>
            </a:r>
          </a:p>
          <a:p>
            <a:pPr>
              <a:lnSpc>
                <a:spcPct val="140000"/>
              </a:lnSpc>
              <a:spcAft>
                <a:spcPts val="1400"/>
              </a:spcAft>
            </a:pPr>
            <a:r>
              <a:rPr sz="1700">
                <a:solidFill>
                  <a:srgbClr val="06B6D4"/>
                </a:solidFill>
                <a:latin typeface="Inter"/>
              </a:rPr>
              <a:t>●  </a:t>
            </a:r>
            <a:r>
              <a:rPr sz="1700">
                <a:solidFill>
                  <a:srgbClr val="0F172A"/>
                </a:solidFill>
                <a:latin typeface="Inter"/>
              </a:rPr>
              <a:t>Store the WHOLE document with each chunk — context for the LLM, not the retriever</a:t>
            </a:r>
          </a:p>
          <a:p>
            <a:pPr>
              <a:lnSpc>
                <a:spcPct val="140000"/>
              </a:lnSpc>
              <a:spcAft>
                <a:spcPts val="1400"/>
              </a:spcAft>
            </a:pPr>
            <a:r>
              <a:rPr sz="1700">
                <a:solidFill>
                  <a:srgbClr val="06B6D4"/>
                </a:solidFill>
                <a:latin typeface="Inter"/>
              </a:rPr>
              <a:t>●  </a:t>
            </a:r>
            <a:r>
              <a:rPr sz="1700">
                <a:solidFill>
                  <a:srgbClr val="0F172A"/>
                </a:solidFill>
                <a:latin typeface="Inter"/>
              </a:rPr>
              <a:t>For our FX case: one chunk per trade · one chunk per book · one per region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16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QUALITY</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Evaluation — measure or guess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18288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86000"/>
            <a:ext cx="5029200" cy="411480"/>
          </a:xfrm>
          <a:prstGeom prst="rect">
            <a:avLst/>
          </a:prstGeom>
          <a:noFill/>
        </p:spPr>
        <p:txBody>
          <a:bodyPr wrap="square" lIns="0" rIns="0" tIns="0" bIns="0">
            <a:spAutoFit/>
          </a:bodyPr>
          <a:lstStyle/>
          <a:p>
            <a:pPr algn="l">
              <a:lnSpc>
                <a:spcPct val="115000"/>
              </a:lnSpc>
            </a:pPr>
            <a:r>
              <a:rPr sz="1800" b="1">
                <a:solidFill>
                  <a:srgbClr val="0F172A"/>
                </a:solidFill>
                <a:latin typeface="Inter"/>
              </a:rPr>
              <a:t>Retrieval</a:t>
            </a:r>
          </a:p>
        </p:txBody>
      </p:sp>
      <p:sp>
        <p:nvSpPr>
          <p:cNvPr id="14" name="TextBox 13"/>
          <p:cNvSpPr txBox="1"/>
          <p:nvPr/>
        </p:nvSpPr>
        <p:spPr>
          <a:xfrm>
            <a:off x="868680" y="2788920"/>
            <a:ext cx="5029200" cy="822960"/>
          </a:xfrm>
          <a:prstGeom prst="rect">
            <a:avLst/>
          </a:prstGeom>
          <a:noFill/>
        </p:spPr>
        <p:txBody>
          <a:bodyPr wrap="square" lIns="0" rIns="0" tIns="0" bIns="0">
            <a:spAutoFit/>
          </a:bodyPr>
          <a:lstStyle/>
          <a:p>
            <a:pPr algn="l">
              <a:lnSpc>
                <a:spcPct val="140000"/>
              </a:lnSpc>
            </a:pPr>
            <a:r>
              <a:rPr sz="1400" b="0">
                <a:solidFill>
                  <a:srgbClr val="64748B"/>
                </a:solidFill>
                <a:latin typeface="Inter"/>
              </a:rPr>
              <a:t>Precision@K · Recall@K · MRR</a:t>
            </a:r>
          </a:p>
        </p:txBody>
      </p:sp>
      <p:sp>
        <p:nvSpPr>
          <p:cNvPr id="15" name="Rounded Rectangle 14"/>
          <p:cNvSpPr/>
          <p:nvPr/>
        </p:nvSpPr>
        <p:spPr>
          <a:xfrm>
            <a:off x="612648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011680"/>
            <a:ext cx="91440" cy="18288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286000"/>
            <a:ext cx="5029200" cy="411480"/>
          </a:xfrm>
          <a:prstGeom prst="rect">
            <a:avLst/>
          </a:prstGeom>
          <a:noFill/>
        </p:spPr>
        <p:txBody>
          <a:bodyPr wrap="square" lIns="0" rIns="0" tIns="0" bIns="0">
            <a:spAutoFit/>
          </a:bodyPr>
          <a:lstStyle/>
          <a:p>
            <a:pPr algn="l">
              <a:lnSpc>
                <a:spcPct val="115000"/>
              </a:lnSpc>
            </a:pPr>
            <a:r>
              <a:rPr sz="1800" b="1">
                <a:solidFill>
                  <a:srgbClr val="0F172A"/>
                </a:solidFill>
                <a:latin typeface="Inter"/>
              </a:rPr>
              <a:t>Faithfulness</a:t>
            </a:r>
          </a:p>
        </p:txBody>
      </p:sp>
      <p:sp>
        <p:nvSpPr>
          <p:cNvPr id="18" name="TextBox 17"/>
          <p:cNvSpPr txBox="1"/>
          <p:nvPr/>
        </p:nvSpPr>
        <p:spPr>
          <a:xfrm>
            <a:off x="6446520" y="2788920"/>
            <a:ext cx="5029200" cy="822960"/>
          </a:xfrm>
          <a:prstGeom prst="rect">
            <a:avLst/>
          </a:prstGeom>
          <a:noFill/>
        </p:spPr>
        <p:txBody>
          <a:bodyPr wrap="square" lIns="0" rIns="0" tIns="0" bIns="0">
            <a:spAutoFit/>
          </a:bodyPr>
          <a:lstStyle/>
          <a:p>
            <a:pPr algn="l">
              <a:lnSpc>
                <a:spcPct val="140000"/>
              </a:lnSpc>
            </a:pPr>
            <a:r>
              <a:rPr sz="1400" b="0">
                <a:solidFill>
                  <a:srgbClr val="64748B"/>
                </a:solidFill>
                <a:latin typeface="Inter"/>
              </a:rPr>
              <a:t>Does the answer match the context?</a:t>
            </a:r>
          </a:p>
        </p:txBody>
      </p:sp>
      <p:sp>
        <p:nvSpPr>
          <p:cNvPr id="19" name="Rounded Rectangle 18"/>
          <p:cNvSpPr/>
          <p:nvPr/>
        </p:nvSpPr>
        <p:spPr>
          <a:xfrm>
            <a:off x="54864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931920"/>
            <a:ext cx="91440"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5029200" cy="411480"/>
          </a:xfrm>
          <a:prstGeom prst="rect">
            <a:avLst/>
          </a:prstGeom>
          <a:noFill/>
        </p:spPr>
        <p:txBody>
          <a:bodyPr wrap="square" lIns="0" rIns="0" tIns="0" bIns="0">
            <a:spAutoFit/>
          </a:bodyPr>
          <a:lstStyle/>
          <a:p>
            <a:pPr algn="l">
              <a:lnSpc>
                <a:spcPct val="115000"/>
              </a:lnSpc>
            </a:pPr>
            <a:r>
              <a:rPr sz="1800" b="1">
                <a:solidFill>
                  <a:srgbClr val="0F172A"/>
                </a:solidFill>
                <a:latin typeface="Inter"/>
              </a:rPr>
              <a:t>Answer relevance</a:t>
            </a:r>
          </a:p>
        </p:txBody>
      </p:sp>
      <p:sp>
        <p:nvSpPr>
          <p:cNvPr id="22" name="TextBox 21"/>
          <p:cNvSpPr txBox="1"/>
          <p:nvPr/>
        </p:nvSpPr>
        <p:spPr>
          <a:xfrm>
            <a:off x="868680" y="4709160"/>
            <a:ext cx="5029200" cy="822960"/>
          </a:xfrm>
          <a:prstGeom prst="rect">
            <a:avLst/>
          </a:prstGeom>
          <a:noFill/>
        </p:spPr>
        <p:txBody>
          <a:bodyPr wrap="square" lIns="0" rIns="0" tIns="0" bIns="0">
            <a:spAutoFit/>
          </a:bodyPr>
          <a:lstStyle/>
          <a:p>
            <a:pPr algn="l">
              <a:lnSpc>
                <a:spcPct val="140000"/>
              </a:lnSpc>
            </a:pPr>
            <a:r>
              <a:rPr sz="1400" b="0">
                <a:solidFill>
                  <a:srgbClr val="64748B"/>
                </a:solidFill>
                <a:latin typeface="Inter"/>
              </a:rPr>
              <a:t>Does the answer address the question?</a:t>
            </a:r>
          </a:p>
        </p:txBody>
      </p:sp>
      <p:sp>
        <p:nvSpPr>
          <p:cNvPr id="23" name="Rounded Rectangle 22"/>
          <p:cNvSpPr/>
          <p:nvPr/>
        </p:nvSpPr>
        <p:spPr>
          <a:xfrm>
            <a:off x="612648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3931920"/>
            <a:ext cx="91440"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206240"/>
            <a:ext cx="5029200" cy="411480"/>
          </a:xfrm>
          <a:prstGeom prst="rect">
            <a:avLst/>
          </a:prstGeom>
          <a:noFill/>
        </p:spPr>
        <p:txBody>
          <a:bodyPr wrap="square" lIns="0" rIns="0" tIns="0" bIns="0">
            <a:spAutoFit/>
          </a:bodyPr>
          <a:lstStyle/>
          <a:p>
            <a:pPr algn="l">
              <a:lnSpc>
                <a:spcPct val="115000"/>
              </a:lnSpc>
            </a:pPr>
            <a:r>
              <a:rPr sz="1800" b="1">
                <a:solidFill>
                  <a:srgbClr val="0F172A"/>
                </a:solidFill>
                <a:latin typeface="Inter"/>
              </a:rPr>
              <a:t>Latency / cost</a:t>
            </a:r>
          </a:p>
        </p:txBody>
      </p:sp>
      <p:sp>
        <p:nvSpPr>
          <p:cNvPr id="26" name="TextBox 25"/>
          <p:cNvSpPr txBox="1"/>
          <p:nvPr/>
        </p:nvSpPr>
        <p:spPr>
          <a:xfrm>
            <a:off x="6446520" y="4709160"/>
            <a:ext cx="5029200" cy="822960"/>
          </a:xfrm>
          <a:prstGeom prst="rect">
            <a:avLst/>
          </a:prstGeom>
          <a:noFill/>
        </p:spPr>
        <p:txBody>
          <a:bodyPr wrap="square" lIns="0" rIns="0" tIns="0" bIns="0">
            <a:spAutoFit/>
          </a:bodyPr>
          <a:lstStyle/>
          <a:p>
            <a:pPr algn="l">
              <a:lnSpc>
                <a:spcPct val="140000"/>
              </a:lnSpc>
            </a:pPr>
            <a:r>
              <a:rPr sz="1400" b="0">
                <a:solidFill>
                  <a:srgbClr val="64748B"/>
                </a:solidFill>
                <a:latin typeface="Inter"/>
              </a:rPr>
              <a:t>p95 ms · tokens per query · $/100 queries</a:t>
            </a:r>
          </a:p>
        </p:txBody>
      </p:sp>
      <p:sp>
        <p:nvSpPr>
          <p:cNvPr id="27" name="Rounded Rectangle 26"/>
          <p:cNvSpPr/>
          <p:nvPr/>
        </p:nvSpPr>
        <p:spPr>
          <a:xfrm>
            <a:off x="548640" y="5897880"/>
            <a:ext cx="11064240" cy="502920"/>
          </a:xfrm>
          <a:prstGeom prst="roundRect">
            <a:avLst>
              <a:gd name="adj" fmla="val 1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989320"/>
            <a:ext cx="10698480" cy="365760"/>
          </a:xfrm>
          <a:prstGeom prst="rect">
            <a:avLst/>
          </a:prstGeom>
          <a:noFill/>
        </p:spPr>
        <p:txBody>
          <a:bodyPr wrap="square" lIns="0" rIns="0" tIns="0" bIns="0">
            <a:spAutoFit/>
          </a:bodyPr>
          <a:lstStyle/>
          <a:p>
            <a:pPr algn="ctr">
              <a:lnSpc>
                <a:spcPct val="115000"/>
              </a:lnSpc>
            </a:pPr>
            <a:r>
              <a:rPr sz="1300" b="1">
                <a:solidFill>
                  <a:srgbClr val="0F2A5C"/>
                </a:solidFill>
                <a:latin typeface="Inter"/>
              </a:rPr>
              <a:t>Tooling: Ragas · TruLens · DeepEval · or 30 lines of pytest. Just measure something.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17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OPERATIONS</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Production patterns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11680"/>
            <a:ext cx="91440" cy="18288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24028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Cache aggressively</a:t>
            </a:r>
          </a:p>
        </p:txBody>
      </p:sp>
      <p:sp>
        <p:nvSpPr>
          <p:cNvPr id="14" name="TextBox 13"/>
          <p:cNvSpPr txBox="1"/>
          <p:nvPr/>
        </p:nvSpPr>
        <p:spPr>
          <a:xfrm>
            <a:off x="868680" y="269748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Hash query+filters → store answer · most user queries repeat</a:t>
            </a:r>
          </a:p>
        </p:txBody>
      </p:sp>
      <p:sp>
        <p:nvSpPr>
          <p:cNvPr id="15" name="Rounded Rectangle 14"/>
          <p:cNvSpPr/>
          <p:nvPr/>
        </p:nvSpPr>
        <p:spPr>
          <a:xfrm>
            <a:off x="6126480" y="201168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011680"/>
            <a:ext cx="91440"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24028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Citations always</a:t>
            </a:r>
          </a:p>
        </p:txBody>
      </p:sp>
      <p:sp>
        <p:nvSpPr>
          <p:cNvPr id="18" name="TextBox 17"/>
          <p:cNvSpPr txBox="1"/>
          <p:nvPr/>
        </p:nvSpPr>
        <p:spPr>
          <a:xfrm>
            <a:off x="6446520" y="269748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Every answer carries the source IDs used · UI links back</a:t>
            </a:r>
          </a:p>
        </p:txBody>
      </p:sp>
      <p:sp>
        <p:nvSpPr>
          <p:cNvPr id="19" name="Rounded Rectangle 18"/>
          <p:cNvSpPr/>
          <p:nvPr/>
        </p:nvSpPr>
        <p:spPr>
          <a:xfrm>
            <a:off x="54864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931920"/>
            <a:ext cx="91440"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6052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Observability</a:t>
            </a:r>
          </a:p>
        </p:txBody>
      </p:sp>
      <p:sp>
        <p:nvSpPr>
          <p:cNvPr id="22" name="TextBox 21"/>
          <p:cNvSpPr txBox="1"/>
          <p:nvPr/>
        </p:nvSpPr>
        <p:spPr>
          <a:xfrm>
            <a:off x="868680" y="461772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Log: query, retrieved IDs, prompt, answer, latency, cost</a:t>
            </a:r>
          </a:p>
        </p:txBody>
      </p:sp>
      <p:sp>
        <p:nvSpPr>
          <p:cNvPr id="23" name="Rounded Rectangle 22"/>
          <p:cNvSpPr/>
          <p:nvPr/>
        </p:nvSpPr>
        <p:spPr>
          <a:xfrm>
            <a:off x="6126480" y="3931920"/>
            <a:ext cx="5486400" cy="182880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3931920"/>
            <a:ext cx="91440" cy="182880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60520"/>
            <a:ext cx="5029200" cy="365760"/>
          </a:xfrm>
          <a:prstGeom prst="rect">
            <a:avLst/>
          </a:prstGeom>
          <a:noFill/>
        </p:spPr>
        <p:txBody>
          <a:bodyPr wrap="square" lIns="0" rIns="0" tIns="0" bIns="0">
            <a:spAutoFit/>
          </a:bodyPr>
          <a:lstStyle/>
          <a:p>
            <a:pPr algn="l">
              <a:lnSpc>
                <a:spcPct val="115000"/>
              </a:lnSpc>
            </a:pPr>
            <a:r>
              <a:rPr sz="1800" b="1">
                <a:solidFill>
                  <a:srgbClr val="0F172A"/>
                </a:solidFill>
                <a:latin typeface="Inter"/>
              </a:rPr>
              <a:t>Guardrails</a:t>
            </a:r>
          </a:p>
        </p:txBody>
      </p:sp>
      <p:sp>
        <p:nvSpPr>
          <p:cNvPr id="26" name="TextBox 25"/>
          <p:cNvSpPr txBox="1"/>
          <p:nvPr/>
        </p:nvSpPr>
        <p:spPr>
          <a:xfrm>
            <a:off x="6446520" y="4617720"/>
            <a:ext cx="5029200" cy="1097280"/>
          </a:xfrm>
          <a:prstGeom prst="rect">
            <a:avLst/>
          </a:prstGeom>
          <a:noFill/>
        </p:spPr>
        <p:txBody>
          <a:bodyPr wrap="square" lIns="0" rIns="0" tIns="0" bIns="0">
            <a:spAutoFit/>
          </a:bodyPr>
          <a:lstStyle/>
          <a:p>
            <a:pPr algn="l">
              <a:lnSpc>
                <a:spcPct val="140000"/>
              </a:lnSpc>
            </a:pPr>
            <a:r>
              <a:rPr sz="1300" b="0">
                <a:solidFill>
                  <a:srgbClr val="334155"/>
                </a:solidFill>
                <a:latin typeface="Inter"/>
              </a:rPr>
              <a:t>PII redaction · max context · prompt-injection filtering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18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REFERENCE</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Tools we’ll use across the series</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9991" y="2377440"/>
            <a:ext cx="2194560" cy="32918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9991" y="2377440"/>
            <a:ext cx="2194560" cy="502920"/>
          </a:xfrm>
          <a:prstGeom prst="rect">
            <a:avLst/>
          </a:prstGeom>
          <a:solidFill>
            <a:srgbClr val="31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9991" y="2468880"/>
            <a:ext cx="2194560" cy="365760"/>
          </a:xfrm>
          <a:prstGeom prst="rect">
            <a:avLst/>
          </a:prstGeom>
          <a:noFill/>
        </p:spPr>
        <p:txBody>
          <a:bodyPr wrap="square" lIns="0" rIns="0" tIns="0" bIns="0">
            <a:spAutoFit/>
          </a:bodyPr>
          <a:lstStyle/>
          <a:p>
            <a:pPr algn="ctr">
              <a:lnSpc>
                <a:spcPct val="115000"/>
              </a:lnSpc>
            </a:pPr>
            <a:r>
              <a:rPr sz="1400" b="1">
                <a:solidFill>
                  <a:srgbClr val="FFFFFF"/>
                </a:solidFill>
                <a:latin typeface="Inter"/>
              </a:rPr>
              <a:t>MODELS</a:t>
            </a:r>
          </a:p>
        </p:txBody>
      </p:sp>
      <p:sp>
        <p:nvSpPr>
          <p:cNvPr id="14" name="TextBox 13"/>
          <p:cNvSpPr txBox="1"/>
          <p:nvPr/>
        </p:nvSpPr>
        <p:spPr>
          <a:xfrm>
            <a:off x="572871" y="315468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OpenAI · Anthropic</a:t>
            </a:r>
          </a:p>
        </p:txBody>
      </p:sp>
      <p:sp>
        <p:nvSpPr>
          <p:cNvPr id="15" name="TextBox 14"/>
          <p:cNvSpPr txBox="1"/>
          <p:nvPr/>
        </p:nvSpPr>
        <p:spPr>
          <a:xfrm>
            <a:off x="572871" y="365760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Llama 3 · Mistral</a:t>
            </a:r>
          </a:p>
        </p:txBody>
      </p:sp>
      <p:sp>
        <p:nvSpPr>
          <p:cNvPr id="16" name="Rounded Rectangle 15"/>
          <p:cNvSpPr/>
          <p:nvPr/>
        </p:nvSpPr>
        <p:spPr>
          <a:xfrm>
            <a:off x="2694279" y="2377440"/>
            <a:ext cx="2194560" cy="32918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94279" y="2377440"/>
            <a:ext cx="2194560" cy="5029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4279" y="2468880"/>
            <a:ext cx="2194560" cy="365760"/>
          </a:xfrm>
          <a:prstGeom prst="rect">
            <a:avLst/>
          </a:prstGeom>
          <a:noFill/>
        </p:spPr>
        <p:txBody>
          <a:bodyPr wrap="square" lIns="0" rIns="0" tIns="0" bIns="0">
            <a:spAutoFit/>
          </a:bodyPr>
          <a:lstStyle/>
          <a:p>
            <a:pPr algn="ctr">
              <a:lnSpc>
                <a:spcPct val="115000"/>
              </a:lnSpc>
            </a:pPr>
            <a:r>
              <a:rPr sz="1400" b="1">
                <a:solidFill>
                  <a:srgbClr val="FFFFFF"/>
                </a:solidFill>
                <a:latin typeface="Inter"/>
              </a:rPr>
              <a:t>EMBEDDINGS</a:t>
            </a:r>
          </a:p>
        </p:txBody>
      </p:sp>
      <p:sp>
        <p:nvSpPr>
          <p:cNvPr id="19" name="TextBox 18"/>
          <p:cNvSpPr txBox="1"/>
          <p:nvPr/>
        </p:nvSpPr>
        <p:spPr>
          <a:xfrm>
            <a:off x="2877159" y="315468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text-embedding-3</a:t>
            </a:r>
          </a:p>
        </p:txBody>
      </p:sp>
      <p:sp>
        <p:nvSpPr>
          <p:cNvPr id="20" name="TextBox 19"/>
          <p:cNvSpPr txBox="1"/>
          <p:nvPr/>
        </p:nvSpPr>
        <p:spPr>
          <a:xfrm>
            <a:off x="2877159" y="365760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BGE / E5</a:t>
            </a:r>
          </a:p>
        </p:txBody>
      </p:sp>
      <p:sp>
        <p:nvSpPr>
          <p:cNvPr id="21" name="Rounded Rectangle 20"/>
          <p:cNvSpPr/>
          <p:nvPr/>
        </p:nvSpPr>
        <p:spPr>
          <a:xfrm>
            <a:off x="4998567" y="2377440"/>
            <a:ext cx="2194560" cy="32918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98567" y="2377440"/>
            <a:ext cx="219456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98567" y="2468880"/>
            <a:ext cx="2194560" cy="365760"/>
          </a:xfrm>
          <a:prstGeom prst="rect">
            <a:avLst/>
          </a:prstGeom>
          <a:noFill/>
        </p:spPr>
        <p:txBody>
          <a:bodyPr wrap="square" lIns="0" rIns="0" tIns="0" bIns="0">
            <a:spAutoFit/>
          </a:bodyPr>
          <a:lstStyle/>
          <a:p>
            <a:pPr algn="ctr">
              <a:lnSpc>
                <a:spcPct val="115000"/>
              </a:lnSpc>
            </a:pPr>
            <a:r>
              <a:rPr sz="1400" b="1">
                <a:solidFill>
                  <a:srgbClr val="FFFFFF"/>
                </a:solidFill>
                <a:latin typeface="Inter"/>
              </a:rPr>
              <a:t>STORES</a:t>
            </a:r>
          </a:p>
        </p:txBody>
      </p:sp>
      <p:sp>
        <p:nvSpPr>
          <p:cNvPr id="24" name="TextBox 23"/>
          <p:cNvSpPr txBox="1"/>
          <p:nvPr/>
        </p:nvSpPr>
        <p:spPr>
          <a:xfrm>
            <a:off x="5181447" y="315468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pgvector</a:t>
            </a:r>
          </a:p>
        </p:txBody>
      </p:sp>
      <p:sp>
        <p:nvSpPr>
          <p:cNvPr id="25" name="TextBox 24"/>
          <p:cNvSpPr txBox="1"/>
          <p:nvPr/>
        </p:nvSpPr>
        <p:spPr>
          <a:xfrm>
            <a:off x="5181447" y="365760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Pinecone · Weaviate</a:t>
            </a:r>
          </a:p>
        </p:txBody>
      </p:sp>
      <p:sp>
        <p:nvSpPr>
          <p:cNvPr id="26" name="Rounded Rectangle 25"/>
          <p:cNvSpPr/>
          <p:nvPr/>
        </p:nvSpPr>
        <p:spPr>
          <a:xfrm>
            <a:off x="7302855" y="2377440"/>
            <a:ext cx="2194560" cy="32918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02855" y="2377440"/>
            <a:ext cx="219456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02855" y="2468880"/>
            <a:ext cx="2194560" cy="365760"/>
          </a:xfrm>
          <a:prstGeom prst="rect">
            <a:avLst/>
          </a:prstGeom>
          <a:noFill/>
        </p:spPr>
        <p:txBody>
          <a:bodyPr wrap="square" lIns="0" rIns="0" tIns="0" bIns="0">
            <a:spAutoFit/>
          </a:bodyPr>
          <a:lstStyle/>
          <a:p>
            <a:pPr algn="ctr">
              <a:lnSpc>
                <a:spcPct val="115000"/>
              </a:lnSpc>
            </a:pPr>
            <a:r>
              <a:rPr sz="1400" b="1">
                <a:solidFill>
                  <a:srgbClr val="FFFFFF"/>
                </a:solidFill>
                <a:latin typeface="Inter"/>
              </a:rPr>
              <a:t>ORCHESTRATE</a:t>
            </a:r>
          </a:p>
        </p:txBody>
      </p:sp>
      <p:sp>
        <p:nvSpPr>
          <p:cNvPr id="29" name="TextBox 28"/>
          <p:cNvSpPr txBox="1"/>
          <p:nvPr/>
        </p:nvSpPr>
        <p:spPr>
          <a:xfrm>
            <a:off x="7485735" y="315468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LangChain</a:t>
            </a:r>
          </a:p>
        </p:txBody>
      </p:sp>
      <p:sp>
        <p:nvSpPr>
          <p:cNvPr id="30" name="TextBox 29"/>
          <p:cNvSpPr txBox="1"/>
          <p:nvPr/>
        </p:nvSpPr>
        <p:spPr>
          <a:xfrm>
            <a:off x="7485735" y="365760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LlamaIndex · plain Python</a:t>
            </a:r>
          </a:p>
        </p:txBody>
      </p:sp>
      <p:sp>
        <p:nvSpPr>
          <p:cNvPr id="31" name="Rounded Rectangle 30"/>
          <p:cNvSpPr/>
          <p:nvPr/>
        </p:nvSpPr>
        <p:spPr>
          <a:xfrm>
            <a:off x="9607143" y="2377440"/>
            <a:ext cx="2194560" cy="329184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07143" y="2377440"/>
            <a:ext cx="2194560" cy="502920"/>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7143" y="2468880"/>
            <a:ext cx="2194560" cy="365760"/>
          </a:xfrm>
          <a:prstGeom prst="rect">
            <a:avLst/>
          </a:prstGeom>
          <a:noFill/>
        </p:spPr>
        <p:txBody>
          <a:bodyPr wrap="square" lIns="0" rIns="0" tIns="0" bIns="0">
            <a:spAutoFit/>
          </a:bodyPr>
          <a:lstStyle/>
          <a:p>
            <a:pPr algn="ctr">
              <a:lnSpc>
                <a:spcPct val="115000"/>
              </a:lnSpc>
            </a:pPr>
            <a:r>
              <a:rPr sz="1400" b="1">
                <a:solidFill>
                  <a:srgbClr val="FFFFFF"/>
                </a:solidFill>
                <a:latin typeface="Inter"/>
              </a:rPr>
              <a:t>EVALUATE</a:t>
            </a:r>
          </a:p>
        </p:txBody>
      </p:sp>
      <p:sp>
        <p:nvSpPr>
          <p:cNvPr id="34" name="TextBox 33"/>
          <p:cNvSpPr txBox="1"/>
          <p:nvPr/>
        </p:nvSpPr>
        <p:spPr>
          <a:xfrm>
            <a:off x="9790023" y="315468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Ragas</a:t>
            </a:r>
          </a:p>
        </p:txBody>
      </p:sp>
      <p:sp>
        <p:nvSpPr>
          <p:cNvPr id="35" name="TextBox 34"/>
          <p:cNvSpPr txBox="1"/>
          <p:nvPr/>
        </p:nvSpPr>
        <p:spPr>
          <a:xfrm>
            <a:off x="9790023" y="3657600"/>
            <a:ext cx="1828800" cy="457200"/>
          </a:xfrm>
          <a:prstGeom prst="rect">
            <a:avLst/>
          </a:prstGeom>
          <a:noFill/>
        </p:spPr>
        <p:txBody>
          <a:bodyPr wrap="square" lIns="0" rIns="0" tIns="0" bIns="0">
            <a:spAutoFit/>
          </a:bodyPr>
          <a:lstStyle/>
          <a:p>
            <a:pPr algn="l">
              <a:lnSpc>
                <a:spcPct val="115000"/>
              </a:lnSpc>
            </a:pPr>
            <a:r>
              <a:rPr sz="1200" b="0">
                <a:solidFill>
                  <a:srgbClr val="334155"/>
                </a:solidFill>
                <a:latin typeface="Inter"/>
              </a:rPr>
              <a:t>• TruLens · DeepEval</a:t>
            </a:r>
          </a:p>
        </p:txBody>
      </p:sp>
      <p:sp>
        <p:nvSpPr>
          <p:cNvPr id="36" name="TextBox 35"/>
          <p:cNvSpPr txBox="1"/>
          <p:nvPr/>
        </p:nvSpPr>
        <p:spPr>
          <a:xfrm>
            <a:off x="548640" y="5943600"/>
            <a:ext cx="11064240" cy="365760"/>
          </a:xfrm>
          <a:prstGeom prst="rect">
            <a:avLst/>
          </a:prstGeom>
          <a:noFill/>
        </p:spPr>
        <p:txBody>
          <a:bodyPr wrap="square" lIns="0" rIns="0" tIns="0" bIns="0">
            <a:spAutoFit/>
          </a:bodyPr>
          <a:lstStyle/>
          <a:p>
            <a:pPr algn="ctr">
              <a:lnSpc>
                <a:spcPct val="115000"/>
              </a:lnSpc>
            </a:pPr>
            <a:r>
              <a:rPr sz="1400" b="1">
                <a:solidFill>
                  <a:srgbClr val="64748B"/>
                </a:solidFill>
                <a:latin typeface="Inter"/>
              </a:rPr>
              <a:t>Pick one per column. Ship. Iterate.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
            <a:ext cx="4114800" cy="365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91440"/>
            <a:ext cx="18288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7315200" cy="274320"/>
          </a:xfrm>
          <a:prstGeom prst="rect">
            <a:avLst/>
          </a:prstGeom>
          <a:noFill/>
        </p:spPr>
        <p:txBody>
          <a:bodyPr wrap="square" lIns="0" rIns="0" tIns="0" bIns="0">
            <a:spAutoFit/>
          </a:bodyPr>
          <a:lstStyle/>
          <a:p>
            <a:pPr algn="l">
              <a:lnSpc>
                <a:spcPct val="115000"/>
              </a:lnSpc>
            </a:pPr>
            <a:r>
              <a:rPr sz="1000" b="0">
                <a:solidFill>
                  <a:srgbClr val="94A3B8"/>
                </a:solidFill>
                <a:latin typeface="Inter"/>
              </a:rPr>
              <a:t>Training My Hobby · Kishore Veleti</a:t>
            </a:r>
          </a:p>
        </p:txBody>
      </p:sp>
      <p:sp>
        <p:nvSpPr>
          <p:cNvPr id="6" name="TextBox 5"/>
          <p:cNvSpPr txBox="1"/>
          <p:nvPr/>
        </p:nvSpPr>
        <p:spPr>
          <a:xfrm>
            <a:off x="457200" y="6583680"/>
            <a:ext cx="7315200" cy="274320"/>
          </a:xfrm>
          <a:prstGeom prst="rect">
            <a:avLst/>
          </a:prstGeom>
          <a:noFill/>
        </p:spPr>
        <p:txBody>
          <a:bodyPr wrap="square" lIns="0" rIns="0" tIns="0" bIns="0">
            <a:spAutoFit/>
          </a:bodyPr>
          <a:lstStyle/>
          <a:p>
            <a:pPr algn="l">
              <a:lnSpc>
                <a:spcPct val="115000"/>
              </a:lnSpc>
            </a:pPr>
            <a:r>
              <a:rPr sz="1000" b="1">
                <a:solidFill>
                  <a:srgbClr val="64748B"/>
                </a:solidFill>
                <a:latin typeface="Inter"/>
              </a:rPr>
              <a:t>RAG Mastery · Episode 01</a:t>
            </a:r>
          </a:p>
        </p:txBody>
      </p:sp>
      <p:sp>
        <p:nvSpPr>
          <p:cNvPr id="7" name="TextBox 6"/>
          <p:cNvSpPr txBox="1"/>
          <p:nvPr/>
        </p:nvSpPr>
        <p:spPr>
          <a:xfrm>
            <a:off x="10972800" y="6492240"/>
            <a:ext cx="914400" cy="274320"/>
          </a:xfrm>
          <a:prstGeom prst="rect">
            <a:avLst/>
          </a:prstGeom>
          <a:noFill/>
        </p:spPr>
        <p:txBody>
          <a:bodyPr wrap="square" lIns="0" rIns="0" tIns="0" bIns="0">
            <a:spAutoFit/>
          </a:bodyPr>
          <a:lstStyle/>
          <a:p>
            <a:pPr algn="r">
              <a:lnSpc>
                <a:spcPct val="115000"/>
              </a:lnSpc>
            </a:pPr>
            <a:r>
              <a:rPr sz="1000" b="0">
                <a:solidFill>
                  <a:srgbClr val="94A3B8"/>
                </a:solidFill>
                <a:latin typeface="Inter"/>
              </a:rPr>
              <a:t>19 / 20</a:t>
            </a:r>
          </a:p>
        </p:txBody>
      </p:sp>
      <p:sp>
        <p:nvSpPr>
          <p:cNvPr id="8" name="TextBox 7"/>
          <p:cNvSpPr txBox="1"/>
          <p:nvPr/>
        </p:nvSpPr>
        <p:spPr>
          <a:xfrm>
            <a:off x="548640" y="411480"/>
            <a:ext cx="9144000" cy="365760"/>
          </a:xfrm>
          <a:prstGeom prst="rect">
            <a:avLst/>
          </a:prstGeom>
          <a:noFill/>
        </p:spPr>
        <p:txBody>
          <a:bodyPr wrap="square" lIns="0" rIns="0" tIns="0" bIns="0">
            <a:spAutoFit/>
          </a:bodyPr>
          <a:lstStyle/>
          <a:p>
            <a:pPr algn="l">
              <a:lnSpc>
                <a:spcPct val="115000"/>
              </a:lnSpc>
            </a:pPr>
            <a:r>
              <a:rPr sz="1100" b="1">
                <a:solidFill>
                  <a:srgbClr val="06B6D4"/>
                </a:solidFill>
                <a:latin typeface="Inter"/>
              </a:rPr>
              <a:t>COMING UP</a:t>
            </a:r>
          </a:p>
        </p:txBody>
      </p:sp>
      <p:sp>
        <p:nvSpPr>
          <p:cNvPr id="9" name="TextBox 8"/>
          <p:cNvSpPr txBox="1"/>
          <p:nvPr/>
        </p:nvSpPr>
        <p:spPr>
          <a:xfrm>
            <a:off x="548640" y="777240"/>
            <a:ext cx="10972800" cy="868680"/>
          </a:xfrm>
          <a:prstGeom prst="rect">
            <a:avLst/>
          </a:prstGeom>
          <a:noFill/>
        </p:spPr>
        <p:txBody>
          <a:bodyPr wrap="square" lIns="0" rIns="0" tIns="0" bIns="0">
            <a:spAutoFit/>
          </a:bodyPr>
          <a:lstStyle/>
          <a:p>
            <a:pPr algn="l">
              <a:lnSpc>
                <a:spcPct val="115000"/>
              </a:lnSpc>
            </a:pPr>
            <a:r>
              <a:rPr sz="3200" b="1">
                <a:solidFill>
                  <a:srgbClr val="0F172A"/>
                </a:solidFill>
                <a:latin typeface="Inter"/>
              </a:rPr>
              <a:t>Episodes ahead</a:t>
            </a:r>
          </a:p>
        </p:txBody>
      </p:sp>
      <p:sp>
        <p:nvSpPr>
          <p:cNvPr id="10" name="Rectangle 9"/>
          <p:cNvSpPr/>
          <p:nvPr/>
        </p:nvSpPr>
        <p:spPr>
          <a:xfrm>
            <a:off x="548640" y="1627632"/>
            <a:ext cx="45720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194560"/>
            <a:ext cx="11064240" cy="68580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59152"/>
            <a:ext cx="1463040" cy="384048"/>
          </a:xfrm>
          <a:prstGeom prst="roundRect">
            <a:avLst>
              <a:gd name="adj" fmla="val 10000"/>
            </a:avLst>
          </a:prstGeom>
          <a:solidFill>
            <a:srgbClr val="31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86584"/>
            <a:ext cx="1463040" cy="365760"/>
          </a:xfrm>
          <a:prstGeom prst="rect">
            <a:avLst/>
          </a:prstGeom>
          <a:noFill/>
        </p:spPr>
        <p:txBody>
          <a:bodyPr wrap="square" lIns="0" rIns="0" tIns="0" bIns="0">
            <a:spAutoFit/>
          </a:bodyPr>
          <a:lstStyle/>
          <a:p>
            <a:pPr algn="ctr">
              <a:lnSpc>
                <a:spcPct val="115000"/>
              </a:lnSpc>
            </a:pPr>
            <a:r>
              <a:rPr sz="1100" b="1">
                <a:solidFill>
                  <a:srgbClr val="FFFFFF"/>
                </a:solidFill>
                <a:latin typeface="Inter"/>
              </a:rPr>
              <a:t>EP 02</a:t>
            </a:r>
          </a:p>
        </p:txBody>
      </p:sp>
      <p:sp>
        <p:nvSpPr>
          <p:cNvPr id="14" name="TextBox 13"/>
          <p:cNvSpPr txBox="1"/>
          <p:nvPr/>
        </p:nvSpPr>
        <p:spPr>
          <a:xfrm>
            <a:off x="2423160" y="2377440"/>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Embeddings deep dive — choosing the right model</a:t>
            </a:r>
          </a:p>
        </p:txBody>
      </p:sp>
      <p:sp>
        <p:nvSpPr>
          <p:cNvPr id="15" name="Rounded Rectangle 14"/>
          <p:cNvSpPr/>
          <p:nvPr/>
        </p:nvSpPr>
        <p:spPr>
          <a:xfrm>
            <a:off x="548640" y="2990088"/>
            <a:ext cx="11064240" cy="68580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154680"/>
            <a:ext cx="1463040" cy="384048"/>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82112"/>
            <a:ext cx="1463040" cy="365760"/>
          </a:xfrm>
          <a:prstGeom prst="rect">
            <a:avLst/>
          </a:prstGeom>
          <a:noFill/>
        </p:spPr>
        <p:txBody>
          <a:bodyPr wrap="square" lIns="0" rIns="0" tIns="0" bIns="0">
            <a:spAutoFit/>
          </a:bodyPr>
          <a:lstStyle/>
          <a:p>
            <a:pPr algn="ctr">
              <a:lnSpc>
                <a:spcPct val="115000"/>
              </a:lnSpc>
            </a:pPr>
            <a:r>
              <a:rPr sz="1100" b="1">
                <a:solidFill>
                  <a:srgbClr val="FFFFFF"/>
                </a:solidFill>
                <a:latin typeface="Inter"/>
              </a:rPr>
              <a:t>EP 03</a:t>
            </a:r>
          </a:p>
        </p:txBody>
      </p:sp>
      <p:sp>
        <p:nvSpPr>
          <p:cNvPr id="18" name="TextBox 17"/>
          <p:cNvSpPr txBox="1"/>
          <p:nvPr/>
        </p:nvSpPr>
        <p:spPr>
          <a:xfrm>
            <a:off x="2423160" y="3172968"/>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Vector stores benchmarked — pgvector vs managed</a:t>
            </a:r>
          </a:p>
        </p:txBody>
      </p:sp>
      <p:sp>
        <p:nvSpPr>
          <p:cNvPr id="19" name="Rounded Rectangle 18"/>
          <p:cNvSpPr/>
          <p:nvPr/>
        </p:nvSpPr>
        <p:spPr>
          <a:xfrm>
            <a:off x="548640" y="3785616"/>
            <a:ext cx="11064240" cy="68580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3950208"/>
            <a:ext cx="1463040" cy="384048"/>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77640"/>
            <a:ext cx="1463040" cy="365760"/>
          </a:xfrm>
          <a:prstGeom prst="rect">
            <a:avLst/>
          </a:prstGeom>
          <a:noFill/>
        </p:spPr>
        <p:txBody>
          <a:bodyPr wrap="square" lIns="0" rIns="0" tIns="0" bIns="0">
            <a:spAutoFit/>
          </a:bodyPr>
          <a:lstStyle/>
          <a:p>
            <a:pPr algn="ctr">
              <a:lnSpc>
                <a:spcPct val="115000"/>
              </a:lnSpc>
            </a:pPr>
            <a:r>
              <a:rPr sz="1100" b="1">
                <a:solidFill>
                  <a:srgbClr val="FFFFFF"/>
                </a:solidFill>
                <a:latin typeface="Inter"/>
              </a:rPr>
              <a:t>EP 04</a:t>
            </a:r>
          </a:p>
        </p:txBody>
      </p:sp>
      <p:sp>
        <p:nvSpPr>
          <p:cNvPr id="22" name="TextBox 21"/>
          <p:cNvSpPr txBox="1"/>
          <p:nvPr/>
        </p:nvSpPr>
        <p:spPr>
          <a:xfrm>
            <a:off x="2423160" y="3968496"/>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Banking — sanctions screening RAG (OFAC + AML)</a:t>
            </a:r>
          </a:p>
        </p:txBody>
      </p:sp>
      <p:sp>
        <p:nvSpPr>
          <p:cNvPr id="23" name="Rounded Rectangle 22"/>
          <p:cNvSpPr/>
          <p:nvPr/>
        </p:nvSpPr>
        <p:spPr>
          <a:xfrm>
            <a:off x="548640" y="4581144"/>
            <a:ext cx="11064240" cy="68580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7240" y="4745736"/>
            <a:ext cx="1463040" cy="384048"/>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773168"/>
            <a:ext cx="1463040" cy="365760"/>
          </a:xfrm>
          <a:prstGeom prst="rect">
            <a:avLst/>
          </a:prstGeom>
          <a:noFill/>
        </p:spPr>
        <p:txBody>
          <a:bodyPr wrap="square" lIns="0" rIns="0" tIns="0" bIns="0">
            <a:spAutoFit/>
          </a:bodyPr>
          <a:lstStyle/>
          <a:p>
            <a:pPr algn="ctr">
              <a:lnSpc>
                <a:spcPct val="115000"/>
              </a:lnSpc>
            </a:pPr>
            <a:r>
              <a:rPr sz="1100" b="1">
                <a:solidFill>
                  <a:srgbClr val="FFFFFF"/>
                </a:solidFill>
                <a:latin typeface="Inter"/>
              </a:rPr>
              <a:t>EP 05</a:t>
            </a:r>
          </a:p>
        </p:txBody>
      </p:sp>
      <p:sp>
        <p:nvSpPr>
          <p:cNvPr id="26" name="TextBox 25"/>
          <p:cNvSpPr txBox="1"/>
          <p:nvPr/>
        </p:nvSpPr>
        <p:spPr>
          <a:xfrm>
            <a:off x="2423160" y="4764024"/>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Healthcare — querying clinical notes safely</a:t>
            </a:r>
          </a:p>
        </p:txBody>
      </p:sp>
      <p:sp>
        <p:nvSpPr>
          <p:cNvPr id="27" name="Rounded Rectangle 26"/>
          <p:cNvSpPr/>
          <p:nvPr/>
        </p:nvSpPr>
        <p:spPr>
          <a:xfrm>
            <a:off x="548640" y="5376672"/>
            <a:ext cx="11064240" cy="685800"/>
          </a:xfrm>
          <a:prstGeom prst="roundRect">
            <a:avLst>
              <a:gd name="adj" fmla="val 10000"/>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541264"/>
            <a:ext cx="1463040" cy="384048"/>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568696"/>
            <a:ext cx="1463040" cy="365760"/>
          </a:xfrm>
          <a:prstGeom prst="rect">
            <a:avLst/>
          </a:prstGeom>
          <a:noFill/>
        </p:spPr>
        <p:txBody>
          <a:bodyPr wrap="square" lIns="0" rIns="0" tIns="0" bIns="0">
            <a:spAutoFit/>
          </a:bodyPr>
          <a:lstStyle/>
          <a:p>
            <a:pPr algn="ctr">
              <a:lnSpc>
                <a:spcPct val="115000"/>
              </a:lnSpc>
            </a:pPr>
            <a:r>
              <a:rPr sz="1100" b="1">
                <a:solidFill>
                  <a:srgbClr val="FFFFFF"/>
                </a:solidFill>
                <a:latin typeface="Inter"/>
              </a:rPr>
              <a:t>EP 06</a:t>
            </a:r>
          </a:p>
        </p:txBody>
      </p:sp>
      <p:sp>
        <p:nvSpPr>
          <p:cNvPr id="30" name="TextBox 29"/>
          <p:cNvSpPr txBox="1"/>
          <p:nvPr/>
        </p:nvSpPr>
        <p:spPr>
          <a:xfrm>
            <a:off x="2423160" y="5559552"/>
            <a:ext cx="8961120" cy="411480"/>
          </a:xfrm>
          <a:prstGeom prst="rect">
            <a:avLst/>
          </a:prstGeom>
          <a:noFill/>
        </p:spPr>
        <p:txBody>
          <a:bodyPr wrap="square" lIns="0" rIns="0" tIns="0" bIns="0">
            <a:spAutoFit/>
          </a:bodyPr>
          <a:lstStyle/>
          <a:p>
            <a:pPr algn="l">
              <a:lnSpc>
                <a:spcPct val="115000"/>
              </a:lnSpc>
            </a:pPr>
            <a:r>
              <a:rPr sz="1500" b="0">
                <a:solidFill>
                  <a:srgbClr val="0F172A"/>
                </a:solidFill>
                <a:latin typeface="Inter"/>
              </a:rPr>
              <a:t>Evaluation — building the harness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00"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91695" cy="1828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83680"/>
            <a:ext cx="457200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10058400" cy="457200"/>
          </a:xfrm>
          <a:prstGeom prst="rect">
            <a:avLst/>
          </a:prstGeom>
          <a:noFill/>
        </p:spPr>
        <p:txBody>
          <a:bodyPr wrap="square" lIns="0" rIns="0" tIns="0" bIns="0">
            <a:spAutoFit/>
          </a:bodyPr>
          <a:lstStyle/>
          <a:p>
            <a:pPr algn="l">
              <a:lnSpc>
                <a:spcPct val="115000"/>
              </a:lnSpc>
            </a:pPr>
            <a:r>
              <a:rPr sz="1400" b="1">
                <a:solidFill>
                  <a:srgbClr val="06B6D4"/>
                </a:solidFill>
                <a:latin typeface="Inter"/>
              </a:rPr>
              <a:t>THANKS FOR WATCHING</a:t>
            </a:r>
          </a:p>
        </p:txBody>
      </p:sp>
      <p:sp>
        <p:nvSpPr>
          <p:cNvPr id="7" name="TextBox 6"/>
          <p:cNvSpPr txBox="1"/>
          <p:nvPr/>
        </p:nvSpPr>
        <p:spPr>
          <a:xfrm>
            <a:off x="731520" y="2103120"/>
            <a:ext cx="10058400" cy="1280160"/>
          </a:xfrm>
          <a:prstGeom prst="rect">
            <a:avLst/>
          </a:prstGeom>
          <a:noFill/>
        </p:spPr>
        <p:txBody>
          <a:bodyPr wrap="square" lIns="0" rIns="0" tIns="0" bIns="0">
            <a:spAutoFit/>
          </a:bodyPr>
          <a:lstStyle/>
          <a:p>
            <a:pPr algn="l">
              <a:lnSpc>
                <a:spcPct val="115000"/>
              </a:lnSpc>
            </a:pPr>
            <a:r>
              <a:rPr sz="5000" b="1">
                <a:solidFill>
                  <a:srgbClr val="FFFFFF"/>
                </a:solidFill>
                <a:latin typeface="Inter"/>
              </a:rPr>
              <a:t>Like · Subscribe · Comment</a:t>
            </a:r>
          </a:p>
        </p:txBody>
      </p:sp>
      <p:sp>
        <p:nvSpPr>
          <p:cNvPr id="8" name="TextBox 7"/>
          <p:cNvSpPr txBox="1"/>
          <p:nvPr/>
        </p:nvSpPr>
        <p:spPr>
          <a:xfrm>
            <a:off x="731520" y="3520440"/>
            <a:ext cx="10058400" cy="548640"/>
          </a:xfrm>
          <a:prstGeom prst="rect">
            <a:avLst/>
          </a:prstGeom>
          <a:noFill/>
        </p:spPr>
        <p:txBody>
          <a:bodyPr wrap="square" lIns="0" rIns="0" tIns="0" bIns="0">
            <a:spAutoFit/>
          </a:bodyPr>
          <a:lstStyle/>
          <a:p>
            <a:pPr algn="l">
              <a:lnSpc>
                <a:spcPct val="115000"/>
              </a:lnSpc>
            </a:pPr>
            <a:r>
              <a:rPr sz="2000" b="0">
                <a:solidFill>
                  <a:srgbClr val="CFFAFE"/>
                </a:solidFill>
                <a:latin typeface="Inter"/>
              </a:rPr>
              <a:t>Tell me which vertical I should ship next:</a:t>
            </a:r>
          </a:p>
        </p:txBody>
      </p:sp>
      <p:sp>
        <p:nvSpPr>
          <p:cNvPr id="9" name="TextBox 8"/>
          <p:cNvSpPr txBox="1"/>
          <p:nvPr/>
        </p:nvSpPr>
        <p:spPr>
          <a:xfrm>
            <a:off x="731520" y="4069080"/>
            <a:ext cx="10058400" cy="548640"/>
          </a:xfrm>
          <a:prstGeom prst="rect">
            <a:avLst/>
          </a:prstGeom>
          <a:noFill/>
        </p:spPr>
        <p:txBody>
          <a:bodyPr wrap="square" lIns="0" rIns="0" tIns="0" bIns="0">
            <a:spAutoFit/>
          </a:bodyPr>
          <a:lstStyle/>
          <a:p>
            <a:pPr algn="l">
              <a:lnSpc>
                <a:spcPct val="115000"/>
              </a:lnSpc>
            </a:pPr>
            <a:r>
              <a:rPr sz="1800" b="0">
                <a:solidFill>
                  <a:srgbClr val="E2E8F0"/>
                </a:solidFill>
                <a:latin typeface="Inter"/>
              </a:rPr>
              <a:t>Banking · Healthcare · BioMed · Auto · Education · Search</a:t>
            </a:r>
          </a:p>
        </p:txBody>
      </p:sp>
      <p:sp>
        <p:nvSpPr>
          <p:cNvPr id="10" name="Rounded Rectangle 9"/>
          <p:cNvSpPr/>
          <p:nvPr/>
        </p:nvSpPr>
        <p:spPr>
          <a:xfrm>
            <a:off x="731520" y="5029200"/>
            <a:ext cx="10515600" cy="914400"/>
          </a:xfrm>
          <a:prstGeom prst="roundRect">
            <a:avLst>
              <a:gd name="adj" fmla="val 10000"/>
            </a:avLst>
          </a:prstGeom>
          <a:solidFill>
            <a:srgbClr val="0F2A5C"/>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058400" cy="365760"/>
          </a:xfrm>
          <a:prstGeom prst="rect">
            <a:avLst/>
          </a:prstGeom>
          <a:noFill/>
        </p:spPr>
        <p:txBody>
          <a:bodyPr wrap="square" lIns="0" rIns="0" tIns="0" bIns="0">
            <a:spAutoFit/>
          </a:bodyPr>
          <a:lstStyle/>
          <a:p>
            <a:pPr algn="l">
              <a:lnSpc>
                <a:spcPct val="115000"/>
              </a:lnSpc>
            </a:pPr>
            <a:r>
              <a:rPr sz="1000" b="1">
                <a:solidFill>
                  <a:srgbClr val="06B6D4"/>
                </a:solidFill>
                <a:latin typeface="Inter"/>
              </a:rPr>
              <a:t>WORKED EXAMPLE — SOURCE CODE</a:t>
            </a:r>
          </a:p>
        </p:txBody>
      </p:sp>
      <p:sp>
        <p:nvSpPr>
          <p:cNvPr id="12" name="TextBox 11"/>
          <p:cNvSpPr txBox="1"/>
          <p:nvPr/>
        </p:nvSpPr>
        <p:spPr>
          <a:xfrm>
            <a:off x="914400" y="5440680"/>
            <a:ext cx="10058400" cy="457200"/>
          </a:xfrm>
          <a:prstGeom prst="rect">
            <a:avLst/>
          </a:prstGeom>
          <a:noFill/>
        </p:spPr>
        <p:txBody>
          <a:bodyPr wrap="square" lIns="0" rIns="0" tIns="0" bIns="0">
            <a:spAutoFit/>
          </a:bodyPr>
          <a:lstStyle/>
          <a:p>
            <a:pPr algn="l">
              <a:lnSpc>
                <a:spcPct val="115000"/>
              </a:lnSpc>
            </a:pPr>
            <a:r>
              <a:rPr sz="1400" b="0">
                <a:solidFill>
                  <a:srgbClr val="FFFFFF"/>
                </a:solidFill>
                <a:latin typeface="Menlo"/>
              </a:rPr>
              <a:t>github.com/javakishore-veleti/FX-Trade-Analytics-AWs-OpenSearch</a:t>
            </a:r>
          </a:p>
        </p:txBody>
      </p:sp>
      <p:sp>
        <p:nvSpPr>
          <p:cNvPr id="13" name="TextBox 12"/>
          <p:cNvSpPr txBox="1"/>
          <p:nvPr/>
        </p:nvSpPr>
        <p:spPr>
          <a:xfrm>
            <a:off x="731520" y="6263640"/>
            <a:ext cx="10058400" cy="365760"/>
          </a:xfrm>
          <a:prstGeom prst="rect">
            <a:avLst/>
          </a:prstGeom>
          <a:noFill/>
        </p:spPr>
        <p:txBody>
          <a:bodyPr wrap="square" lIns="0" rIns="0" tIns="0" bIns="0">
            <a:spAutoFit/>
          </a:bodyPr>
          <a:lstStyle/>
          <a:p>
            <a:pPr algn="l">
              <a:lnSpc>
                <a:spcPct val="115000"/>
              </a:lnSpc>
            </a:pPr>
            <a:r>
              <a:rPr sz="1100" b="0">
                <a:solidFill>
                  <a:srgbClr val="94A3B8"/>
                </a:solidFill>
                <a:latin typeface="Inter"/>
              </a:rPr>
              <a:t>Channel: Training My Hobby · Series: RAG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